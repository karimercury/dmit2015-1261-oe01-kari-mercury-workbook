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1" r:id="rId46"/>
    <p:sldId id="302" r:id="rId47"/>
    <p:sldId id="303" r:id="rId48"/>
    <p:sldId id="304" r:id="rId49"/>
    <p:sldId id="305" r:id="rId5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1" d="100"/>
          <a:sy n="121" d="100"/>
        </p:scale>
        <p:origin x="90"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2316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Welcome back. Last session we installed the toolchain and wrote our first Dart statements. Today is the session that decides how the rest of the term feels. Every Flutter widget you write is a Dart class; every list of items on a screen is a Dart List; every crash you'll debug at 2am is usually a null. So we spend two hours on the language itself, in the console, where there is nowhere for a bug to hide.
DO: Get the projector on the terminal, not the slides, for the first minute. Show 'dart --version'. Tell them the deck is posted and that the demo repo has all 14 programs we will write today.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outcomes. Notice the third one is 'explain', not 'use'. I want you to be able to defend a choice out loud, because in a code review that's exactly what you'll be asked to do.
DO: Read outcome 3 aloud and ask the room: who has already seen a red squiggle about a nullable value? Hands go up. Tell them that squiggle is today's main event. Keep this to 2 minutes.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shape of the night. Two things to notice: tech triage has a hard stop at ten minutes, and blocks 2 through 5 each end with you typing something.
DO: Point at block 0 and say the hard stop out loud — you will need it later. Ask everyone to open their editor and a terminal now, so we don't lose five minutes at block 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Ten minutes, and I mean it. Run these three checks. If check one prints a version, you are done — and you are now the teaching assistant for whoever is beside you.
DO: Start a visible 10-minute timer. Walk the room; triage in this order — PATH first, then editor extension, then everything else. Do NOT debug a single broken Android emulator tonight; we don't need one for console Dart. When the timer ends, say 'pair up with a neighbour' and move on without negotiating.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Block one. This is recap — if all of it is familiar, we go fast. Speak up if any of it isn't.
DO: Take the temperature of the room here. If most of them look comfortable, spend 5 minutes not 10 and bank the time for null safety, which always runs long.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If you only remember three things about the language, remember these. The third one trips up people coming from JavaScript: var here is not JavaScript's var. It's 'infer the type once and hold me to it forever'.
DO: Type the left-hand code block live. Let the editor show the red squiggle on the assignment — the squiggle is the point. Then change var to dynamic and watch the squiggle disappear, and explain that this is worse, not better.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ways to declare something. The interesting boundary is final versus const. final is a promise you make at runtime. const is a claim the compiler has to be able to verify while compiling — which is why DateTime.now() can be final but never const.
DO: Type the const DateTime.now() line and let it fail. Read the actual error text aloud. Then ask: 'const passMark = 50 — why is that one legal?' Wait for someone to say 'because 50 is right there in the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skeleton of all fourteen programs tonight. Type it with me. Watch the last print — 24 divided by 4 gives 6.0 with a decimal point, because in Dart the slash operator always produces a double. If you want a whole number you want the tilde-slash operator.
DO: Type it live, run it, then deliberately break it: remove the dollar sign from $courseCode and show it printing the literal text. Change / to ~/ and rerun so they see 6 without the decimal. Confirm every screen in the room shows the three output lines before moving to functions.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Block two. Functions in Dart look familiar if you've written C#, Java, or JavaScript — with one big exception, and that's parameters. Dart gives you four different parameter styles, and Flutter uses one of them almost exclusively. So the parameter section is not academic; it's the thing you'll read in every widget constructor.
DO: Tell them the parameter styles are the part to write down. Set expectation: about 25 minutes, three demos.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parts, always in this order. The one students get wrong on the quiz is void — void doesn't mean the function is useless, it means it hands nothing back. greet() clearly does something; it just doesn't produce a value.
DO: Write addTax on the board or type it live, then ask the room what its return type should be if you wanted the cents kept. Answer: double, and drop the .round(). Small change, makes the point that the return type is a decision.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fat arrow is pure shorthand. Left side and right side of this slide compile to exactly the same thing. The rule is one expression — no ifs, no loops, no multiple statements.
DO: Convert a braces function to an arrow live. Then try to convert one with two statements and let it fail so they see the error. Mention they'll see onPressed: () =&gt; doThing() in every Flutter button, so this pays off soon.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styles. Two of them are optional-by-default, which surprises people. Look at the fourth one — named plus required. That combination is what nearly every Flutter constructor uses, and it's why you'll type the word 'required' hundreds of times this term.
DO: Ask them to photograph this slide. Then read the Container example aloud both ways — the labelled version and the positional version — and let the room hear how much worse the second one is.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Positional is what you already know: order matters, all required. add(3, 2) compiles fine even if you meant add(2, 3) — the compiler can't help you there. Square brackets make trailing parameters optional, but only trailing ones. Look at the bottom right: you cannot skip 'tag' to get at 'loud'.
DO: Type the log() example and try log('hi', true). Read the type error out loud. Then ask the room how they'd fix it — someone will suggest passing null for tag, which works but is ugly. That's the setup for named parameters.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whole game. Named parameters go in curly braces, the caller labels them, order doesn't matter, and they're optional unless you say otherwise. Now look at the callout at the bottom — that sentence is the answer to the error message you're all going to hit in week two.
DO: Type describe(). Then delete the word 'required' from name and let the compiler complain. Read the message aloud: it will tell them the parameter must have a default or be nullable. Fix it three different ways — add required, give it a default, make it String? — and ask which is best here. Answer: required, because a person needs a name.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you're unsure, this table decides for you. And memorise the boolean rule — never pass a naked true or false positionally. Six months from now, render(true) will mean nothing to you.
DO: Give them a 60-second think-pair: 'You're writing a function to send a notification with a title, a body, and an optional silent flag. Which styles?' Take two answers. Expected: title and body named+required, silent named with a default of false.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conceptual jump of the block. A function is a value. You can put it in a variable, pass it to another function, return it from one. That's what 'first-class' means.
DO: Type applyTo and call it both ways — once with the named twice function, once with an inline anonymous one. Say plainly: 'if this feels abstract, hold on ten minutes — the List section is where it pays off.' Don't teach closures formally here; mention the word only if someone asks.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Let's put all of it together. Three functions, deliberately one of each style, and each one small enough to read in a breath.
DO: Build it in the order on the right — run after each function so nobody is typing blind for three minutes. The important moment is calling report positionally: report('Ana', 86). Read that error message aloud; it's the same one they'll see in Flutter. Budget 8 minutes. If the room is fast, ask them to add a curve parameter.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mistakes, and I will see all four in your first assignment. Number two is the one that costs marks: a function that prints instead of returning can't be reused, can't be tested, and can't be composed.
DO: Read the checkpoint aloud and actually pause for hands. This is the last easy moment to catch someone who's lost before we go into Lists. Then take a two-minute stretch break — we're 45 minutes in.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Block three. A List is an ordered, indexed collection — an array with better manners. In Flutter, a ListView is fed by a List, so this is directly load-bearing.
DO: Note we're at roughly the 45-minute mark. If you're behind, the slide to compress is the collection-if/for one; never compress map/where/reduce.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ways to build a List. The one to internalise is number three — when the list starts empty, Dart has nothing to infer from, so you must supply the type in angle brackets before the brackets.
DO: Type var wrong = []; then try wrong.add(5) and then wrong[0].length. Show that dynamic lets it compile and then explodes at runtime. Fix it to &lt;String&gt;[] and show autocomplete coming back. That contrast lands better than any slide.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Most of what you'll do with a List is on this slide. Two traps. First, remove versus removeAt — one takes a value, one takes an index, and on a list of numbers they look the same and behave differently. Second, sort changes the list in place and returns nothing, so 'var sorted = marks.sort()' gives you void.
DO: Type marks[9] deliberately and let it crash. Read the RangeError text — point out it names both the valid range and the index you asked for. Teach them to read runtime errors as data, not as failure.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ways in. My advice: default to for-in. It reads like English and it physically cannot go out of bounds, which removes the whole off-by-one family of bugs.
DO: Ask which of the three you'd use to print a numbered list — answer, the classic for, because you need i. Then show that a break statement inside forEach won't compile. Note 'final' rather than 'var' in the for-in — the loop variable is fresh each pass, so it never needs to be reassignable.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Both halves of the left block answer the same question. The transform version says what you want; the loop version says how to get it. Once you're comfortable, the transform version is easier to read and much harder to get subtly wrong.
DO: Type the loop version first, run it, then replace it with .where() and run again — same output, four lines gone. Then flag the .toList() and explain why: these methods return a lazy Iterable, and .toList() is what makes it a real List. Finally show reduce on an empty list throwing, and fold(0, ...) surviving.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Two details. First, chains read left to right and order matters — filter then transform is not the same as transform then filter. Second, and this is the one that confuses people: where and map hand back an Iterable, which is a recipe rather than a result. toList() is what cooks it.
DO: Print a .where() result without .toList() so they see the parenthesised output, then add .toList() and show square brackets. For the spread block, flip showBonus to false and rerun — the entry simply isn't there. Say explicitly: 'this exact syntax is how you'll build widget lists in three weeks.'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Real questions about real data, and notice we're using functions from block two to answer them.
DO: Type it in the numbered order and run after every block. The line worth pausing on is the spread-plus-cascade copy: ask the room what happens if you write marks..sort() instead. Answer: the original list is reordered, so the 'curved' output later comes out in a different order. Budget 8 minutes. Then break for 3 minutes — null safety needs fresh brains.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Six mistakes. Row five is the sneaky one — removing items from a list while you're iterating over it throws a ConcurrentModificationError, because you changed the thing you were walking.
DO: Demonstrate row five if you have 60 seconds: for-in over marks with a remove inside. The error name alone teaches the lesson. Then read the pattern callout and move into null safety.</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Block four, and the most important 25 minutes of the night. Every term, this is where students get stuck — not because it's hard, but because they treat the errors as obstacles rather than information. By the end of this block you'll be able to read the message and know which of five tools to reach for.
DO: Slow down here. Do not skip demos in this block, even if you're behind. If time is tight, cut the capstone in block 6.</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Tony Hoare invented the null reference and later called it his billion-dollar mistake. The problem was never null itself — it's that the type system said nothing about whether a value could be null, so every dot was a gamble.
DO: Read the callout at the bottom slowly and deliberately. This reframe is the actual learning objective for the block; the syntax follows easily once they stop fighting the compiler. Ask if anyone has hit a null crash in another language — a JavaScript 'undefined is not a function' story works perfectly here.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whole feature in one slide. int can never be null. int-question-mark can. Everything else tonight follows from that.
DO: Say the key sentence out loud and make them repeat the idea back: the compiler isn't claiming your value is null, it's saying it can't prove otherwise. Type 'int? count; print(count + 1);' live and read the real error message word for word. Then ask the room how they'd fix it and collect three or four suggestions — you'll cover all of them in the next few slides, so you can say 'hold that thought, you just invented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Tool one, and the one to reach for first: just check. Once you've checked, Dart promotes the variable to the non-nullable type for the rest of that scope. No cast, no ceremony.
DO: Type the show() function with the early return. Then move the print above the return and let it fail, so they see that promotion is positional. Then demo the field limitation: put a String? field on a class, check it, use it, watch it fail, and fix it by copying into a local. That last one saves them an hour later in the term.</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Tool two. Double question mark means 'or else'. Question-question-equals means 'assign only if it's currently null', which is the standard lazy-cache idiom.
DO: The trap on the bottom right is worth 90 seconds. Anyone coming from JavaScript expects || behaviour where 0 and empty string are falsy. Type 'final n = 0; print(n ?? 10);' and let them predict the answer before you run it. Most rooms guess 10. It prints 0.</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Tool three. The question-mark-dot operator says: if the thing on the left is null, don't call anything, just hand back null. Notice the result type is nullable — that's why you so often see ?. and ?? together in one line.
DO: Read the bottom callout aloud in plain English exactly as written. Getting students to narrate these expressions in words is the single most effective thing in this block. Have one student read a chain back to you.</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Tools four and five, and both are promises. The bang operator says 'I know better than you, compiler'. Sometimes you do. Usually you don't. When you're wrong, you get exactly the crash null safety was designed to prevent — you just chose it deliberately.
DO: State the course rule out loud: every bang in a submission needs a comment justifying it. Then demo the LateInitializationError by reading a late variable before assigning it — the error message is unusually helpful and names the variable. Tell them they'll meet late again in week 6 with initState().</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Position matters. Question mark inside the angle brackets describes the elements; outside, it describes the list itself. And the reading rule is general — the question mark always attaches to the thing immediately on its left.
DO: Ask the room, before you reveal it: 'which of these three can hold the value null itself?' Answers: the second and third. Then show whereType&lt;int&gt;() as the clean way to strip nulls out of a List&lt;int?&gt; — students usually try to do this with a where and a bang, and whereType is much better.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slide to photograph. Left column is what you'll actually see; right column is what to do. And look at the split — the first four are compile-time errors, which are free. The last two are runtime crashes, and both of them happen in exactly the places where you told the compiler to stop checking.
DO: Give them a full 30 seconds to photograph it. Then ask: 'which row have you already hit this week?' Whatever they name, produce that error live and fix it with them. That improvisation is worth more than any prepared demo here.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Real data has holes in it, and null is how we model 'genuinely not there'. Notice there's no exclamation mark anywhere in this program.
DO: Build it, then deliberately break it — this is the most valuable five minutes of the block. Remove the null check, read the compile error. 'Fix' it with mark! and show it compiling. Then change all four marks to null and run it: crash. Restore the check. Ask the room which version they'd rather have shipped.
DO (bridge): before you move on, point at the two parallel lists at the top and ask what happens if someone sorts one of them. Answer: the names and marks silently stop lining up. Leave that hanging — it's the reason block 5 exists.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Work down this list in order and stop at the first one that fits. Notice how far down the list the bang operator is.
DO: Do the 'say it back to me' exercise for real — 60 seconds of think-pair-share, then take two verbal answers from the room. You are assessing outcome three right here, and it's better to find the gap now than on the quiz. A good answer sounds like: it guarantees a non-nullable value is never null, and in exchange I have to be explicit about the values that can be missing.</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Block five. Up to now our data has been loose — a list of names here, a list of marks there. A class lets you say 'these belong together', once, and have the compiler hold you to it forever.
DO: We're around the 1:32 mark. Objects here are deliberately simple: fields, constructor, a method or two. No inheritance, no mixins, no abstract classes tonight — those come in week 4.</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bridge I left hanging. Two parallel lists work right up until something reorders one of them, and then your program is confidently wrong — which is much worse than crashing. A class makes that mistake impossible to express.
DO: If you have the parallel-list demo still open, actually sort the marks list and print the pairs again. Watching Bo get Ana's grade is a two-second demo that justifies the entire block.</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parts, and you'll use four of them constantly. Note what isn't here: no private field with a public getter and setter wrapping it. In Dart, a plain public field is idiomatic — you add a getter when the value is computed, like isPassing, not as boilerplate.
DO: Type this class from scratch, in this order, running after each part. Point out 'new' is not used. When you get to toString, print the object BEFORE adding the override so they see 'Instance of Student', then add the override and print again. That contrast makes toString stick.</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things here. The this-dot shorthand removes the assignment boilerplate entirely. Named constructors let one class offer several ways to be built, each with a meaningful name. And final fields have to be settled by the time the constructor finishes.
DO: Show the shorthand replacing the verbose version side by side — delete the long one live. Then try to assign a final field inside the constructor body and let it fail; the error explains itself. Skip factory constructors entirely unless someone asks.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highest-value slide in block five, because this error message is the one that fills my inbox in week two. There are exactly four legitimate answers, and choosing between them is a design decision, not a syntax problem — you're deciding what your type means.
DO: Write a class with an uninitialised non-nullable field, read the error aloud, then fix it all four ways in turn and ask the room which fix suits which field. Point out the ?? in the display getter and say 'same operator, half an hour later' — the reinforcement matters.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Look at what's on this screen: functions from block two, list methods from block three, the ?? habits from block four, and a class from block five. This is the shape of essentially every Flutter screen you'll write — a list of your own objects, filtered and mapped into something displayable.
DO: Type the sort line and get the comparator wrong on purpose (a.mark.compareTo(b.mark)) so they see ascending, then swap it. Say explicitly: in three weeks this exact list becomes a ListView.builder, and the only thing that changes is what you do with each item.</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We're going to rebuild the block-three program, but with a real type. Same questions, same answers, much sturdier code.
DO: Let them drive this one as much as possible — ask the room what the next line should be rather than typing ahead. Budget 8 minutes. If you're running short, do steps 1 and 2 together and assign 3 and 4 as the first lab exercise; the class definition is the part they need to have watched you write.</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Here's the capstone. Read the constraints carefully — they're where the marks are. No bang operator, explicit return types everywhere, and it must survive the case where nobody has submitted anything.
DO: Walk the target output line by line and ask which topic produces each line. The 'not submitted' line is null safety; the mean is a fold with an empty guard; the top-3 line is a sort plus a take. Don't write it for them — this is the artifact they bring back.</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tiers. Everyone does warm-up and core. Stretch is there so the fast finishers have somewhere to go.
DO: Read the help callout aloud — you'll be enforcing it for the next hour. Circulate rather than sitting at the front. Common blockers to expect tonight, in order: empty-list type inference, sort() returning void, and the uninitialised-field error from block five.</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Everything from tonight on one page. This is legal to have open during the lab and during the practical.
DO: Tell them where the PDF is posted. Encourage them to type it out by hand once rather than printing it — the typing is what makes it stick.</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outcomes, and I think we hit all three. Look at the four bullets in the middle — every single thing we did tonight reappears in the first hour of the next session. Tonight was not a detour before Flutter; it was the foundation of it.
DO: Read the 'before next session' line and be specific about the flutter doctor requirement — students who show up with a broken toolchain lose the whole widget lab. Then release them to the exercises.</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Five places to go when you're stuck, and the first one is dart.dev — the language tour is genuinely good and it's where I'd send a working developer, not just a student.
DO: Mention dart analyze explicitly and suggest they run it before submitting anything this term. Then stay in the room and work the floor for the remaining lab time.</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8732520" y="3063240"/>
            <a:ext cx="4480560" cy="4480560"/>
          </a:xfrm>
          <a:prstGeom prst="ellipse">
            <a:avLst/>
          </a:prstGeom>
          <a:solidFill>
            <a:srgbClr val="00767F">
              <a:alpha val="38000"/>
            </a:srgbClr>
          </a:solidFill>
          <a:ln/>
        </p:spPr>
        <p:txBody>
          <a:bodyPr/>
          <a:lstStyle/>
          <a:p>
            <a:endParaRPr lang="en-CA"/>
          </a:p>
        </p:txBody>
      </p:sp>
      <p:sp>
        <p:nvSpPr>
          <p:cNvPr id="3" name="Shape 1"/>
          <p:cNvSpPr/>
          <p:nvPr/>
        </p:nvSpPr>
        <p:spPr>
          <a:xfrm>
            <a:off x="10424160" y="4663440"/>
            <a:ext cx="1371600" cy="1371600"/>
          </a:xfrm>
          <a:prstGeom prst="ellipse">
            <a:avLst/>
          </a:prstGeom>
          <a:solidFill>
            <a:srgbClr val="A8D65C">
              <a:alpha val="70000"/>
            </a:srgbClr>
          </a:solidFill>
          <a:ln/>
        </p:spPr>
        <p:txBody>
          <a:bodyPr/>
          <a:lstStyle/>
          <a:p>
            <a:endParaRPr lang="en-CA"/>
          </a:p>
        </p:txBody>
      </p:sp>
      <p:sp>
        <p:nvSpPr>
          <p:cNvPr id="4" name="Text 2"/>
          <p:cNvSpPr txBox="1"/>
          <p:nvPr/>
        </p:nvSpPr>
        <p:spPr>
          <a:xfrm>
            <a:off x="566928" y="868680"/>
            <a:ext cx="8229600" cy="292608"/>
          </a:xfrm>
          <a:prstGeom prst="rect">
            <a:avLst/>
          </a:prstGeom>
          <a:noFill/>
          <a:ln/>
        </p:spPr>
        <p:txBody>
          <a:bodyPr wrap="square" lIns="0" tIns="0" rIns="0" bIns="0" rtlCol="0" anchor="ctr"/>
          <a:lstStyle/>
          <a:p>
            <a:pPr marL="0" indent="0">
              <a:buNone/>
            </a:pPr>
            <a:r>
              <a:rPr lang="en-US" sz="1200" b="1" kern="0" spc="220" dirty="0">
                <a:solidFill>
                  <a:srgbClr val="A8D65C"/>
                </a:solidFill>
                <a:latin typeface="Calibri" pitchFamily="34" charset="0"/>
                <a:ea typeface="Calibri" pitchFamily="34" charset="-122"/>
                <a:cs typeface="Calibri" pitchFamily="34" charset="-120"/>
              </a:rPr>
              <a:t>NAIT  ·  SCHOOL OF ADVANCED TECHNOLOGY</a:t>
            </a:r>
            <a:endParaRPr lang="en-US" sz="1200" dirty="0"/>
          </a:p>
        </p:txBody>
      </p:sp>
      <p:sp>
        <p:nvSpPr>
          <p:cNvPr id="5" name="Text 3"/>
          <p:cNvSpPr txBox="1"/>
          <p:nvPr/>
        </p:nvSpPr>
        <p:spPr>
          <a:xfrm>
            <a:off x="566928" y="1325880"/>
            <a:ext cx="8229600" cy="365760"/>
          </a:xfrm>
          <a:prstGeom prst="rect">
            <a:avLst/>
          </a:prstGeom>
          <a:noFill/>
          <a:ln/>
        </p:spPr>
        <p:txBody>
          <a:bodyPr wrap="square" lIns="0" tIns="0" rIns="0" bIns="0" rtlCol="0" anchor="ctr"/>
          <a:lstStyle/>
          <a:p>
            <a:pPr marL="0" indent="0">
              <a:buNone/>
            </a:pPr>
            <a:r>
              <a:rPr lang="en-US" sz="1700" dirty="0">
                <a:solidFill>
                  <a:srgbClr val="E4F1F2"/>
                </a:solidFill>
                <a:latin typeface="Calibri" pitchFamily="34" charset="0"/>
                <a:ea typeface="Calibri" pitchFamily="34" charset="-122"/>
                <a:cs typeface="Calibri" pitchFamily="34" charset="-120"/>
              </a:rPr>
              <a:t>DMIT 2504 — Cross-Platform Mobile Application Development</a:t>
            </a:r>
            <a:endParaRPr lang="en-US" sz="1700" dirty="0"/>
          </a:p>
        </p:txBody>
      </p:sp>
      <p:sp>
        <p:nvSpPr>
          <p:cNvPr id="6" name="Text 4"/>
          <p:cNvSpPr txBox="1"/>
          <p:nvPr/>
        </p:nvSpPr>
        <p:spPr>
          <a:xfrm>
            <a:off x="566928" y="1828800"/>
            <a:ext cx="8138160" cy="1691640"/>
          </a:xfrm>
          <a:prstGeom prst="rect">
            <a:avLst/>
          </a:prstGeom>
          <a:noFill/>
          <a:ln/>
        </p:spPr>
        <p:txBody>
          <a:bodyPr wrap="square" lIns="0" tIns="0" rIns="0" bIns="0" rtlCol="0" anchor="ctr"/>
          <a:lstStyle/>
          <a:p>
            <a:pPr marL="0" indent="0">
              <a:lnSpc>
                <a:spcPct val="95000"/>
              </a:lnSpc>
              <a:buNone/>
            </a:pPr>
            <a:r>
              <a:rPr lang="en-US" sz="4800" b="1" dirty="0">
                <a:solidFill>
                  <a:srgbClr val="FFFFFF"/>
                </a:solidFill>
                <a:latin typeface="Calibri" pitchFamily="34" charset="0"/>
                <a:ea typeface="Calibri" pitchFamily="34" charset="-122"/>
                <a:cs typeface="Calibri" pitchFamily="34" charset="-120"/>
              </a:rPr>
              <a:t>Dart, Part 2:</a:t>
            </a:r>
            <a:endParaRPr lang="en-US" sz="4800" dirty="0"/>
          </a:p>
          <a:p>
            <a:pPr marL="0" indent="0">
              <a:lnSpc>
                <a:spcPct val="95000"/>
              </a:lnSpc>
              <a:buNone/>
            </a:pPr>
            <a:r>
              <a:rPr lang="en-US" sz="4800" b="1" dirty="0">
                <a:solidFill>
                  <a:srgbClr val="FFFFFF"/>
                </a:solidFill>
                <a:latin typeface="Calibri" pitchFamily="34" charset="0"/>
                <a:ea typeface="Calibri" pitchFamily="34" charset="-122"/>
                <a:cs typeface="Calibri" pitchFamily="34" charset="-120"/>
              </a:rPr>
              <a:t>Functions, Lists, Objects &amp; Null Safety</a:t>
            </a:r>
            <a:endParaRPr lang="en-US" sz="4800" dirty="0"/>
          </a:p>
        </p:txBody>
      </p:sp>
      <p:sp>
        <p:nvSpPr>
          <p:cNvPr id="7" name="Text 5"/>
          <p:cNvSpPr txBox="1"/>
          <p:nvPr/>
        </p:nvSpPr>
        <p:spPr>
          <a:xfrm>
            <a:off x="566928" y="3611880"/>
            <a:ext cx="76809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Everything you need before we touch a single Flutter widget.</a:t>
            </a:r>
            <a:endParaRPr lang="en-US" sz="1600" dirty="0"/>
          </a:p>
        </p:txBody>
      </p:sp>
      <p:sp>
        <p:nvSpPr>
          <p:cNvPr id="8" name="Shape 6"/>
          <p:cNvSpPr/>
          <p:nvPr/>
        </p:nvSpPr>
        <p:spPr>
          <a:xfrm>
            <a:off x="566928" y="4709160"/>
            <a:ext cx="1371600" cy="41148"/>
          </a:xfrm>
          <a:prstGeom prst="rect">
            <a:avLst/>
          </a:prstGeom>
          <a:solidFill>
            <a:srgbClr val="A8D65C"/>
          </a:solidFill>
          <a:ln/>
        </p:spPr>
        <p:txBody>
          <a:bodyPr/>
          <a:lstStyle/>
          <a:p>
            <a:endParaRPr lang="en-CA"/>
          </a:p>
        </p:txBody>
      </p:sp>
      <p:sp>
        <p:nvSpPr>
          <p:cNvPr id="9" name="Text 7"/>
          <p:cNvSpPr txBox="1"/>
          <p:nvPr/>
        </p:nvSpPr>
        <p:spPr>
          <a:xfrm>
            <a:off x="566928" y="4937760"/>
            <a:ext cx="7680960" cy="777240"/>
          </a:xfrm>
          <a:prstGeom prst="rect">
            <a:avLst/>
          </a:prstGeom>
          <a:noFill/>
          <a:ln/>
        </p:spPr>
        <p:txBody>
          <a:bodyPr wrap="square" lIns="0" tIns="0" rIns="0" bIns="0" rtlCol="0" anchor="ctr"/>
          <a:lstStyle/>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Week 1  ·  2-hour instructor-led session</a:t>
            </a:r>
            <a:endParaRPr lang="en-US" sz="1300" dirty="0"/>
          </a:p>
          <a:p>
            <a:pPr marL="0" indent="0">
              <a:lnSpc>
                <a:spcPct val="120000"/>
              </a:lnSpc>
              <a:buNone/>
            </a:pPr>
            <a:r>
              <a:rPr lang="en-US" sz="1300" dirty="0">
                <a:solidFill>
                  <a:srgbClr val="FFFFFF"/>
                </a:solidFill>
                <a:latin typeface="Calibri" pitchFamily="34" charset="0"/>
                <a:ea typeface="Calibri" pitchFamily="34" charset="-122"/>
                <a:cs typeface="Calibri" pitchFamily="34" charset="-120"/>
              </a:rPr>
              <a:t>School of Advanced Technology  ·  NAIT</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SESSION OUTCOMES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By the end of today you will be able to…</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These are the three things I will assess. Everything else on the slides is in service of them.</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a:t>
            </a:r>
            <a:endParaRPr lang="en-US" sz="950" dirty="0"/>
          </a:p>
        </p:txBody>
      </p:sp>
      <p:sp>
        <p:nvSpPr>
          <p:cNvPr id="7" name="Shape 5"/>
          <p:cNvSpPr/>
          <p:nvPr/>
        </p:nvSpPr>
        <p:spPr>
          <a:xfrm>
            <a:off x="566928" y="1828800"/>
            <a:ext cx="3566160" cy="2651760"/>
          </a:xfrm>
          <a:prstGeom prst="roundRect">
            <a:avLst>
              <a:gd name="adj" fmla="val 1724"/>
            </a:avLst>
          </a:prstGeom>
          <a:solidFill>
            <a:srgbClr val="E4F1F2"/>
          </a:solidFill>
          <a:ln/>
        </p:spPr>
        <p:txBody>
          <a:bodyPr/>
          <a:lstStyle/>
          <a:p>
            <a:endParaRPr lang="en-CA"/>
          </a:p>
        </p:txBody>
      </p:sp>
      <p:sp>
        <p:nvSpPr>
          <p:cNvPr id="8" name="Shape 6"/>
          <p:cNvSpPr/>
          <p:nvPr/>
        </p:nvSpPr>
        <p:spPr>
          <a:xfrm>
            <a:off x="749808" y="2011680"/>
            <a:ext cx="384048" cy="384048"/>
          </a:xfrm>
          <a:prstGeom prst="ellipse">
            <a:avLst/>
          </a:prstGeom>
          <a:solidFill>
            <a:srgbClr val="00767F"/>
          </a:solidFill>
          <a:ln/>
        </p:spPr>
        <p:txBody>
          <a:bodyPr/>
          <a:lstStyle/>
          <a:p>
            <a:endParaRPr lang="en-CA"/>
          </a:p>
        </p:txBody>
      </p:sp>
      <p:sp>
        <p:nvSpPr>
          <p:cNvPr id="9" name="Text 7"/>
          <p:cNvSpPr txBox="1"/>
          <p:nvPr/>
        </p:nvSpPr>
        <p:spPr>
          <a:xfrm>
            <a:off x="74980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52728" y="1993392"/>
            <a:ext cx="2697480"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Solve problems in Dart</a:t>
            </a:r>
            <a:endParaRPr lang="en-US" sz="1700" dirty="0"/>
          </a:p>
        </p:txBody>
      </p:sp>
      <p:sp>
        <p:nvSpPr>
          <p:cNvPr id="11" name="Text 9"/>
          <p:cNvSpPr txBox="1"/>
          <p:nvPr/>
        </p:nvSpPr>
        <p:spPr>
          <a:xfrm>
            <a:off x="786384" y="2450592"/>
            <a:ext cx="3127248" cy="18288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Read a problem statement and pick the right language feature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Write, run, and debug a console program end to end</a:t>
            </a:r>
            <a:endParaRPr lang="en-US" sz="1250" dirty="0"/>
          </a:p>
        </p:txBody>
      </p:sp>
      <p:sp>
        <p:nvSpPr>
          <p:cNvPr id="12" name="Shape 10"/>
          <p:cNvSpPr/>
          <p:nvPr/>
        </p:nvSpPr>
        <p:spPr>
          <a:xfrm>
            <a:off x="4315968" y="1828800"/>
            <a:ext cx="3566160" cy="2651760"/>
          </a:xfrm>
          <a:prstGeom prst="roundRect">
            <a:avLst>
              <a:gd name="adj" fmla="val 1724"/>
            </a:avLst>
          </a:prstGeom>
          <a:solidFill>
            <a:srgbClr val="F2F6F8"/>
          </a:solidFill>
          <a:ln/>
        </p:spPr>
        <p:txBody>
          <a:bodyPr/>
          <a:lstStyle/>
          <a:p>
            <a:endParaRPr lang="en-CA"/>
          </a:p>
        </p:txBody>
      </p:sp>
      <p:sp>
        <p:nvSpPr>
          <p:cNvPr id="13" name="Shape 11"/>
          <p:cNvSpPr/>
          <p:nvPr/>
        </p:nvSpPr>
        <p:spPr>
          <a:xfrm>
            <a:off x="4498848" y="2011680"/>
            <a:ext cx="384048" cy="384048"/>
          </a:xfrm>
          <a:prstGeom prst="ellipse">
            <a:avLst/>
          </a:prstGeom>
          <a:solidFill>
            <a:srgbClr val="00767F"/>
          </a:solidFill>
          <a:ln/>
        </p:spPr>
        <p:txBody>
          <a:bodyPr/>
          <a:lstStyle/>
          <a:p>
            <a:endParaRPr lang="en-CA"/>
          </a:p>
        </p:txBody>
      </p:sp>
      <p:sp>
        <p:nvSpPr>
          <p:cNvPr id="14" name="Text 12"/>
          <p:cNvSpPr txBox="1"/>
          <p:nvPr/>
        </p:nvSpPr>
        <p:spPr>
          <a:xfrm>
            <a:off x="449884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001768" y="1993392"/>
            <a:ext cx="2697480"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Build with the core three</a:t>
            </a:r>
            <a:endParaRPr lang="en-US" sz="1700" dirty="0"/>
          </a:p>
        </p:txBody>
      </p:sp>
      <p:sp>
        <p:nvSpPr>
          <p:cNvPr id="16" name="Text 14"/>
          <p:cNvSpPr txBox="1"/>
          <p:nvPr/>
        </p:nvSpPr>
        <p:spPr>
          <a:xfrm>
            <a:off x="4535424" y="2450592"/>
            <a:ext cx="3127248" cy="18288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Functions — positional, optional, named, defaults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Lists — build, iterate, transform</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Classes — your own types, not just Dart's</a:t>
            </a:r>
            <a:endParaRPr lang="en-US" sz="1250" dirty="0"/>
          </a:p>
        </p:txBody>
      </p:sp>
      <p:sp>
        <p:nvSpPr>
          <p:cNvPr id="17" name="Shape 15"/>
          <p:cNvSpPr/>
          <p:nvPr/>
        </p:nvSpPr>
        <p:spPr>
          <a:xfrm>
            <a:off x="8065008" y="1828800"/>
            <a:ext cx="3566160" cy="2651760"/>
          </a:xfrm>
          <a:prstGeom prst="roundRect">
            <a:avLst>
              <a:gd name="adj" fmla="val 1724"/>
            </a:avLst>
          </a:prstGeom>
          <a:solidFill>
            <a:srgbClr val="E4F1F2"/>
          </a:solidFill>
          <a:ln/>
        </p:spPr>
        <p:txBody>
          <a:bodyPr/>
          <a:lstStyle/>
          <a:p>
            <a:endParaRPr lang="en-CA"/>
          </a:p>
        </p:txBody>
      </p:sp>
      <p:sp>
        <p:nvSpPr>
          <p:cNvPr id="18" name="Shape 16"/>
          <p:cNvSpPr/>
          <p:nvPr/>
        </p:nvSpPr>
        <p:spPr>
          <a:xfrm>
            <a:off x="8247888" y="2011680"/>
            <a:ext cx="384048" cy="384048"/>
          </a:xfrm>
          <a:prstGeom prst="ellipse">
            <a:avLst/>
          </a:prstGeom>
          <a:solidFill>
            <a:srgbClr val="00767F"/>
          </a:solidFill>
          <a:ln/>
        </p:spPr>
        <p:txBody>
          <a:bodyPr/>
          <a:lstStyle/>
          <a:p>
            <a:endParaRPr lang="en-CA"/>
          </a:p>
        </p:txBody>
      </p:sp>
      <p:sp>
        <p:nvSpPr>
          <p:cNvPr id="19" name="Text 17"/>
          <p:cNvSpPr txBox="1"/>
          <p:nvPr/>
        </p:nvSpPr>
        <p:spPr>
          <a:xfrm>
            <a:off x="824788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750808" y="1993392"/>
            <a:ext cx="2697480"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Explain null safety</a:t>
            </a:r>
            <a:endParaRPr lang="en-US" sz="1700" dirty="0"/>
          </a:p>
        </p:txBody>
      </p:sp>
      <p:sp>
        <p:nvSpPr>
          <p:cNvPr id="21" name="Text 19"/>
          <p:cNvSpPr txBox="1"/>
          <p:nvPr/>
        </p:nvSpPr>
        <p:spPr>
          <a:xfrm>
            <a:off x="8284464" y="2450592"/>
            <a:ext cx="3127248" cy="182880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Say what sound null safety means in your own words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Choose between ?, !, ??, and late — and defend the choice</a:t>
            </a:r>
            <a:endParaRPr lang="en-US" sz="1250" dirty="0"/>
          </a:p>
        </p:txBody>
      </p:sp>
      <p:sp>
        <p:nvSpPr>
          <p:cNvPr id="22" name="Shape 20"/>
          <p:cNvSpPr/>
          <p:nvPr/>
        </p:nvSpPr>
        <p:spPr>
          <a:xfrm>
            <a:off x="566928" y="4709160"/>
            <a:ext cx="11064240" cy="1051560"/>
          </a:xfrm>
          <a:prstGeom prst="roundRect">
            <a:avLst>
              <a:gd name="adj" fmla="val 4348"/>
            </a:avLst>
          </a:prstGeom>
          <a:solidFill>
            <a:srgbClr val="E4F1F2"/>
          </a:solidFill>
          <a:ln w="12700">
            <a:solidFill>
              <a:srgbClr val="0E9AA3"/>
            </a:solidFill>
            <a:prstDash val="solid"/>
          </a:ln>
        </p:spPr>
        <p:txBody>
          <a:bodyPr/>
          <a:lstStyle/>
          <a:p>
            <a:endParaRPr lang="en-CA"/>
          </a:p>
        </p:txBody>
      </p:sp>
      <p:sp>
        <p:nvSpPr>
          <p:cNvPr id="23" name="Text 21"/>
          <p:cNvSpPr txBox="1"/>
          <p:nvPr/>
        </p:nvSpPr>
        <p:spPr>
          <a:xfrm>
            <a:off x="786384" y="482803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WHY THIS ORDER</a:t>
            </a:r>
            <a:endParaRPr lang="en-US" sz="1050" dirty="0"/>
          </a:p>
        </p:txBody>
      </p:sp>
      <p:sp>
        <p:nvSpPr>
          <p:cNvPr id="24" name="Text 22"/>
          <p:cNvSpPr txBox="1"/>
          <p:nvPr/>
        </p:nvSpPr>
        <p:spPr>
          <a:xfrm>
            <a:off x="786384" y="5074920"/>
            <a:ext cx="10625328" cy="57607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Functions give you somewhere to put logic. Lists give you data to run it on. Objects give that data a shape. Null safety is the rule that ties all three together — and it is the one that generates the most red squiggles in week 2.</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HOW THE TWO HOURS RUN</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Agenda</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Roughly half of tonight is me typing and you following along. Bring your editor up now.</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a:t>
            </a:r>
            <a:endParaRPr lang="en-US" sz="9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64240" cy="3218688"/>
        </p:xfrm>
        <a:graphic>
          <a:graphicData uri="http://schemas.openxmlformats.org/drawingml/2006/table">
            <a:tbl>
              <a:tblPr/>
              <a:tblGrid>
                <a:gridCol w="4572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6629400">
                  <a:extLst>
                    <a:ext uri="{9D8B030D-6E8A-4147-A177-3AD203B41FA5}">
                      <a16:colId xmlns:a16="http://schemas.microsoft.com/office/drawing/2014/main" val="20002"/>
                    </a:ext>
                  </a:extLst>
                </a:gridCol>
                <a:gridCol w="1874520">
                  <a:extLst>
                    <a:ext uri="{9D8B030D-6E8A-4147-A177-3AD203B41FA5}">
                      <a16:colId xmlns:a16="http://schemas.microsoft.com/office/drawing/2014/main" val="20003"/>
                    </a:ext>
                  </a:extLst>
                </a:gridCol>
              </a:tblGrid>
              <a:tr h="402336">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Block</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happens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Minutes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extLst>
                  <a:ext uri="{0D108BD9-81ED-4DB2-BD59-A6C34878D82A}">
                    <a16:rowId xmlns:a16="http://schemas.microsoft.com/office/drawing/2014/main" val="10000"/>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Tech triage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Unblock installs — hard stop at 10 minutes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0:00 – 0:10</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Dart recap</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var / final / const, types, main()</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0:10 – 0:20</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2</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Functions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Return types, arrow syntax, the four parameter styles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0:20 – 0:45</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Lists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Literals, iteration, map / where / reduce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0:45 – 1:07</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Null safety</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 !, ??, ??=, ?., late — and the error messages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1:07 – 1:32</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Objects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Fields, constructors, getters, toString, List&lt;T&gt;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1:32 – 1:52</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6"/>
                  </a:ext>
                </a:extLst>
              </a:tr>
              <a:tr h="402336">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6</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Capstone + lab</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Grade tracker, then exercises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1:52 – 2:00</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8" name="Shape 5"/>
          <p:cNvSpPr/>
          <p:nvPr/>
        </p:nvSpPr>
        <p:spPr>
          <a:xfrm>
            <a:off x="566928" y="5138928"/>
            <a:ext cx="11064240" cy="777240"/>
          </a:xfrm>
          <a:prstGeom prst="roundRect">
            <a:avLst>
              <a:gd name="adj" fmla="val 5882"/>
            </a:avLst>
          </a:prstGeom>
          <a:solidFill>
            <a:srgbClr val="E4F1F2"/>
          </a:solidFill>
          <a:ln w="12700">
            <a:solidFill>
              <a:srgbClr val="0E9AA3"/>
            </a:solidFill>
            <a:prstDash val="solid"/>
          </a:ln>
        </p:spPr>
        <p:txBody>
          <a:bodyPr/>
          <a:lstStyle/>
          <a:p>
            <a:endParaRPr lang="en-CA"/>
          </a:p>
        </p:txBody>
      </p:sp>
      <p:sp>
        <p:nvSpPr>
          <p:cNvPr id="9" name="Text 6"/>
          <p:cNvSpPr txBox="1"/>
          <p:nvPr/>
        </p:nvSpPr>
        <p:spPr>
          <a:xfrm>
            <a:off x="786384" y="5257800"/>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GROUND RULE</a:t>
            </a:r>
            <a:endParaRPr lang="en-US" sz="1050" dirty="0"/>
          </a:p>
        </p:txBody>
      </p:sp>
      <p:sp>
        <p:nvSpPr>
          <p:cNvPr id="10" name="Text 7"/>
          <p:cNvSpPr txBox="1"/>
          <p:nvPr/>
        </p:nvSpPr>
        <p:spPr>
          <a:xfrm>
            <a:off x="786384" y="5504688"/>
            <a:ext cx="10625328" cy="30175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Stop me the moment your code diverges from mine. A silent divergence in block 2 becomes a broken lab in block 6.</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0</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Tech triage — 10 minutes, hard stop</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If your install is still broken after 10 minutes, you pair with a neighbour for tonight and we fix it in office hours.</a:t>
            </a:r>
            <a:endParaRPr lang="en-US" sz="1450" dirty="0"/>
          </a:p>
        </p:txBody>
      </p:sp>
      <p:sp>
        <p:nvSpPr>
          <p:cNvPr id="5" name="Text 3"/>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0:00 – 0:10</a:t>
            </a:r>
            <a:endParaRPr lang="en-US" sz="1100" dirty="0"/>
          </a:p>
        </p:txBody>
      </p:sp>
      <p:sp>
        <p:nvSpPr>
          <p:cNvPr id="6" name="Text 4"/>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7" name="Text 5"/>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a:t>
            </a:r>
            <a:endParaRPr lang="en-US" sz="950" dirty="0"/>
          </a:p>
        </p:txBody>
      </p:sp>
      <p:sp>
        <p:nvSpPr>
          <p:cNvPr id="8" name="Shape 6"/>
          <p:cNvSpPr/>
          <p:nvPr/>
        </p:nvSpPr>
        <p:spPr>
          <a:xfrm>
            <a:off x="566928" y="1901952"/>
            <a:ext cx="420624" cy="420624"/>
          </a:xfrm>
          <a:prstGeom prst="ellipse">
            <a:avLst/>
          </a:prstGeom>
          <a:solidFill>
            <a:srgbClr val="00767F"/>
          </a:solidFill>
          <a:ln/>
        </p:spPr>
        <p:txBody>
          <a:bodyPr/>
          <a:lstStyle/>
          <a:p>
            <a:endParaRPr lang="en-CA"/>
          </a:p>
        </p:txBody>
      </p:sp>
      <p:sp>
        <p:nvSpPr>
          <p:cNvPr id="9" name="Text 7"/>
          <p:cNvSpPr txBox="1"/>
          <p:nvPr/>
        </p:nvSpPr>
        <p:spPr>
          <a:xfrm>
            <a:off x="566928" y="190195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10" name="Text 8"/>
          <p:cNvSpPr txBox="1"/>
          <p:nvPr/>
        </p:nvSpPr>
        <p:spPr>
          <a:xfrm>
            <a:off x="1133856" y="1874520"/>
            <a:ext cx="4782312" cy="274320"/>
          </a:xfrm>
          <a:prstGeom prst="rect">
            <a:avLst/>
          </a:prstGeom>
          <a:noFill/>
          <a:ln/>
        </p:spPr>
        <p:txBody>
          <a:bodyPr wrap="square" lIns="0" tIns="0" rIns="0" bIns="0" rtlCol="0" anchor="ctr"/>
          <a:lstStyle/>
          <a:p>
            <a:pPr marL="0" indent="0">
              <a:buNone/>
            </a:pPr>
            <a:r>
              <a:rPr lang="en-US" sz="1500" b="1" dirty="0">
                <a:solidFill>
                  <a:srgbClr val="0A2540"/>
                </a:solidFill>
                <a:latin typeface="Courier New" pitchFamily="34" charset="0"/>
                <a:ea typeface="Courier New" pitchFamily="34" charset="-122"/>
                <a:cs typeface="Courier New" pitchFamily="34" charset="-120"/>
              </a:rPr>
              <a:t>dart --version</a:t>
            </a:r>
            <a:endParaRPr lang="en-US" sz="1500" dirty="0"/>
          </a:p>
        </p:txBody>
      </p:sp>
      <p:sp>
        <p:nvSpPr>
          <p:cNvPr id="11" name="Text 9"/>
          <p:cNvSpPr txBox="1"/>
          <p:nvPr/>
        </p:nvSpPr>
        <p:spPr>
          <a:xfrm>
            <a:off x="1133856" y="2148840"/>
            <a:ext cx="4782312" cy="59436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Prints a version? You're done — help someone near you. Nothing prints? Dart isn't on your PATH.</a:t>
            </a:r>
            <a:endParaRPr lang="en-US" sz="1300" dirty="0"/>
          </a:p>
        </p:txBody>
      </p:sp>
      <p:sp>
        <p:nvSpPr>
          <p:cNvPr id="12" name="Shape 10"/>
          <p:cNvSpPr/>
          <p:nvPr/>
        </p:nvSpPr>
        <p:spPr>
          <a:xfrm>
            <a:off x="566928" y="2816352"/>
            <a:ext cx="420624" cy="420624"/>
          </a:xfrm>
          <a:prstGeom prst="ellipse">
            <a:avLst/>
          </a:prstGeom>
          <a:solidFill>
            <a:srgbClr val="00767F"/>
          </a:solidFill>
          <a:ln/>
        </p:spPr>
        <p:txBody>
          <a:bodyPr/>
          <a:lstStyle/>
          <a:p>
            <a:endParaRPr lang="en-CA"/>
          </a:p>
        </p:txBody>
      </p:sp>
      <p:sp>
        <p:nvSpPr>
          <p:cNvPr id="13" name="Text 11"/>
          <p:cNvSpPr txBox="1"/>
          <p:nvPr/>
        </p:nvSpPr>
        <p:spPr>
          <a:xfrm>
            <a:off x="566928" y="281635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4" name="Text 12"/>
          <p:cNvSpPr txBox="1"/>
          <p:nvPr/>
        </p:nvSpPr>
        <p:spPr>
          <a:xfrm>
            <a:off x="1133856" y="2788920"/>
            <a:ext cx="4782312" cy="274320"/>
          </a:xfrm>
          <a:prstGeom prst="rect">
            <a:avLst/>
          </a:prstGeom>
          <a:noFill/>
          <a:ln/>
        </p:spPr>
        <p:txBody>
          <a:bodyPr wrap="square" lIns="0" tIns="0" rIns="0" bIns="0" rtlCol="0" anchor="ctr"/>
          <a:lstStyle/>
          <a:p>
            <a:pPr marL="0" indent="0">
              <a:buNone/>
            </a:pPr>
            <a:r>
              <a:rPr lang="en-US" sz="1500" b="1" dirty="0">
                <a:solidFill>
                  <a:srgbClr val="0A2540"/>
                </a:solidFill>
                <a:latin typeface="Courier New" pitchFamily="34" charset="0"/>
                <a:ea typeface="Courier New" pitchFamily="34" charset="-122"/>
                <a:cs typeface="Courier New" pitchFamily="34" charset="-120"/>
              </a:rPr>
              <a:t>flutter doctor</a:t>
            </a:r>
            <a:endParaRPr lang="en-US" sz="1500" dirty="0"/>
          </a:p>
        </p:txBody>
      </p:sp>
      <p:sp>
        <p:nvSpPr>
          <p:cNvPr id="15" name="Text 13"/>
          <p:cNvSpPr txBox="1"/>
          <p:nvPr/>
        </p:nvSpPr>
        <p:spPr>
          <a:xfrm>
            <a:off x="1133856" y="3063240"/>
            <a:ext cx="4782312" cy="59436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Read only the lines with a red X. Yellow ! warnings about Android Studio or Xcode are fine for tonight.</a:t>
            </a:r>
            <a:endParaRPr lang="en-US" sz="1300" dirty="0"/>
          </a:p>
        </p:txBody>
      </p:sp>
      <p:sp>
        <p:nvSpPr>
          <p:cNvPr id="16" name="Shape 14"/>
          <p:cNvSpPr/>
          <p:nvPr/>
        </p:nvSpPr>
        <p:spPr>
          <a:xfrm>
            <a:off x="566928" y="3730752"/>
            <a:ext cx="420624" cy="420624"/>
          </a:xfrm>
          <a:prstGeom prst="ellipse">
            <a:avLst/>
          </a:prstGeom>
          <a:solidFill>
            <a:srgbClr val="00767F"/>
          </a:solidFill>
          <a:ln/>
        </p:spPr>
        <p:txBody>
          <a:bodyPr/>
          <a:lstStyle/>
          <a:p>
            <a:endParaRPr lang="en-CA"/>
          </a:p>
        </p:txBody>
      </p:sp>
      <p:sp>
        <p:nvSpPr>
          <p:cNvPr id="17" name="Text 15"/>
          <p:cNvSpPr txBox="1"/>
          <p:nvPr/>
        </p:nvSpPr>
        <p:spPr>
          <a:xfrm>
            <a:off x="566928" y="373075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8" name="Text 16"/>
          <p:cNvSpPr txBox="1"/>
          <p:nvPr/>
        </p:nvSpPr>
        <p:spPr>
          <a:xfrm>
            <a:off x="1133856" y="3703320"/>
            <a:ext cx="47823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Editor + extension</a:t>
            </a:r>
            <a:endParaRPr lang="en-US" sz="1500" dirty="0"/>
          </a:p>
        </p:txBody>
      </p:sp>
      <p:sp>
        <p:nvSpPr>
          <p:cNvPr id="19" name="Text 17"/>
          <p:cNvSpPr txBox="1"/>
          <p:nvPr/>
        </p:nvSpPr>
        <p:spPr>
          <a:xfrm>
            <a:off x="1133856" y="3977640"/>
            <a:ext cx="4782312" cy="68580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VS Code with the Dart and Flutter extensions, or Android Studio with the Dart plugin. Restart the editor after installing.</a:t>
            </a:r>
            <a:endParaRPr lang="en-US" sz="1300" dirty="0"/>
          </a:p>
        </p:txBody>
      </p:sp>
      <p:sp>
        <p:nvSpPr>
          <p:cNvPr id="20" name="Shape 18"/>
          <p:cNvSpPr/>
          <p:nvPr/>
        </p:nvSpPr>
        <p:spPr>
          <a:xfrm>
            <a:off x="6263640" y="1874520"/>
            <a:ext cx="5367528" cy="2788920"/>
          </a:xfrm>
          <a:prstGeom prst="roundRect">
            <a:avLst>
              <a:gd name="adj" fmla="val 196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1" name="Text 19"/>
          <p:cNvSpPr txBox="1"/>
          <p:nvPr/>
        </p:nvSpPr>
        <p:spPr>
          <a:xfrm>
            <a:off x="6464808" y="1975104"/>
            <a:ext cx="4965192"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SANITY CHECK — CREATE AND RUN</a:t>
            </a:r>
            <a:endParaRPr lang="en-US" sz="1050" dirty="0"/>
          </a:p>
        </p:txBody>
      </p:sp>
      <p:sp>
        <p:nvSpPr>
          <p:cNvPr id="22" name="Text 20"/>
          <p:cNvSpPr txBox="1"/>
          <p:nvPr/>
        </p:nvSpPr>
        <p:spPr>
          <a:xfrm>
            <a:off x="6464808" y="2276856"/>
            <a:ext cx="5001768" cy="2276856"/>
          </a:xfrm>
          <a:prstGeom prst="rect">
            <a:avLst/>
          </a:prstGeom>
          <a:noFill/>
          <a:ln/>
        </p:spPr>
        <p:txBody>
          <a:bodyPr wrap="square" lIns="0" tIns="0" rIns="0" bIns="0" rtlCol="0" anchor="t"/>
          <a:lstStyle/>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dart create -t console warmup</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cd warmup</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dart run</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Building package executable...</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Hello world: 42!</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If you see the two lines above,</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your toolchain is fine. Close the</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terminal window and relax.</a:t>
            </a:r>
            <a:endParaRPr lang="en-US" sz="1250" dirty="0"/>
          </a:p>
        </p:txBody>
      </p:sp>
      <p:sp>
        <p:nvSpPr>
          <p:cNvPr id="23" name="Shape 21"/>
          <p:cNvSpPr/>
          <p:nvPr/>
        </p:nvSpPr>
        <p:spPr>
          <a:xfrm>
            <a:off x="566928" y="4892040"/>
            <a:ext cx="11064240" cy="960120"/>
          </a:xfrm>
          <a:prstGeom prst="roundRect">
            <a:avLst>
              <a:gd name="adj" fmla="val 4762"/>
            </a:avLst>
          </a:prstGeom>
          <a:solidFill>
            <a:srgbClr val="FDF3E3"/>
          </a:solidFill>
          <a:ln w="12700">
            <a:solidFill>
              <a:srgbClr val="E0A64B"/>
            </a:solidFill>
            <a:prstDash val="solid"/>
          </a:ln>
        </p:spPr>
        <p:txBody>
          <a:bodyPr/>
          <a:lstStyle/>
          <a:p>
            <a:endParaRPr lang="en-CA"/>
          </a:p>
        </p:txBody>
      </p:sp>
      <p:sp>
        <p:nvSpPr>
          <p:cNvPr id="24" name="Text 22"/>
          <p:cNvSpPr txBox="1"/>
          <p:nvPr/>
        </p:nvSpPr>
        <p:spPr>
          <a:xfrm>
            <a:off x="786384" y="5010912"/>
            <a:ext cx="3108960" cy="237744"/>
          </a:xfrm>
          <a:prstGeom prst="rect">
            <a:avLst/>
          </a:prstGeom>
          <a:noFill/>
          <a:ln/>
        </p:spPr>
        <p:txBody>
          <a:bodyPr wrap="square" lIns="0" tIns="0" rIns="0" bIns="0" rtlCol="0" anchor="ctr"/>
          <a:lstStyle/>
          <a:p>
            <a:pPr marL="0" indent="0">
              <a:buNone/>
            </a:pPr>
            <a:r>
              <a:rPr lang="en-US" sz="1050" b="1" kern="0" spc="140" dirty="0">
                <a:solidFill>
                  <a:srgbClr val="E0A64B"/>
                </a:solidFill>
                <a:latin typeface="Calibri" pitchFamily="34" charset="0"/>
                <a:ea typeface="Calibri" pitchFamily="34" charset="-122"/>
                <a:cs typeface="Calibri" pitchFamily="34" charset="-120"/>
              </a:rPr>
              <a:t>MOST COMMON CAUSE</a:t>
            </a:r>
            <a:endParaRPr lang="en-US" sz="1050" dirty="0"/>
          </a:p>
        </p:txBody>
      </p:sp>
      <p:sp>
        <p:nvSpPr>
          <p:cNvPr id="25" name="Text 23"/>
          <p:cNvSpPr txBox="1"/>
          <p:nvPr/>
        </p:nvSpPr>
        <p:spPr>
          <a:xfrm>
            <a:off x="786384" y="5257800"/>
            <a:ext cx="10625328" cy="484632"/>
          </a:xfrm>
          <a:prstGeom prst="rect">
            <a:avLst/>
          </a:prstGeom>
          <a:noFill/>
          <a:ln/>
        </p:spPr>
        <p:txBody>
          <a:bodyPr wrap="square" lIns="0" tIns="0" rIns="0" bIns="0" rtlCol="0" anchor="t"/>
          <a:lstStyle/>
          <a:p>
            <a:pPr marL="0" indent="0">
              <a:lnSpc>
                <a:spcPct val="112000"/>
              </a:lnSpc>
              <a:buNone/>
            </a:pPr>
            <a:r>
              <a:rPr lang="en-US" sz="1350" dirty="0">
                <a:solidFill>
                  <a:srgbClr val="7A5312"/>
                </a:solidFill>
                <a:latin typeface="Calibri" pitchFamily="34" charset="0"/>
                <a:ea typeface="Calibri" pitchFamily="34" charset="-122"/>
                <a:cs typeface="Calibri" pitchFamily="34" charset="-120"/>
              </a:rPr>
              <a:t>PATH. The SDK is on disk but the shell can't find it. On Windows, re-open the terminal after editing environment variables — an already-open terminal keeps the old PATH forever. On macOS, check whether your shell is zsh (~/.zshrc) or bash (~/.bash_profile).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0120" y="2084832"/>
            <a:ext cx="1371600" cy="1371600"/>
          </a:xfrm>
          <a:prstGeom prst="ellipse">
            <a:avLst/>
          </a:prstGeom>
          <a:solidFill>
            <a:srgbClr val="00767F"/>
          </a:solidFill>
          <a:ln w="19050">
            <a:solidFill>
              <a:srgbClr val="A8D65C"/>
            </a:solidFill>
            <a:prstDash val="solid"/>
          </a:ln>
        </p:spPr>
        <p:txBody>
          <a:bodyPr/>
          <a:lstStyle/>
          <a:p>
            <a:endParaRPr lang="en-CA"/>
          </a:p>
        </p:txBody>
      </p:sp>
      <p:sp>
        <p:nvSpPr>
          <p:cNvPr id="3" name="Text 1"/>
          <p:cNvSpPr txBox="1"/>
          <p:nvPr/>
        </p:nvSpPr>
        <p:spPr>
          <a:xfrm>
            <a:off x="960120" y="2084832"/>
            <a:ext cx="13716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1</a:t>
            </a:r>
            <a:endParaRPr lang="en-US" sz="4000" dirty="0"/>
          </a:p>
        </p:txBody>
      </p:sp>
      <p:sp>
        <p:nvSpPr>
          <p:cNvPr id="4" name="Text 2"/>
          <p:cNvSpPr txBox="1"/>
          <p:nvPr/>
        </p:nvSpPr>
        <p:spPr>
          <a:xfrm>
            <a:off x="2743200" y="1993392"/>
            <a:ext cx="859536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Where we left off</a:t>
            </a:r>
            <a:endParaRPr lang="en-US" sz="4000" dirty="0"/>
          </a:p>
        </p:txBody>
      </p:sp>
      <p:sp>
        <p:nvSpPr>
          <p:cNvPr id="5" name="Text 3"/>
          <p:cNvSpPr txBox="1"/>
          <p:nvPr/>
        </p:nvSpPr>
        <p:spPr>
          <a:xfrm>
            <a:off x="2788920" y="2788920"/>
            <a:ext cx="81381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A fast recap of part 1, then straight into new material.</a:t>
            </a:r>
            <a:endParaRPr lang="en-US" sz="1600" dirty="0"/>
          </a:p>
        </p:txBody>
      </p:sp>
      <p:sp>
        <p:nvSpPr>
          <p:cNvPr id="6" name="Text 4"/>
          <p:cNvSpPr txBox="1"/>
          <p:nvPr/>
        </p:nvSpPr>
        <p:spPr>
          <a:xfrm>
            <a:off x="2788920" y="3703320"/>
            <a:ext cx="8138160" cy="13716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Dart is statically typed, but the compiler infers most of it for you</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Every program starts at main()</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Everything you can put in a variable is an object</a:t>
            </a:r>
            <a:endParaRPr lang="en-US" sz="1450" dirty="0"/>
          </a:p>
        </p:txBody>
      </p:sp>
      <p:sp>
        <p:nvSpPr>
          <p:cNvPr id="7" name="Text 5"/>
          <p:cNvSpPr txBox="1"/>
          <p:nvPr/>
        </p:nvSpPr>
        <p:spPr>
          <a:xfrm>
            <a:off x="960120" y="3749040"/>
            <a:ext cx="1463040" cy="320040"/>
          </a:xfrm>
          <a:prstGeom prst="rect">
            <a:avLst/>
          </a:prstGeom>
          <a:noFill/>
          <a:ln/>
        </p:spPr>
        <p:txBody>
          <a:bodyPr wrap="square" lIns="0" tIns="0" rIns="0" bIns="0" rtlCol="0" anchor="ctr"/>
          <a:lstStyle/>
          <a:p>
            <a:pPr marL="0" indent="0" algn="ctr">
              <a:buNone/>
            </a:pPr>
            <a:r>
              <a:rPr lang="en-US" sz="1200" b="1" dirty="0">
                <a:solidFill>
                  <a:srgbClr val="A8D65C"/>
                </a:solidFill>
                <a:latin typeface="Calibri" pitchFamily="34" charset="0"/>
                <a:ea typeface="Calibri" pitchFamily="34" charset="-122"/>
                <a:cs typeface="Calibri" pitchFamily="34" charset="-120"/>
              </a:rPr>
              <a:t>10 min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1 · MENTAL MODEL</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Three facts that explain most of Dart</a:t>
            </a:r>
            <a:endParaRPr lang="en-US" sz="3200" dirty="0"/>
          </a:p>
        </p:txBody>
      </p:sp>
      <p:sp>
        <p:nvSpPr>
          <p:cNvPr id="4" name="Text 2"/>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0:10 – 0:20</a:t>
            </a:r>
            <a:endParaRPr lang="en-US" sz="110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6</a:t>
            </a:r>
            <a:endParaRPr lang="en-US" sz="950" dirty="0"/>
          </a:p>
        </p:txBody>
      </p:sp>
      <p:sp>
        <p:nvSpPr>
          <p:cNvPr id="7" name="Shape 5"/>
          <p:cNvSpPr/>
          <p:nvPr/>
        </p:nvSpPr>
        <p:spPr>
          <a:xfrm>
            <a:off x="566928" y="1417320"/>
            <a:ext cx="3566160" cy="1965960"/>
          </a:xfrm>
          <a:prstGeom prst="roundRect">
            <a:avLst>
              <a:gd name="adj" fmla="val 2326"/>
            </a:avLst>
          </a:prstGeom>
          <a:solidFill>
            <a:srgbClr val="F2F6F8"/>
          </a:solidFill>
          <a:ln/>
        </p:spPr>
        <p:txBody>
          <a:bodyPr/>
          <a:lstStyle/>
          <a:p>
            <a:endParaRPr lang="en-CA"/>
          </a:p>
        </p:txBody>
      </p:sp>
      <p:sp>
        <p:nvSpPr>
          <p:cNvPr id="8" name="Shape 6"/>
          <p:cNvSpPr/>
          <p:nvPr/>
        </p:nvSpPr>
        <p:spPr>
          <a:xfrm>
            <a:off x="749808" y="1600200"/>
            <a:ext cx="384048" cy="384048"/>
          </a:xfrm>
          <a:prstGeom prst="ellipse">
            <a:avLst/>
          </a:prstGeom>
          <a:solidFill>
            <a:srgbClr val="0A2540"/>
          </a:solidFill>
          <a:ln/>
        </p:spPr>
        <p:txBody>
          <a:bodyPr/>
          <a:lstStyle/>
          <a:p>
            <a:endParaRPr lang="en-CA"/>
          </a:p>
        </p:txBody>
      </p:sp>
      <p:sp>
        <p:nvSpPr>
          <p:cNvPr id="9" name="Text 7"/>
          <p:cNvSpPr txBox="1"/>
          <p:nvPr/>
        </p:nvSpPr>
        <p:spPr>
          <a:xfrm>
            <a:off x="749808" y="1600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252728" y="158191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Everything is an object</a:t>
            </a:r>
            <a:endParaRPr lang="en-US" sz="1600" dirty="0"/>
          </a:p>
        </p:txBody>
      </p:sp>
      <p:sp>
        <p:nvSpPr>
          <p:cNvPr id="11" name="Text 9"/>
          <p:cNvSpPr txBox="1"/>
          <p:nvPr/>
        </p:nvSpPr>
        <p:spPr>
          <a:xfrm>
            <a:off x="768096" y="2002536"/>
            <a:ext cx="3163824" cy="116128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Numbers, strings, functions, even null. There is no primitive/object split like Java or C#. That is why 5.toString() and 'abc'.length both just work.</a:t>
            </a:r>
            <a:endParaRPr lang="en-US" sz="1250" dirty="0"/>
          </a:p>
        </p:txBody>
      </p:sp>
      <p:sp>
        <p:nvSpPr>
          <p:cNvPr id="12" name="Shape 10"/>
          <p:cNvSpPr/>
          <p:nvPr/>
        </p:nvSpPr>
        <p:spPr>
          <a:xfrm>
            <a:off x="4315968" y="1417320"/>
            <a:ext cx="3566160" cy="1965960"/>
          </a:xfrm>
          <a:prstGeom prst="roundRect">
            <a:avLst>
              <a:gd name="adj" fmla="val 2326"/>
            </a:avLst>
          </a:prstGeom>
          <a:solidFill>
            <a:srgbClr val="E4F1F2"/>
          </a:solidFill>
          <a:ln/>
        </p:spPr>
        <p:txBody>
          <a:bodyPr/>
          <a:lstStyle/>
          <a:p>
            <a:endParaRPr lang="en-CA"/>
          </a:p>
        </p:txBody>
      </p:sp>
      <p:sp>
        <p:nvSpPr>
          <p:cNvPr id="13" name="Shape 11"/>
          <p:cNvSpPr/>
          <p:nvPr/>
        </p:nvSpPr>
        <p:spPr>
          <a:xfrm>
            <a:off x="4498848" y="1600200"/>
            <a:ext cx="384048" cy="384048"/>
          </a:xfrm>
          <a:prstGeom prst="ellipse">
            <a:avLst/>
          </a:prstGeom>
          <a:solidFill>
            <a:srgbClr val="00767F"/>
          </a:solidFill>
          <a:ln/>
        </p:spPr>
        <p:txBody>
          <a:bodyPr/>
          <a:lstStyle/>
          <a:p>
            <a:endParaRPr lang="en-CA"/>
          </a:p>
        </p:txBody>
      </p:sp>
      <p:sp>
        <p:nvSpPr>
          <p:cNvPr id="14" name="Text 12"/>
          <p:cNvSpPr txBox="1"/>
          <p:nvPr/>
        </p:nvSpPr>
        <p:spPr>
          <a:xfrm>
            <a:off x="4498848" y="1600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5001768" y="158191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Types are checked early</a:t>
            </a:r>
            <a:endParaRPr lang="en-US" sz="1600" dirty="0"/>
          </a:p>
        </p:txBody>
      </p:sp>
      <p:sp>
        <p:nvSpPr>
          <p:cNvPr id="16" name="Text 14"/>
          <p:cNvSpPr txBox="1"/>
          <p:nvPr/>
        </p:nvSpPr>
        <p:spPr>
          <a:xfrm>
            <a:off x="4517136" y="2002536"/>
            <a:ext cx="3163824" cy="116128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Dart is statically typed and compiled. Most type errors are caught before your program runs — that squiggle in the editor is the compiler, not a linter suggestion.</a:t>
            </a:r>
            <a:endParaRPr lang="en-US" sz="1250" dirty="0"/>
          </a:p>
        </p:txBody>
      </p:sp>
      <p:sp>
        <p:nvSpPr>
          <p:cNvPr id="17" name="Shape 15"/>
          <p:cNvSpPr/>
          <p:nvPr/>
        </p:nvSpPr>
        <p:spPr>
          <a:xfrm>
            <a:off x="8065008" y="1417320"/>
            <a:ext cx="3566160" cy="1965960"/>
          </a:xfrm>
          <a:prstGeom prst="roundRect">
            <a:avLst>
              <a:gd name="adj" fmla="val 2326"/>
            </a:avLst>
          </a:prstGeom>
          <a:solidFill>
            <a:srgbClr val="F2F6F8"/>
          </a:solidFill>
          <a:ln/>
        </p:spPr>
        <p:txBody>
          <a:bodyPr/>
          <a:lstStyle/>
          <a:p>
            <a:endParaRPr lang="en-CA"/>
          </a:p>
        </p:txBody>
      </p:sp>
      <p:sp>
        <p:nvSpPr>
          <p:cNvPr id="18" name="Shape 16"/>
          <p:cNvSpPr/>
          <p:nvPr/>
        </p:nvSpPr>
        <p:spPr>
          <a:xfrm>
            <a:off x="8247888" y="1600200"/>
            <a:ext cx="384048" cy="384048"/>
          </a:xfrm>
          <a:prstGeom prst="ellipse">
            <a:avLst/>
          </a:prstGeom>
          <a:solidFill>
            <a:srgbClr val="0A2540"/>
          </a:solidFill>
          <a:ln/>
        </p:spPr>
        <p:txBody>
          <a:bodyPr/>
          <a:lstStyle/>
          <a:p>
            <a:endParaRPr lang="en-CA"/>
          </a:p>
        </p:txBody>
      </p:sp>
      <p:sp>
        <p:nvSpPr>
          <p:cNvPr id="19" name="Text 17"/>
          <p:cNvSpPr txBox="1"/>
          <p:nvPr/>
        </p:nvSpPr>
        <p:spPr>
          <a:xfrm>
            <a:off x="8247888" y="160020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750808" y="158191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Inference ≠ dynamic</a:t>
            </a:r>
            <a:endParaRPr lang="en-US" sz="1600" dirty="0"/>
          </a:p>
        </p:txBody>
      </p:sp>
      <p:sp>
        <p:nvSpPr>
          <p:cNvPr id="21" name="Text 19"/>
          <p:cNvSpPr txBox="1"/>
          <p:nvPr/>
        </p:nvSpPr>
        <p:spPr>
          <a:xfrm>
            <a:off x="8266176" y="2002536"/>
            <a:ext cx="3163824" cy="116128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var means 'you work out the type', not 'any type'. Once inferred, the type is locked in for the life of the variable. dynamic is the opt-out — and we won't use it.</a:t>
            </a:r>
            <a:endParaRPr lang="en-US" sz="1250" dirty="0"/>
          </a:p>
        </p:txBody>
      </p:sp>
      <p:sp>
        <p:nvSpPr>
          <p:cNvPr id="22" name="Shape 20"/>
          <p:cNvSpPr/>
          <p:nvPr/>
        </p:nvSpPr>
        <p:spPr>
          <a:xfrm>
            <a:off x="566928" y="3611880"/>
            <a:ext cx="5532120" cy="2240280"/>
          </a:xfrm>
          <a:prstGeom prst="roundRect">
            <a:avLst>
              <a:gd name="adj" fmla="val 2449"/>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3" name="Text 21"/>
          <p:cNvSpPr txBox="1"/>
          <p:nvPr/>
        </p:nvSpPr>
        <p:spPr>
          <a:xfrm>
            <a:off x="768096" y="3712464"/>
            <a:ext cx="51297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INFERENCE IS NOT A LOOPHOLE</a:t>
            </a:r>
            <a:endParaRPr lang="en-US" sz="1050" dirty="0"/>
          </a:p>
        </p:txBody>
      </p:sp>
      <p:sp>
        <p:nvSpPr>
          <p:cNvPr id="24" name="Text 22"/>
          <p:cNvSpPr txBox="1"/>
          <p:nvPr/>
        </p:nvSpPr>
        <p:spPr>
          <a:xfrm>
            <a:off x="768096" y="4014216"/>
            <a:ext cx="5166360" cy="1728216"/>
          </a:xfrm>
          <a:prstGeom prst="rect">
            <a:avLst/>
          </a:prstGeom>
          <a:noFill/>
          <a:ln/>
        </p:spPr>
        <p:txBody>
          <a:bodyPr wrap="square" lIns="0" tIns="0" rIns="0" bIns="0" rtlCol="0" anchor="t"/>
          <a:lstStyle/>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var count = 3;      // inferred as int</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count = 'three';    // COMPILE ERROR</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dynamic loose = 3;  // opt out of checking</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loose = 'three';    // allowed... for now</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loose.explode();    // crashes at RUNTIME</a:t>
            </a:r>
            <a:endParaRPr lang="en-US" sz="1250" dirty="0"/>
          </a:p>
        </p:txBody>
      </p:sp>
      <p:sp>
        <p:nvSpPr>
          <p:cNvPr id="25" name="Shape 23"/>
          <p:cNvSpPr/>
          <p:nvPr/>
        </p:nvSpPr>
        <p:spPr>
          <a:xfrm>
            <a:off x="6309360" y="3611880"/>
            <a:ext cx="5321808" cy="2240280"/>
          </a:xfrm>
          <a:prstGeom prst="roundRect">
            <a:avLst>
              <a:gd name="adj" fmla="val 2041"/>
            </a:avLst>
          </a:prstGeom>
          <a:solidFill>
            <a:srgbClr val="E4F1F2"/>
          </a:solidFill>
          <a:ln/>
        </p:spPr>
        <p:txBody>
          <a:bodyPr/>
          <a:lstStyle/>
          <a:p>
            <a:endParaRPr lang="en-CA"/>
          </a:p>
        </p:txBody>
      </p:sp>
      <p:sp>
        <p:nvSpPr>
          <p:cNvPr id="26" name="Text 24"/>
          <p:cNvSpPr txBox="1"/>
          <p:nvPr/>
        </p:nvSpPr>
        <p:spPr>
          <a:xfrm>
            <a:off x="6510528" y="3776472"/>
            <a:ext cx="4919472" cy="365760"/>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Why we avoid dynamic in this course</a:t>
            </a:r>
            <a:endParaRPr lang="en-US" sz="1600" dirty="0"/>
          </a:p>
        </p:txBody>
      </p:sp>
      <p:sp>
        <p:nvSpPr>
          <p:cNvPr id="27" name="Text 25"/>
          <p:cNvSpPr txBox="1"/>
          <p:nvPr/>
        </p:nvSpPr>
        <p:spPr>
          <a:xfrm>
            <a:off x="6528816" y="4233672"/>
            <a:ext cx="4882896" cy="14173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It moves errors from compile time (cheap, in your editor) to runtime (expensive, in front of a user)</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You lose autocomplete — the editor no longer knows what the value can do</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Flutter's widget tree leans hard on static types; dynamic makes the framework's error messages useless</a:t>
            </a:r>
            <a:endParaRPr lang="en-US" sz="1250" dirty="0"/>
          </a:p>
          <a:p>
            <a:pPr marL="342900" indent="-342900">
              <a:lnSpc>
                <a:spcPct val="105000"/>
              </a:lnSpc>
              <a:spcAft>
                <a:spcPts val="500"/>
              </a:spcAft>
              <a:buSzPct val="100000"/>
              <a:buChar char="▪"/>
            </a:pPr>
            <a:r>
              <a:rPr lang="en-US" sz="1250" b="1" dirty="0">
                <a:solidFill>
                  <a:srgbClr val="16232E"/>
                </a:solidFill>
                <a:latin typeface="Calibri" pitchFamily="34" charset="0"/>
                <a:ea typeface="Calibri" pitchFamily="34" charset="-122"/>
                <a:cs typeface="Calibri" pitchFamily="34" charset="-120"/>
              </a:rPr>
              <a:t>Rule for the term: if you need dynamic, come talk to me first.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1 · DECLARATIONS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var, final, const — and when to reach for each</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7</a:t>
            </a:r>
            <a:endParaRPr lang="en-US" sz="950" dirty="0"/>
          </a:p>
        </p:txBody>
      </p:sp>
      <p:sp>
        <p:nvSpPr>
          <p:cNvPr id="6" name="Shape 4"/>
          <p:cNvSpPr/>
          <p:nvPr/>
        </p:nvSpPr>
        <p:spPr>
          <a:xfrm>
            <a:off x="566928" y="1371600"/>
            <a:ext cx="5852160" cy="3931920"/>
          </a:xfrm>
          <a:prstGeom prst="roundRect">
            <a:avLst>
              <a:gd name="adj" fmla="val 1395"/>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472184"/>
            <a:ext cx="54498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DECLARATIONS</a:t>
            </a:r>
            <a:endParaRPr lang="en-US" sz="1050" dirty="0"/>
          </a:p>
        </p:txBody>
      </p:sp>
      <p:sp>
        <p:nvSpPr>
          <p:cNvPr id="8" name="Text 6"/>
          <p:cNvSpPr txBox="1"/>
          <p:nvPr/>
        </p:nvSpPr>
        <p:spPr>
          <a:xfrm>
            <a:off x="768096" y="1773936"/>
            <a:ext cx="5486400" cy="3419856"/>
          </a:xfrm>
          <a:prstGeom prst="rect">
            <a:avLst/>
          </a:prstGeom>
          <a:noFill/>
          <a:ln/>
        </p:spPr>
        <p:txBody>
          <a:bodyPr wrap="square" lIns="0" tIns="0" rIns="0" bIns="0" rtlCol="0" anchor="t"/>
          <a:lstStyle/>
          <a:p>
            <a:pPr marL="0" indent="0">
              <a:lnSpc>
                <a:spcPct val="106000"/>
              </a:lnSpc>
              <a:buNone/>
            </a:pPr>
            <a:r>
              <a:rPr lang="en-US" sz="1294" i="1" dirty="0">
                <a:solidFill>
                  <a:srgbClr val="7FA6BD"/>
                </a:solidFill>
                <a:latin typeface="Courier New" pitchFamily="34" charset="0"/>
                <a:ea typeface="Courier New" pitchFamily="34" charset="-122"/>
                <a:cs typeface="Courier New" pitchFamily="34" charset="-120"/>
              </a:rPr>
              <a:t>// 1. inferred, reassignable</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var attempts = 0;</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attempts = attempts + 1;         // fine</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 </a:t>
            </a:r>
            <a:endParaRPr lang="en-US" sz="1294" dirty="0"/>
          </a:p>
          <a:p>
            <a:pPr marL="0" indent="0">
              <a:lnSpc>
                <a:spcPct val="106000"/>
              </a:lnSpc>
              <a:buNone/>
            </a:pPr>
            <a:r>
              <a:rPr lang="en-US" sz="1294" i="1" dirty="0">
                <a:solidFill>
                  <a:srgbClr val="7FA6BD"/>
                </a:solidFill>
                <a:latin typeface="Courier New" pitchFamily="34" charset="0"/>
                <a:ea typeface="Courier New" pitchFamily="34" charset="-122"/>
                <a:cs typeface="Courier New" pitchFamily="34" charset="-120"/>
              </a:rPr>
              <a:t>// 2. explicit type — say it when it helps</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double average = 0;</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String courseCode = 'DMIT 2504';</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 </a:t>
            </a:r>
            <a:endParaRPr lang="en-US" sz="1294" dirty="0"/>
          </a:p>
          <a:p>
            <a:pPr marL="0" indent="0">
              <a:lnSpc>
                <a:spcPct val="106000"/>
              </a:lnSpc>
              <a:buNone/>
            </a:pPr>
            <a:r>
              <a:rPr lang="en-US" sz="1294" i="1" dirty="0">
                <a:solidFill>
                  <a:srgbClr val="7FA6BD"/>
                </a:solidFill>
                <a:latin typeface="Courier New" pitchFamily="34" charset="0"/>
                <a:ea typeface="Courier New" pitchFamily="34" charset="-122"/>
                <a:cs typeface="Courier New" pitchFamily="34" charset="-120"/>
              </a:rPr>
              <a:t>// 3. final: set once, at runtime</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final startedAt = DateTime.now();</a:t>
            </a:r>
            <a:endParaRPr lang="en-US" sz="1294" dirty="0"/>
          </a:p>
          <a:p>
            <a:pPr marL="0" indent="0">
              <a:lnSpc>
                <a:spcPct val="106000"/>
              </a:lnSpc>
              <a:buNone/>
            </a:pPr>
            <a:r>
              <a:rPr lang="en-US" sz="1294" b="1" dirty="0">
                <a:solidFill>
                  <a:srgbClr val="C8EE7E"/>
                </a:solidFill>
                <a:latin typeface="Courier New" pitchFamily="34" charset="0"/>
                <a:ea typeface="Courier New" pitchFamily="34" charset="-122"/>
                <a:cs typeface="Courier New" pitchFamily="34" charset="-120"/>
              </a:rPr>
              <a:t>// startedAt = ...;             // ERROR</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 </a:t>
            </a:r>
            <a:endParaRPr lang="en-US" sz="1294" dirty="0"/>
          </a:p>
          <a:p>
            <a:pPr marL="0" indent="0">
              <a:lnSpc>
                <a:spcPct val="106000"/>
              </a:lnSpc>
              <a:buNone/>
            </a:pPr>
            <a:r>
              <a:rPr lang="en-US" sz="1294" i="1" dirty="0">
                <a:solidFill>
                  <a:srgbClr val="7FA6BD"/>
                </a:solidFill>
                <a:latin typeface="Courier New" pitchFamily="34" charset="0"/>
                <a:ea typeface="Courier New" pitchFamily="34" charset="-122"/>
                <a:cs typeface="Courier New" pitchFamily="34" charset="-120"/>
              </a:rPr>
              <a:t>// 4. const: baked in at compile time</a:t>
            </a:r>
            <a:endParaRPr lang="en-US" sz="1294" dirty="0"/>
          </a:p>
          <a:p>
            <a:pPr marL="0" indent="0">
              <a:lnSpc>
                <a:spcPct val="106000"/>
              </a:lnSpc>
              <a:buNone/>
            </a:pPr>
            <a:r>
              <a:rPr lang="en-US" sz="1294" dirty="0">
                <a:solidFill>
                  <a:srgbClr val="EAF2F7"/>
                </a:solidFill>
                <a:latin typeface="Courier New" pitchFamily="34" charset="0"/>
                <a:ea typeface="Courier New" pitchFamily="34" charset="-122"/>
                <a:cs typeface="Courier New" pitchFamily="34" charset="-120"/>
              </a:rPr>
              <a:t>const passMark = 50;</a:t>
            </a:r>
            <a:endParaRPr lang="en-US" sz="1294" dirty="0"/>
          </a:p>
          <a:p>
            <a:pPr marL="0" indent="0">
              <a:lnSpc>
                <a:spcPct val="106000"/>
              </a:lnSpc>
              <a:buNone/>
            </a:pPr>
            <a:r>
              <a:rPr lang="en-US" sz="1294" b="1" dirty="0">
                <a:solidFill>
                  <a:srgbClr val="C8EE7E"/>
                </a:solidFill>
                <a:latin typeface="Courier New" pitchFamily="34" charset="0"/>
                <a:ea typeface="Courier New" pitchFamily="34" charset="-122"/>
                <a:cs typeface="Courier New" pitchFamily="34" charset="-120"/>
              </a:rPr>
              <a:t>const now = DateTime.now();      // ERROR:</a:t>
            </a:r>
            <a:endParaRPr lang="en-US" sz="1294" dirty="0"/>
          </a:p>
          <a:p>
            <a:pPr marL="0" indent="0">
              <a:lnSpc>
                <a:spcPct val="106000"/>
              </a:lnSpc>
              <a:buNone/>
            </a:pPr>
            <a:r>
              <a:rPr lang="en-US" sz="1294" b="1" dirty="0">
                <a:solidFill>
                  <a:srgbClr val="C8EE7E"/>
                </a:solidFill>
                <a:latin typeface="Courier New" pitchFamily="34" charset="0"/>
                <a:ea typeface="Courier New" pitchFamily="34" charset="-122"/>
                <a:cs typeface="Courier New" pitchFamily="34" charset="-120"/>
              </a:rPr>
              <a:t>// not knowable at compile time</a:t>
            </a:r>
            <a:endParaRPr lang="en-US" sz="1294" dirty="0"/>
          </a:p>
        </p:txBody>
      </p:sp>
      <p:sp>
        <p:nvSpPr>
          <p:cNvPr id="9" name="Shape 7"/>
          <p:cNvSpPr/>
          <p:nvPr/>
        </p:nvSpPr>
        <p:spPr>
          <a:xfrm>
            <a:off x="6629400" y="1371600"/>
            <a:ext cx="5001768" cy="1783080"/>
          </a:xfrm>
          <a:prstGeom prst="roundRect">
            <a:avLst>
              <a:gd name="adj" fmla="val 2564"/>
            </a:avLst>
          </a:prstGeom>
          <a:solidFill>
            <a:srgbClr val="E4F1F2"/>
          </a:solidFill>
          <a:ln/>
        </p:spPr>
        <p:txBody>
          <a:bodyPr/>
          <a:lstStyle/>
          <a:p>
            <a:endParaRPr lang="en-CA"/>
          </a:p>
        </p:txBody>
      </p:sp>
      <p:sp>
        <p:nvSpPr>
          <p:cNvPr id="10" name="Text 8"/>
          <p:cNvSpPr txBox="1"/>
          <p:nvPr/>
        </p:nvSpPr>
        <p:spPr>
          <a:xfrm>
            <a:off x="6830568" y="1536192"/>
            <a:ext cx="4599432"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How to choose</a:t>
            </a:r>
            <a:endParaRPr lang="en-US" sz="1700" dirty="0"/>
          </a:p>
        </p:txBody>
      </p:sp>
      <p:sp>
        <p:nvSpPr>
          <p:cNvPr id="11" name="Text 9"/>
          <p:cNvSpPr txBox="1"/>
          <p:nvPr/>
        </p:nvSpPr>
        <p:spPr>
          <a:xfrm>
            <a:off x="6848856" y="1993392"/>
            <a:ext cx="4562856" cy="96012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const — a value that is fixed forever (a tax rate, a pass mark)</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final — decided once while running, then never changes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var — genuinely changes as the program runs (a counter, an accumulator)</a:t>
            </a:r>
            <a:endParaRPr lang="en-US" sz="1250" dirty="0"/>
          </a:p>
        </p:txBody>
      </p:sp>
      <p:sp>
        <p:nvSpPr>
          <p:cNvPr id="12" name="Shape 10"/>
          <p:cNvSpPr/>
          <p:nvPr/>
        </p:nvSpPr>
        <p:spPr>
          <a:xfrm>
            <a:off x="6629400" y="3291840"/>
            <a:ext cx="5001768" cy="1234440"/>
          </a:xfrm>
          <a:prstGeom prst="roundRect">
            <a:avLst>
              <a:gd name="adj" fmla="val 3704"/>
            </a:avLst>
          </a:prstGeom>
          <a:solidFill>
            <a:srgbClr val="E4F1F2"/>
          </a:solidFill>
          <a:ln w="12700">
            <a:solidFill>
              <a:srgbClr val="0E9AA3"/>
            </a:solidFill>
            <a:prstDash val="solid"/>
          </a:ln>
        </p:spPr>
        <p:txBody>
          <a:bodyPr/>
          <a:lstStyle/>
          <a:p>
            <a:endParaRPr lang="en-CA"/>
          </a:p>
        </p:txBody>
      </p:sp>
      <p:sp>
        <p:nvSpPr>
          <p:cNvPr id="13" name="Text 11"/>
          <p:cNvSpPr txBox="1"/>
          <p:nvPr/>
        </p:nvSpPr>
        <p:spPr>
          <a:xfrm>
            <a:off x="6848856" y="341071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HABIT WORTH BUILDING</a:t>
            </a:r>
            <a:endParaRPr lang="en-US" sz="1050" dirty="0"/>
          </a:p>
        </p:txBody>
      </p:sp>
      <p:sp>
        <p:nvSpPr>
          <p:cNvPr id="14" name="Text 12"/>
          <p:cNvSpPr txBox="1"/>
          <p:nvPr/>
        </p:nvSpPr>
        <p:spPr>
          <a:xfrm>
            <a:off x="6848856" y="3657600"/>
            <a:ext cx="4562856" cy="75895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Start with final. Loosen to var only when the compiler forces you to. Code where most things can't change is code with fewer places for a bug to hide.</a:t>
            </a:r>
            <a:endParaRPr lang="en-US" sz="1300" dirty="0"/>
          </a:p>
        </p:txBody>
      </p:sp>
      <p:sp>
        <p:nvSpPr>
          <p:cNvPr id="15" name="Shape 13"/>
          <p:cNvSpPr/>
          <p:nvPr/>
        </p:nvSpPr>
        <p:spPr>
          <a:xfrm>
            <a:off x="6629400" y="4663440"/>
            <a:ext cx="5001768" cy="1097280"/>
          </a:xfrm>
          <a:prstGeom prst="roundRect">
            <a:avLst>
              <a:gd name="adj" fmla="val 4167"/>
            </a:avLst>
          </a:prstGeom>
          <a:solidFill>
            <a:srgbClr val="F2F6F8"/>
          </a:solidFill>
          <a:ln/>
        </p:spPr>
        <p:txBody>
          <a:bodyPr/>
          <a:lstStyle/>
          <a:p>
            <a:endParaRPr lang="en-CA"/>
          </a:p>
        </p:txBody>
      </p:sp>
      <p:sp>
        <p:nvSpPr>
          <p:cNvPr id="16" name="Text 14"/>
          <p:cNvSpPr txBox="1"/>
          <p:nvPr/>
        </p:nvSpPr>
        <p:spPr>
          <a:xfrm>
            <a:off x="6830568" y="4828032"/>
            <a:ext cx="4599432" cy="310896"/>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final vs const, in one line</a:t>
            </a:r>
            <a:endParaRPr lang="en-US" sz="1500" dirty="0"/>
          </a:p>
        </p:txBody>
      </p:sp>
      <p:sp>
        <p:nvSpPr>
          <p:cNvPr id="17" name="Text 15"/>
          <p:cNvSpPr txBox="1"/>
          <p:nvPr/>
        </p:nvSpPr>
        <p:spPr>
          <a:xfrm>
            <a:off x="6830568" y="5212080"/>
            <a:ext cx="4599432" cy="329184"/>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final = "I promise not to reassign it."</a:t>
            </a: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const = "the compiler already knows the value."</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DEMO 1 · EVERYONE TYPES THIS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Warm-up: the shape of every program we write tonight</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8</a:t>
            </a:r>
            <a:endParaRPr lang="en-US" sz="950" dirty="0"/>
          </a:p>
        </p:txBody>
      </p:sp>
      <p:sp>
        <p:nvSpPr>
          <p:cNvPr id="6" name="Shape 4"/>
          <p:cNvSpPr/>
          <p:nvPr/>
        </p:nvSpPr>
        <p:spPr>
          <a:xfrm>
            <a:off x="566928" y="1371600"/>
            <a:ext cx="6400800" cy="3611880"/>
          </a:xfrm>
          <a:prstGeom prst="roundRect">
            <a:avLst>
              <a:gd name="adj" fmla="val 1519"/>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472184"/>
            <a:ext cx="599846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bin/warmup.dart</a:t>
            </a:r>
            <a:endParaRPr lang="en-US" sz="1050" dirty="0"/>
          </a:p>
        </p:txBody>
      </p:sp>
      <p:sp>
        <p:nvSpPr>
          <p:cNvPr id="8" name="Text 6"/>
          <p:cNvSpPr txBox="1"/>
          <p:nvPr/>
        </p:nvSpPr>
        <p:spPr>
          <a:xfrm>
            <a:off x="768096" y="1773936"/>
            <a:ext cx="6035040" cy="3099816"/>
          </a:xfrm>
          <a:prstGeom prst="rect">
            <a:avLst/>
          </a:prstGeom>
          <a:noFill/>
          <a:ln/>
        </p:spPr>
        <p:txBody>
          <a:bodyPr wrap="square" lIns="0" tIns="0" rIns="0" bIns="0" rtlCol="0" anchor="t"/>
          <a:lstStyle/>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void main() {</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const courseCode = 'DMIT 2504';</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final students = 24;</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var week = 1;</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print('Welcome to $courseCode');</a:t>
            </a:r>
            <a:endParaRPr lang="en-US" sz="1300" dirty="0"/>
          </a:p>
          <a:p>
            <a:pPr marL="0" indent="0">
              <a:lnSpc>
                <a:spcPct val="106000"/>
              </a:lnSpc>
              <a:buNone/>
            </a:pPr>
            <a:r>
              <a:rPr lang="en-US" sz="1300" b="1" dirty="0">
                <a:solidFill>
                  <a:srgbClr val="C8EE7E"/>
                </a:solidFill>
                <a:latin typeface="Courier New" pitchFamily="34" charset="0"/>
                <a:ea typeface="Courier New" pitchFamily="34" charset="-122"/>
                <a:cs typeface="Courier New" pitchFamily="34" charset="-120"/>
              </a:rPr>
              <a:t>  print('Week $week · $students students enrolled');</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print('Average class size: ${students / 4}');</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a:t>
            </a:r>
            <a:endParaRPr lang="en-US" sz="1300" dirty="0"/>
          </a:p>
          <a:p>
            <a:pPr marL="0" indent="0">
              <a:lnSpc>
                <a:spcPct val="106000"/>
              </a:lnSpc>
              <a:buNone/>
            </a:pPr>
            <a:r>
              <a:rPr lang="en-US" sz="1300" i="1" dirty="0">
                <a:solidFill>
                  <a:srgbClr val="A8D65C"/>
                </a:solidFill>
                <a:latin typeface="Courier New" pitchFamily="34" charset="0"/>
                <a:ea typeface="Courier New" pitchFamily="34" charset="-122"/>
                <a:cs typeface="Courier New" pitchFamily="34" charset="-120"/>
              </a:rPr>
              <a:t>Welcome to DMIT 2504</a:t>
            </a:r>
            <a:endParaRPr lang="en-US" sz="1300" dirty="0"/>
          </a:p>
          <a:p>
            <a:pPr marL="0" indent="0">
              <a:lnSpc>
                <a:spcPct val="106000"/>
              </a:lnSpc>
              <a:buNone/>
            </a:pPr>
            <a:r>
              <a:rPr lang="en-US" sz="1300" i="1" dirty="0">
                <a:solidFill>
                  <a:srgbClr val="A8D65C"/>
                </a:solidFill>
                <a:latin typeface="Courier New" pitchFamily="34" charset="0"/>
                <a:ea typeface="Courier New" pitchFamily="34" charset="-122"/>
                <a:cs typeface="Courier New" pitchFamily="34" charset="-120"/>
              </a:rPr>
              <a:t>Week 1 · 24 students enrolled</a:t>
            </a:r>
            <a:endParaRPr lang="en-US" sz="1300" dirty="0"/>
          </a:p>
          <a:p>
            <a:pPr marL="0" indent="0">
              <a:lnSpc>
                <a:spcPct val="106000"/>
              </a:lnSpc>
              <a:buNone/>
            </a:pPr>
            <a:r>
              <a:rPr lang="en-US" sz="1300" i="1" dirty="0">
                <a:solidFill>
                  <a:srgbClr val="A8D65C"/>
                </a:solidFill>
                <a:latin typeface="Courier New" pitchFamily="34" charset="0"/>
                <a:ea typeface="Courier New" pitchFamily="34" charset="-122"/>
                <a:cs typeface="Courier New" pitchFamily="34" charset="-120"/>
              </a:rPr>
              <a:t>Average class size: 6.0</a:t>
            </a:r>
            <a:endParaRPr lang="en-US" sz="1300" dirty="0"/>
          </a:p>
        </p:txBody>
      </p:sp>
      <p:sp>
        <p:nvSpPr>
          <p:cNvPr id="9" name="Text 7"/>
          <p:cNvSpPr txBox="1"/>
          <p:nvPr/>
        </p:nvSpPr>
        <p:spPr>
          <a:xfrm>
            <a:off x="7178040" y="1417320"/>
            <a:ext cx="4453128" cy="3474720"/>
          </a:xfrm>
          <a:prstGeom prst="rect">
            <a:avLst/>
          </a:prstGeom>
          <a:noFill/>
          <a:ln/>
        </p:spPr>
        <p:txBody>
          <a:bodyPr wrap="square" lIns="0" tIns="0" rIns="0" bIns="0" rtlCol="0" anchor="t"/>
          <a:lstStyle/>
          <a:p>
            <a:pPr marL="342900" indent="-342900">
              <a:lnSpc>
                <a:spcPct val="105000"/>
              </a:lnSpc>
              <a:spcAft>
                <a:spcPts val="1100"/>
              </a:spcAft>
              <a:buSzPct val="100000"/>
              <a:buChar char="▪"/>
            </a:pPr>
            <a:r>
              <a:rPr lang="en-US" sz="1350" b="1" dirty="0">
                <a:solidFill>
                  <a:srgbClr val="16232E"/>
                </a:solidFill>
                <a:latin typeface="Calibri" pitchFamily="34" charset="0"/>
                <a:ea typeface="Calibri" pitchFamily="34" charset="-122"/>
                <a:cs typeface="Calibri" pitchFamily="34" charset="-120"/>
              </a:rPr>
              <a:t>void main() — the single entry point. No class wrapper needed.</a:t>
            </a:r>
            <a:endParaRPr lang="en-US" sz="1350" dirty="0"/>
          </a:p>
          <a:p>
            <a:pPr marL="342900" indent="-342900">
              <a:lnSpc>
                <a:spcPct val="105000"/>
              </a:lnSpc>
              <a:spcAft>
                <a:spcPts val="1100"/>
              </a:spcAft>
              <a:buSzPct val="100000"/>
              <a:buChar char="▪"/>
            </a:pPr>
            <a:r>
              <a:rPr lang="en-US" sz="1350" dirty="0">
                <a:solidFill>
                  <a:srgbClr val="16232E"/>
                </a:solidFill>
                <a:latin typeface="Calibri" pitchFamily="34" charset="0"/>
                <a:ea typeface="Calibri" pitchFamily="34" charset="-122"/>
                <a:cs typeface="Calibri" pitchFamily="34" charset="-120"/>
              </a:rPr>
              <a:t>String interpolation: $name for a bare variable…</a:t>
            </a:r>
            <a:endParaRPr lang="en-US" sz="1350" dirty="0"/>
          </a:p>
          <a:p>
            <a:pPr marL="342900" indent="-342900">
              <a:lnSpc>
                <a:spcPct val="105000"/>
              </a:lnSpc>
              <a:spcAft>
                <a:spcPts val="1100"/>
              </a:spcAft>
              <a:buSzPct val="100000"/>
              <a:buChar char="▪"/>
            </a:pPr>
            <a:r>
              <a:rPr lang="en-US" sz="1350" dirty="0">
                <a:solidFill>
                  <a:srgbClr val="16232E"/>
                </a:solidFill>
                <a:latin typeface="Calibri" pitchFamily="34" charset="0"/>
                <a:ea typeface="Calibri" pitchFamily="34" charset="-122"/>
                <a:cs typeface="Calibri" pitchFamily="34" charset="-120"/>
              </a:rPr>
              <a:t>…and ${expression} whenever you need more than a name</a:t>
            </a:r>
            <a:endParaRPr lang="en-US" sz="1350" dirty="0"/>
          </a:p>
          <a:p>
            <a:pPr marL="342900" indent="-342900">
              <a:lnSpc>
                <a:spcPct val="105000"/>
              </a:lnSpc>
              <a:spcAft>
                <a:spcPts val="1100"/>
              </a:spcAft>
              <a:buSzPct val="100000"/>
              <a:buChar char="▪"/>
            </a:pPr>
            <a:r>
              <a:rPr lang="en-US" sz="1350" dirty="0">
                <a:solidFill>
                  <a:srgbClr val="16232E"/>
                </a:solidFill>
                <a:latin typeface="Calibri" pitchFamily="34" charset="0"/>
                <a:ea typeface="Calibri" pitchFamily="34" charset="-122"/>
                <a:cs typeface="Calibri" pitchFamily="34" charset="-120"/>
              </a:rPr>
              <a:t>print() writes a line to stdout — your debugger for the next hour</a:t>
            </a:r>
            <a:endParaRPr lang="en-US" sz="1350" dirty="0"/>
          </a:p>
          <a:p>
            <a:pPr marL="342900" indent="-342900">
              <a:lnSpc>
                <a:spcPct val="105000"/>
              </a:lnSpc>
              <a:spcAft>
                <a:spcPts val="1100"/>
              </a:spcAft>
              <a:buSzPct val="100000"/>
              <a:buChar char="▪"/>
            </a:pPr>
            <a:r>
              <a:rPr lang="en-US" sz="1350" b="1" dirty="0">
                <a:solidFill>
                  <a:srgbClr val="16232E"/>
                </a:solidFill>
                <a:latin typeface="Calibri" pitchFamily="34" charset="0"/>
                <a:ea typeface="Calibri" pitchFamily="34" charset="-122"/>
                <a:cs typeface="Calibri" pitchFamily="34" charset="-120"/>
              </a:rPr>
              <a:t>Notice 24 / 4 printed 6.0, not 6 — / always gives a double. Use ~/ for integer division.</a:t>
            </a:r>
            <a:endParaRPr lang="en-US" sz="1350" dirty="0"/>
          </a:p>
        </p:txBody>
      </p:sp>
      <p:sp>
        <p:nvSpPr>
          <p:cNvPr id="10" name="Shape 8"/>
          <p:cNvSpPr/>
          <p:nvPr/>
        </p:nvSpPr>
        <p:spPr>
          <a:xfrm>
            <a:off x="566928" y="5120640"/>
            <a:ext cx="11064240" cy="777240"/>
          </a:xfrm>
          <a:prstGeom prst="roundRect">
            <a:avLst>
              <a:gd name="adj" fmla="val 5882"/>
            </a:avLst>
          </a:prstGeom>
          <a:solidFill>
            <a:srgbClr val="E4F1F2"/>
          </a:solidFill>
          <a:ln w="12700">
            <a:solidFill>
              <a:srgbClr val="0E9AA3"/>
            </a:solidFill>
            <a:prstDash val="solid"/>
          </a:ln>
        </p:spPr>
        <p:txBody>
          <a:bodyPr/>
          <a:lstStyle/>
          <a:p>
            <a:endParaRPr lang="en-CA"/>
          </a:p>
        </p:txBody>
      </p:sp>
      <p:sp>
        <p:nvSpPr>
          <p:cNvPr id="11" name="Text 9"/>
          <p:cNvSpPr txBox="1"/>
          <p:nvPr/>
        </p:nvSpPr>
        <p:spPr>
          <a:xfrm>
            <a:off x="786384" y="523951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RUN IT</a:t>
            </a:r>
            <a:endParaRPr lang="en-US" sz="1050" dirty="0"/>
          </a:p>
        </p:txBody>
      </p:sp>
      <p:sp>
        <p:nvSpPr>
          <p:cNvPr id="12" name="Text 10"/>
          <p:cNvSpPr txBox="1"/>
          <p:nvPr/>
        </p:nvSpPr>
        <p:spPr>
          <a:xfrm>
            <a:off x="786384" y="5486400"/>
            <a:ext cx="10625328" cy="30175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dart run bin/warmup.dart   —   change a value, save, run again. That loop is the whole workflow tonight.</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0120" y="2084832"/>
            <a:ext cx="1371600" cy="1371600"/>
          </a:xfrm>
          <a:prstGeom prst="ellipse">
            <a:avLst/>
          </a:prstGeom>
          <a:solidFill>
            <a:srgbClr val="00767F"/>
          </a:solidFill>
          <a:ln w="19050">
            <a:solidFill>
              <a:srgbClr val="A8D65C"/>
            </a:solidFill>
            <a:prstDash val="solid"/>
          </a:ln>
        </p:spPr>
        <p:txBody>
          <a:bodyPr/>
          <a:lstStyle/>
          <a:p>
            <a:endParaRPr lang="en-CA"/>
          </a:p>
        </p:txBody>
      </p:sp>
      <p:sp>
        <p:nvSpPr>
          <p:cNvPr id="3" name="Text 1"/>
          <p:cNvSpPr txBox="1"/>
          <p:nvPr/>
        </p:nvSpPr>
        <p:spPr>
          <a:xfrm>
            <a:off x="960120" y="2084832"/>
            <a:ext cx="13716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2</a:t>
            </a:r>
            <a:endParaRPr lang="en-US" sz="4000" dirty="0"/>
          </a:p>
        </p:txBody>
      </p:sp>
      <p:sp>
        <p:nvSpPr>
          <p:cNvPr id="4" name="Text 2"/>
          <p:cNvSpPr txBox="1"/>
          <p:nvPr/>
        </p:nvSpPr>
        <p:spPr>
          <a:xfrm>
            <a:off x="2743200" y="1993392"/>
            <a:ext cx="859536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Functions</a:t>
            </a:r>
            <a:endParaRPr lang="en-US" sz="4000" dirty="0"/>
          </a:p>
        </p:txBody>
      </p:sp>
      <p:sp>
        <p:nvSpPr>
          <p:cNvPr id="5" name="Text 3"/>
          <p:cNvSpPr txBox="1"/>
          <p:nvPr/>
        </p:nvSpPr>
        <p:spPr>
          <a:xfrm>
            <a:off x="2788920" y="2788920"/>
            <a:ext cx="81381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Somewhere to put your logic — and four different ways to feed it.</a:t>
            </a:r>
            <a:endParaRPr lang="en-US" sz="1600" dirty="0"/>
          </a:p>
        </p:txBody>
      </p:sp>
      <p:sp>
        <p:nvSpPr>
          <p:cNvPr id="6" name="Text 4"/>
          <p:cNvSpPr txBox="1"/>
          <p:nvPr/>
        </p:nvSpPr>
        <p:spPr>
          <a:xfrm>
            <a:off x="2788920" y="3703320"/>
            <a:ext cx="8138160" cy="13716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Anatomy: return type, name, parameters, body</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Arrow syntax for one-expression functions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Positional · optional positional · named · required named · defaults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Functions as values: passing behaviour around</a:t>
            </a:r>
            <a:endParaRPr lang="en-US" sz="1450" dirty="0"/>
          </a:p>
        </p:txBody>
      </p:sp>
      <p:sp>
        <p:nvSpPr>
          <p:cNvPr id="7" name="Text 5"/>
          <p:cNvSpPr txBox="1"/>
          <p:nvPr/>
        </p:nvSpPr>
        <p:spPr>
          <a:xfrm>
            <a:off x="960120" y="3749040"/>
            <a:ext cx="1463040" cy="320040"/>
          </a:xfrm>
          <a:prstGeom prst="rect">
            <a:avLst/>
          </a:prstGeom>
          <a:noFill/>
          <a:ln/>
        </p:spPr>
        <p:txBody>
          <a:bodyPr wrap="square" lIns="0" tIns="0" rIns="0" bIns="0" rtlCol="0" anchor="ctr"/>
          <a:lstStyle/>
          <a:p>
            <a:pPr marL="0" indent="0" algn="ctr">
              <a:buNone/>
            </a:pPr>
            <a:r>
              <a:rPr lang="en-US" sz="1200" b="1" dirty="0">
                <a:solidFill>
                  <a:srgbClr val="A8D65C"/>
                </a:solidFill>
                <a:latin typeface="Calibri" pitchFamily="34" charset="0"/>
                <a:ea typeface="Calibri" pitchFamily="34" charset="-122"/>
                <a:cs typeface="Calibri" pitchFamily="34" charset="-120"/>
              </a:rPr>
              <a:t>25 min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ANATOMY</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Every function has the same four parts</a:t>
            </a:r>
            <a:endParaRPr lang="en-US" sz="3200" dirty="0"/>
          </a:p>
        </p:txBody>
      </p:sp>
      <p:sp>
        <p:nvSpPr>
          <p:cNvPr id="4" name="Text 2"/>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0:20 – 0:45</a:t>
            </a:r>
            <a:endParaRPr lang="en-US" sz="110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10</a:t>
            </a:r>
            <a:endParaRPr lang="en-US" sz="950" dirty="0"/>
          </a:p>
        </p:txBody>
      </p:sp>
      <p:sp>
        <p:nvSpPr>
          <p:cNvPr id="7" name="Shape 5"/>
          <p:cNvSpPr/>
          <p:nvPr/>
        </p:nvSpPr>
        <p:spPr>
          <a:xfrm>
            <a:off x="566928" y="1371600"/>
            <a:ext cx="6492240" cy="2286000"/>
          </a:xfrm>
          <a:prstGeom prst="roundRect">
            <a:avLst>
              <a:gd name="adj" fmla="val 24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472184"/>
            <a:ext cx="6089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ANATOMY</a:t>
            </a:r>
            <a:endParaRPr lang="en-US" sz="1050" dirty="0"/>
          </a:p>
        </p:txBody>
      </p:sp>
      <p:sp>
        <p:nvSpPr>
          <p:cNvPr id="9" name="Text 7"/>
          <p:cNvSpPr txBox="1"/>
          <p:nvPr/>
        </p:nvSpPr>
        <p:spPr>
          <a:xfrm>
            <a:off x="768096" y="1773936"/>
            <a:ext cx="6126480" cy="1773936"/>
          </a:xfrm>
          <a:prstGeom prst="rect">
            <a:avLst/>
          </a:prstGeom>
          <a:noFill/>
          <a:ln/>
        </p:spPr>
        <p:txBody>
          <a:bodyPr wrap="square" lIns="0" tIns="0" rIns="0" bIns="0" rtlCol="0" anchor="t"/>
          <a:lstStyle/>
          <a:p>
            <a:pPr marL="0" indent="0">
              <a:lnSpc>
                <a:spcPct val="106000"/>
              </a:lnSpc>
              <a:buNone/>
            </a:pPr>
            <a:r>
              <a:rPr lang="en-US" sz="1400" dirty="0">
                <a:solidFill>
                  <a:srgbClr val="EAF2F7"/>
                </a:solidFill>
                <a:latin typeface="Courier New" pitchFamily="34" charset="0"/>
                <a:ea typeface="Courier New" pitchFamily="34" charset="-122"/>
                <a:cs typeface="Courier New" pitchFamily="34" charset="-120"/>
              </a:rPr>
              <a:t>int    addTax(double price, double rate) {</a:t>
            </a:r>
            <a:endParaRPr lang="en-US" sz="1400" dirty="0"/>
          </a:p>
          <a:p>
            <a:pPr marL="0" indent="0">
              <a:lnSpc>
                <a:spcPct val="106000"/>
              </a:lnSpc>
              <a:buNone/>
            </a:pPr>
            <a:r>
              <a:rPr lang="en-US" sz="1400" i="1" dirty="0">
                <a:solidFill>
                  <a:srgbClr val="7FA6BD"/>
                </a:solidFill>
                <a:latin typeface="Courier New" pitchFamily="34" charset="0"/>
                <a:ea typeface="Courier New" pitchFamily="34" charset="-122"/>
                <a:cs typeface="Courier New" pitchFamily="34" charset="-120"/>
              </a:rPr>
              <a:t>//^      ^        ^-------------^</a:t>
            </a:r>
            <a:endParaRPr lang="en-US" sz="1400" dirty="0"/>
          </a:p>
          <a:p>
            <a:pPr marL="0" indent="0">
              <a:lnSpc>
                <a:spcPct val="106000"/>
              </a:lnSpc>
              <a:buNone/>
            </a:pPr>
            <a:r>
              <a:rPr lang="en-US" sz="1400" i="1" dirty="0">
                <a:solidFill>
                  <a:srgbClr val="7FA6BD"/>
                </a:solidFill>
                <a:latin typeface="Courier New" pitchFamily="34" charset="0"/>
                <a:ea typeface="Courier New" pitchFamily="34" charset="-122"/>
                <a:cs typeface="Courier New" pitchFamily="34" charset="-120"/>
              </a:rPr>
              <a:t>// |      |             |</a:t>
            </a:r>
            <a:endParaRPr lang="en-US" sz="1400" dirty="0"/>
          </a:p>
          <a:p>
            <a:pPr marL="0" indent="0">
              <a:lnSpc>
                <a:spcPct val="106000"/>
              </a:lnSpc>
              <a:buNone/>
            </a:pPr>
            <a:r>
              <a:rPr lang="en-US" sz="1400" i="1" dirty="0">
                <a:solidFill>
                  <a:srgbClr val="7FA6BD"/>
                </a:solidFill>
                <a:latin typeface="Courier New" pitchFamily="34" charset="0"/>
                <a:ea typeface="Courier New" pitchFamily="34" charset="-122"/>
                <a:cs typeface="Courier New" pitchFamily="34" charset="-120"/>
              </a:rPr>
              <a:t>// return name       parameters</a:t>
            </a:r>
            <a:endParaRPr lang="en-US" sz="1400" dirty="0"/>
          </a:p>
          <a:p>
            <a:pPr marL="0" indent="0">
              <a:lnSpc>
                <a:spcPct val="106000"/>
              </a:lnSpc>
              <a:buNone/>
            </a:pPr>
            <a:r>
              <a:rPr lang="en-US" sz="1400" dirty="0">
                <a:solidFill>
                  <a:srgbClr val="EAF2F7"/>
                </a:solidFill>
                <a:latin typeface="Courier New" pitchFamily="34" charset="0"/>
                <a:ea typeface="Courier New" pitchFamily="34" charset="-122"/>
                <a:cs typeface="Courier New" pitchFamily="34" charset="-120"/>
              </a:rPr>
              <a:t>  return (price * (1 + rate)).round();</a:t>
            </a:r>
            <a:endParaRPr lang="en-US" sz="1400" dirty="0"/>
          </a:p>
          <a:p>
            <a:pPr marL="0" indent="0">
              <a:lnSpc>
                <a:spcPct val="106000"/>
              </a:lnSpc>
              <a:buNone/>
            </a:pPr>
            <a:r>
              <a:rPr lang="en-US" sz="1400" i="1" dirty="0">
                <a:solidFill>
                  <a:srgbClr val="7FA6BD"/>
                </a:solidFill>
                <a:latin typeface="Courier New" pitchFamily="34" charset="0"/>
                <a:ea typeface="Courier New" pitchFamily="34" charset="-122"/>
                <a:cs typeface="Courier New" pitchFamily="34" charset="-120"/>
              </a:rPr>
              <a:t>//^-- the body: does the work, hands back a value</a:t>
            </a:r>
            <a:endParaRPr lang="en-US" sz="1400" dirty="0"/>
          </a:p>
          <a:p>
            <a:pPr marL="0" indent="0">
              <a:lnSpc>
                <a:spcPct val="106000"/>
              </a:lnSpc>
              <a:buNone/>
            </a:pPr>
            <a:r>
              <a:rPr lang="en-US" sz="1400" dirty="0">
                <a:solidFill>
                  <a:srgbClr val="EAF2F7"/>
                </a:solidFill>
                <a:latin typeface="Courier New" pitchFamily="34" charset="0"/>
                <a:ea typeface="Courier New" pitchFamily="34" charset="-122"/>
                <a:cs typeface="Courier New" pitchFamily="34" charset="-120"/>
              </a:rPr>
              <a:t>}</a:t>
            </a:r>
            <a:endParaRPr lang="en-US" sz="1400" dirty="0"/>
          </a:p>
        </p:txBody>
      </p:sp>
      <p:sp>
        <p:nvSpPr>
          <p:cNvPr id="10" name="Text 8"/>
          <p:cNvSpPr txBox="1"/>
          <p:nvPr/>
        </p:nvSpPr>
        <p:spPr>
          <a:xfrm>
            <a:off x="7360920" y="1371600"/>
            <a:ext cx="4270248" cy="237744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350" b="1" dirty="0">
                <a:solidFill>
                  <a:srgbClr val="16232E"/>
                </a:solidFill>
                <a:latin typeface="Calibri" pitchFamily="34" charset="0"/>
                <a:ea typeface="Calibri" pitchFamily="34" charset="-122"/>
                <a:cs typeface="Calibri" pitchFamily="34" charset="-120"/>
              </a:rPr>
              <a:t>Return type first</a:t>
            </a:r>
            <a:endParaRPr lang="en-US" sz="1350" dirty="0"/>
          </a:p>
          <a:p>
            <a:pPr marL="457200" lvl="1" indent="-228600">
              <a:lnSpc>
                <a:spcPct val="105000"/>
              </a:lnSpc>
              <a:spcAft>
                <a:spcPts val="400"/>
              </a:spcAft>
              <a:buSzPct val="100000"/>
              <a:buChar char="•"/>
            </a:pPr>
            <a:r>
              <a:rPr lang="en-US" sz="1200" dirty="0">
                <a:solidFill>
                  <a:srgbClr val="5B7183"/>
                </a:solidFill>
                <a:latin typeface="Calibri" pitchFamily="34" charset="0"/>
                <a:ea typeface="Calibri" pitchFamily="34" charset="-122"/>
                <a:cs typeface="Calibri" pitchFamily="34" charset="-120"/>
              </a:rPr>
              <a:t>What kind of value comes back out. Use void when nothing does.</a:t>
            </a:r>
            <a:endParaRPr lang="en-US" sz="1350" dirty="0"/>
          </a:p>
          <a:p>
            <a:pPr marL="342900" indent="-342900">
              <a:lnSpc>
                <a:spcPct val="105000"/>
              </a:lnSpc>
              <a:spcAft>
                <a:spcPts val="400"/>
              </a:spcAft>
              <a:buSzPct val="100000"/>
              <a:buChar char="▪"/>
            </a:pPr>
            <a:r>
              <a:rPr lang="en-US" sz="1350" b="1" dirty="0">
                <a:solidFill>
                  <a:srgbClr val="16232E"/>
                </a:solidFill>
                <a:latin typeface="Calibri" pitchFamily="34" charset="0"/>
                <a:ea typeface="Calibri" pitchFamily="34" charset="-122"/>
                <a:cs typeface="Calibri" pitchFamily="34" charset="-120"/>
              </a:rPr>
              <a:t>Name in lowerCamelCase</a:t>
            </a:r>
            <a:endParaRPr lang="en-US" sz="1350" dirty="0"/>
          </a:p>
          <a:p>
            <a:pPr marL="457200" lvl="1" indent="-228600">
              <a:lnSpc>
                <a:spcPct val="105000"/>
              </a:lnSpc>
              <a:spcAft>
                <a:spcPts val="400"/>
              </a:spcAft>
              <a:buSzPct val="100000"/>
              <a:buChar char="•"/>
            </a:pPr>
            <a:r>
              <a:rPr lang="en-US" sz="1200" dirty="0">
                <a:solidFill>
                  <a:srgbClr val="5B7183"/>
                </a:solidFill>
                <a:latin typeface="Calibri" pitchFamily="34" charset="0"/>
                <a:ea typeface="Calibri" pitchFamily="34" charset="-122"/>
                <a:cs typeface="Calibri" pitchFamily="34" charset="-120"/>
              </a:rPr>
              <a:t>A verb phrase: calculateTotal, not totalCalculator.</a:t>
            </a:r>
            <a:endParaRPr lang="en-US" sz="1350" dirty="0"/>
          </a:p>
          <a:p>
            <a:pPr marL="342900" indent="-342900">
              <a:lnSpc>
                <a:spcPct val="105000"/>
              </a:lnSpc>
              <a:spcAft>
                <a:spcPts val="400"/>
              </a:spcAft>
              <a:buSzPct val="100000"/>
              <a:buChar char="▪"/>
            </a:pPr>
            <a:r>
              <a:rPr lang="en-US" sz="1350" b="1" dirty="0">
                <a:solidFill>
                  <a:srgbClr val="16232E"/>
                </a:solidFill>
                <a:latin typeface="Calibri" pitchFamily="34" charset="0"/>
                <a:ea typeface="Calibri" pitchFamily="34" charset="-122"/>
                <a:cs typeface="Calibri" pitchFamily="34" charset="-120"/>
              </a:rPr>
              <a:t>Parameters — the inputs</a:t>
            </a:r>
            <a:endParaRPr lang="en-US" sz="1350" dirty="0"/>
          </a:p>
          <a:p>
            <a:pPr marL="457200" lvl="1" indent="-228600">
              <a:lnSpc>
                <a:spcPct val="105000"/>
              </a:lnSpc>
              <a:spcAft>
                <a:spcPts val="400"/>
              </a:spcAft>
              <a:buSzPct val="100000"/>
              <a:buChar char="•"/>
            </a:pPr>
            <a:r>
              <a:rPr lang="en-US" sz="1200" dirty="0">
                <a:solidFill>
                  <a:srgbClr val="5B7183"/>
                </a:solidFill>
                <a:latin typeface="Calibri" pitchFamily="34" charset="0"/>
                <a:ea typeface="Calibri" pitchFamily="34" charset="-122"/>
                <a:cs typeface="Calibri" pitchFamily="34" charset="-120"/>
              </a:rPr>
              <a:t>Each needs a type. This is where the four styles come in.</a:t>
            </a:r>
            <a:endParaRPr lang="en-US" sz="1350" dirty="0"/>
          </a:p>
          <a:p>
            <a:pPr marL="342900" indent="-342900">
              <a:lnSpc>
                <a:spcPct val="105000"/>
              </a:lnSpc>
              <a:spcAft>
                <a:spcPts val="400"/>
              </a:spcAft>
              <a:buSzPct val="100000"/>
              <a:buChar char="▪"/>
            </a:pPr>
            <a:r>
              <a:rPr lang="en-US" sz="1350" b="1" dirty="0">
                <a:solidFill>
                  <a:srgbClr val="16232E"/>
                </a:solidFill>
                <a:latin typeface="Calibri" pitchFamily="34" charset="0"/>
                <a:ea typeface="Calibri" pitchFamily="34" charset="-122"/>
                <a:cs typeface="Calibri" pitchFamily="34" charset="-120"/>
              </a:rPr>
              <a:t>Body — the work</a:t>
            </a:r>
            <a:endParaRPr lang="en-US" sz="1350" dirty="0"/>
          </a:p>
          <a:p>
            <a:pPr marL="457200" lvl="1" indent="-228600">
              <a:lnSpc>
                <a:spcPct val="105000"/>
              </a:lnSpc>
              <a:spcAft>
                <a:spcPts val="400"/>
              </a:spcAft>
              <a:buSzPct val="100000"/>
              <a:buChar char="•"/>
            </a:pPr>
            <a:r>
              <a:rPr lang="en-US" sz="1200" dirty="0">
                <a:solidFill>
                  <a:srgbClr val="5B7183"/>
                </a:solidFill>
                <a:latin typeface="Calibri" pitchFamily="34" charset="0"/>
                <a:ea typeface="Calibri" pitchFamily="34" charset="-122"/>
                <a:cs typeface="Calibri" pitchFamily="34" charset="-120"/>
              </a:rPr>
              <a:t>return hands a value back and exits immediately.</a:t>
            </a:r>
            <a:endParaRPr lang="en-US" sz="1350" dirty="0"/>
          </a:p>
        </p:txBody>
      </p:sp>
      <p:sp>
        <p:nvSpPr>
          <p:cNvPr id="11" name="Shape 9"/>
          <p:cNvSpPr/>
          <p:nvPr/>
        </p:nvSpPr>
        <p:spPr>
          <a:xfrm>
            <a:off x="566928" y="3822192"/>
            <a:ext cx="5440680" cy="2011680"/>
          </a:xfrm>
          <a:prstGeom prst="roundRect">
            <a:avLst>
              <a:gd name="adj" fmla="val 2273"/>
            </a:avLst>
          </a:prstGeom>
          <a:solidFill>
            <a:srgbClr val="F2F6F8"/>
          </a:solidFill>
          <a:ln/>
        </p:spPr>
        <p:txBody>
          <a:bodyPr/>
          <a:lstStyle/>
          <a:p>
            <a:endParaRPr lang="en-CA"/>
          </a:p>
        </p:txBody>
      </p:sp>
      <p:sp>
        <p:nvSpPr>
          <p:cNvPr id="12" name="Text 10"/>
          <p:cNvSpPr txBox="1"/>
          <p:nvPr/>
        </p:nvSpPr>
        <p:spPr>
          <a:xfrm>
            <a:off x="768096" y="3986784"/>
            <a:ext cx="5038344"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One job per function</a:t>
            </a:r>
            <a:endParaRPr lang="en-US" sz="1600" dirty="0"/>
          </a:p>
        </p:txBody>
      </p:sp>
      <p:sp>
        <p:nvSpPr>
          <p:cNvPr id="13" name="Text 11"/>
          <p:cNvSpPr txBox="1"/>
          <p:nvPr/>
        </p:nvSpPr>
        <p:spPr>
          <a:xfrm>
            <a:off x="786384" y="4407408"/>
            <a:ext cx="5001768" cy="122529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If you need the word "and" to describe what it does, it's two functions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A function that prints AND calculates is hard to test — split them</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Small functions are the unit Flutter builds on: build(), initState(), onPressed</a:t>
            </a:r>
            <a:endParaRPr lang="en-US" sz="1250" dirty="0"/>
          </a:p>
        </p:txBody>
      </p:sp>
      <p:sp>
        <p:nvSpPr>
          <p:cNvPr id="14" name="Shape 12"/>
          <p:cNvSpPr/>
          <p:nvPr/>
        </p:nvSpPr>
        <p:spPr>
          <a:xfrm>
            <a:off x="6190488" y="3822192"/>
            <a:ext cx="5440680" cy="2011680"/>
          </a:xfrm>
          <a:prstGeom prst="roundRect">
            <a:avLst>
              <a:gd name="adj" fmla="val 272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5" name="Text 13"/>
          <p:cNvSpPr txBox="1"/>
          <p:nvPr/>
        </p:nvSpPr>
        <p:spPr>
          <a:xfrm>
            <a:off x="6391656" y="3922776"/>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VOID MEANS "NOTHING COMES BACK"</a:t>
            </a:r>
            <a:endParaRPr lang="en-US" sz="1050" dirty="0"/>
          </a:p>
        </p:txBody>
      </p:sp>
      <p:sp>
        <p:nvSpPr>
          <p:cNvPr id="16" name="Text 14"/>
          <p:cNvSpPr txBox="1"/>
          <p:nvPr/>
        </p:nvSpPr>
        <p:spPr>
          <a:xfrm>
            <a:off x="6391656" y="4224528"/>
            <a:ext cx="5074920" cy="1499616"/>
          </a:xfrm>
          <a:prstGeom prst="rect">
            <a:avLst/>
          </a:prstGeom>
          <a:noFill/>
          <a:ln/>
        </p:spPr>
        <p:txBody>
          <a:bodyPr wrap="square" lIns="0" tIns="0" rIns="0" bIns="0" rtlCol="0" anchor="t"/>
          <a:lstStyle/>
          <a:p>
            <a:pPr marL="0" indent="0">
              <a:lnSpc>
                <a:spcPct val="106000"/>
              </a:lnSpc>
              <a:buNone/>
            </a:pPr>
            <a:r>
              <a:rPr lang="en-US" sz="1270" dirty="0">
                <a:solidFill>
                  <a:srgbClr val="EAF2F7"/>
                </a:solidFill>
                <a:latin typeface="Courier New" pitchFamily="34" charset="0"/>
                <a:ea typeface="Courier New" pitchFamily="34" charset="-122"/>
                <a:cs typeface="Courier New" pitchFamily="34" charset="-120"/>
              </a:rPr>
              <a:t>void greet(String name) {</a:t>
            </a:r>
            <a:endParaRPr lang="en-US" sz="1270" dirty="0"/>
          </a:p>
          <a:p>
            <a:pPr marL="0" indent="0">
              <a:lnSpc>
                <a:spcPct val="106000"/>
              </a:lnSpc>
              <a:buNone/>
            </a:pPr>
            <a:r>
              <a:rPr lang="en-US" sz="1270" dirty="0">
                <a:solidFill>
                  <a:srgbClr val="EAF2F7"/>
                </a:solidFill>
                <a:latin typeface="Courier New" pitchFamily="34" charset="0"/>
                <a:ea typeface="Courier New" pitchFamily="34" charset="-122"/>
                <a:cs typeface="Courier New" pitchFamily="34" charset="-120"/>
              </a:rPr>
              <a:t>  print('Hi, $name');</a:t>
            </a:r>
            <a:endParaRPr lang="en-US" sz="1270" dirty="0"/>
          </a:p>
          <a:p>
            <a:pPr marL="0" indent="0">
              <a:lnSpc>
                <a:spcPct val="106000"/>
              </a:lnSpc>
              <a:buNone/>
            </a:pPr>
            <a:r>
              <a:rPr lang="en-US" sz="1270" b="1" dirty="0">
                <a:solidFill>
                  <a:srgbClr val="C8EE7E"/>
                </a:solidFill>
                <a:latin typeface="Courier New" pitchFamily="34" charset="0"/>
                <a:ea typeface="Courier New" pitchFamily="34" charset="-122"/>
                <a:cs typeface="Courier New" pitchFamily="34" charset="-120"/>
              </a:rPr>
              <a:t>  // no return statement needed</a:t>
            </a:r>
            <a:endParaRPr lang="en-US" sz="1270" dirty="0"/>
          </a:p>
          <a:p>
            <a:pPr marL="0" indent="0">
              <a:lnSpc>
                <a:spcPct val="106000"/>
              </a:lnSpc>
              <a:buNone/>
            </a:pPr>
            <a:r>
              <a:rPr lang="en-US" sz="1270" dirty="0">
                <a:solidFill>
                  <a:srgbClr val="EAF2F7"/>
                </a:solidFill>
                <a:latin typeface="Courier New" pitchFamily="34" charset="0"/>
                <a:ea typeface="Courier New" pitchFamily="34" charset="-122"/>
                <a:cs typeface="Courier New" pitchFamily="34" charset="-120"/>
              </a:rPr>
              <a:t>}</a:t>
            </a:r>
            <a:endParaRPr lang="en-US" sz="1270" dirty="0"/>
          </a:p>
          <a:p>
            <a:pPr marL="0" indent="0">
              <a:lnSpc>
                <a:spcPct val="106000"/>
              </a:lnSpc>
              <a:buNone/>
            </a:pPr>
            <a:r>
              <a:rPr lang="en-US" sz="1270" dirty="0">
                <a:solidFill>
                  <a:srgbClr val="EAF2F7"/>
                </a:solidFill>
                <a:latin typeface="Courier New" pitchFamily="34" charset="0"/>
                <a:ea typeface="Courier New" pitchFamily="34" charset="-122"/>
                <a:cs typeface="Courier New" pitchFamily="34" charset="-120"/>
              </a:rPr>
              <a:t> </a:t>
            </a:r>
            <a:endParaRPr lang="en-US" sz="1270" dirty="0"/>
          </a:p>
          <a:p>
            <a:pPr marL="0" indent="0">
              <a:lnSpc>
                <a:spcPct val="106000"/>
              </a:lnSpc>
              <a:buNone/>
            </a:pPr>
            <a:r>
              <a:rPr lang="en-US" sz="1270" i="1" dirty="0">
                <a:solidFill>
                  <a:srgbClr val="7FA6BD"/>
                </a:solidFill>
                <a:latin typeface="Courier New" pitchFamily="34" charset="0"/>
                <a:ea typeface="Courier New" pitchFamily="34" charset="-122"/>
                <a:cs typeface="Courier New" pitchFamily="34" charset="-120"/>
              </a:rPr>
              <a:t>// void does NOT mean 'does nothing' —</a:t>
            </a:r>
            <a:endParaRPr lang="en-US" sz="1270" dirty="0"/>
          </a:p>
          <a:p>
            <a:pPr marL="0" indent="0">
              <a:lnSpc>
                <a:spcPct val="106000"/>
              </a:lnSpc>
              <a:buNone/>
            </a:pPr>
            <a:r>
              <a:rPr lang="en-US" sz="1270" i="1" dirty="0">
                <a:solidFill>
                  <a:srgbClr val="7FA6BD"/>
                </a:solidFill>
                <a:latin typeface="Courier New" pitchFamily="34" charset="0"/>
                <a:ea typeface="Courier New" pitchFamily="34" charset="-122"/>
                <a:cs typeface="Courier New" pitchFamily="34" charset="-120"/>
              </a:rPr>
              <a:t>// it means 'hands nothing back to me'.</a:t>
            </a:r>
            <a:endParaRPr lang="en-US" sz="127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SHORTHAND</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Arrow syntax: one expression, no braces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You will see this constantly in Flutter callbacks, so learn to read it now.</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11</a:t>
            </a:r>
            <a:endParaRPr lang="en-US" sz="950" dirty="0"/>
          </a:p>
        </p:txBody>
      </p:sp>
      <p:sp>
        <p:nvSpPr>
          <p:cNvPr id="7" name="Shape 5"/>
          <p:cNvSpPr/>
          <p:nvPr/>
        </p:nvSpPr>
        <p:spPr>
          <a:xfrm>
            <a:off x="566928" y="1828800"/>
            <a:ext cx="5440680" cy="2286000"/>
          </a:xfrm>
          <a:prstGeom prst="roundRect">
            <a:avLst>
              <a:gd name="adj" fmla="val 24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LONG WAY</a:t>
            </a:r>
            <a:endParaRPr lang="en-US" sz="1050" dirty="0"/>
          </a:p>
        </p:txBody>
      </p:sp>
      <p:sp>
        <p:nvSpPr>
          <p:cNvPr id="9" name="Text 7"/>
          <p:cNvSpPr txBox="1"/>
          <p:nvPr/>
        </p:nvSpPr>
        <p:spPr>
          <a:xfrm>
            <a:off x="768096" y="2231136"/>
            <a:ext cx="5074920" cy="1773936"/>
          </a:xfrm>
          <a:prstGeom prst="rect">
            <a:avLst/>
          </a:prstGeom>
          <a:noFill/>
          <a:ln/>
        </p:spPr>
        <p:txBody>
          <a:bodyPr wrap="square" lIns="0" tIns="0" rIns="0" bIns="0" rtlCol="0" anchor="t"/>
          <a:lstStyle/>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double areaOf(double w, double h) {</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  return w * h;</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 </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bool isPassing(int mark) {</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  return mark &gt;= 50;</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a:t>
            </a:r>
            <a:endParaRPr lang="en-US" sz="1350" dirty="0"/>
          </a:p>
        </p:txBody>
      </p:sp>
      <p:sp>
        <p:nvSpPr>
          <p:cNvPr id="10" name="Shape 8"/>
          <p:cNvSpPr/>
          <p:nvPr/>
        </p:nvSpPr>
        <p:spPr>
          <a:xfrm>
            <a:off x="6190488" y="1828800"/>
            <a:ext cx="5440680" cy="2286000"/>
          </a:xfrm>
          <a:prstGeom prst="roundRect">
            <a:avLst>
              <a:gd name="adj" fmla="val 24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6391656" y="1929384"/>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SAME THING, WITH =&gt;</a:t>
            </a:r>
            <a:endParaRPr lang="en-US" sz="1050" dirty="0"/>
          </a:p>
        </p:txBody>
      </p:sp>
      <p:sp>
        <p:nvSpPr>
          <p:cNvPr id="12" name="Text 10"/>
          <p:cNvSpPr txBox="1"/>
          <p:nvPr/>
        </p:nvSpPr>
        <p:spPr>
          <a:xfrm>
            <a:off x="6391656" y="2231136"/>
            <a:ext cx="5074920" cy="1773936"/>
          </a:xfrm>
          <a:prstGeom prst="rect">
            <a:avLst/>
          </a:prstGeom>
          <a:noFill/>
          <a:ln/>
        </p:spPr>
        <p:txBody>
          <a:bodyPr wrap="square" lIns="0" tIns="0" rIns="0" bIns="0" rtlCol="0" anchor="t"/>
          <a:lstStyle/>
          <a:p>
            <a:pPr marL="0" indent="0">
              <a:lnSpc>
                <a:spcPct val="106000"/>
              </a:lnSpc>
              <a:buNone/>
            </a:pPr>
            <a:r>
              <a:rPr lang="en-US" sz="1350" b="1" dirty="0">
                <a:solidFill>
                  <a:srgbClr val="C8EE7E"/>
                </a:solidFill>
                <a:latin typeface="Courier New" pitchFamily="34" charset="0"/>
                <a:ea typeface="Courier New" pitchFamily="34" charset="-122"/>
                <a:cs typeface="Courier New" pitchFamily="34" charset="-120"/>
              </a:rPr>
              <a:t>double areaOf(double w, double h) =&gt; w * h;</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 </a:t>
            </a:r>
            <a:endParaRPr lang="en-US" sz="1350" dirty="0"/>
          </a:p>
          <a:p>
            <a:pPr marL="0" indent="0">
              <a:lnSpc>
                <a:spcPct val="106000"/>
              </a:lnSpc>
              <a:buNone/>
            </a:pPr>
            <a:r>
              <a:rPr lang="en-US" sz="1350" b="1" dirty="0">
                <a:solidFill>
                  <a:srgbClr val="C8EE7E"/>
                </a:solidFill>
                <a:latin typeface="Courier New" pitchFamily="34" charset="0"/>
                <a:ea typeface="Courier New" pitchFamily="34" charset="-122"/>
                <a:cs typeface="Courier New" pitchFamily="34" charset="-120"/>
              </a:rPr>
              <a:t>bool isPassing(int mark) =&gt; mark &gt;= 50;</a:t>
            </a:r>
            <a:endParaRPr lang="en-US" sz="1350" dirty="0"/>
          </a:p>
          <a:p>
            <a:pPr marL="0" indent="0">
              <a:lnSpc>
                <a:spcPct val="106000"/>
              </a:lnSpc>
              <a:buNone/>
            </a:pPr>
            <a:r>
              <a:rPr lang="en-US" sz="1350" dirty="0">
                <a:solidFill>
                  <a:srgbClr val="EAF2F7"/>
                </a:solidFill>
                <a:latin typeface="Courier New" pitchFamily="34" charset="0"/>
                <a:ea typeface="Courier New" pitchFamily="34" charset="-122"/>
                <a:cs typeface="Courier New" pitchFamily="34" charset="-120"/>
              </a:rPr>
              <a:t> </a:t>
            </a:r>
            <a:endParaRPr lang="en-US" sz="1350" dirty="0"/>
          </a:p>
          <a:p>
            <a:pPr marL="0" indent="0">
              <a:lnSpc>
                <a:spcPct val="106000"/>
              </a:lnSpc>
              <a:buNone/>
            </a:pPr>
            <a:r>
              <a:rPr lang="en-US" sz="1350" i="1" dirty="0">
                <a:solidFill>
                  <a:srgbClr val="7FA6BD"/>
                </a:solidFill>
                <a:latin typeface="Courier New" pitchFamily="34" charset="0"/>
                <a:ea typeface="Courier New" pitchFamily="34" charset="-122"/>
                <a:cs typeface="Courier New" pitchFamily="34" charset="-120"/>
              </a:rPr>
              <a:t>// =&gt; is shorthand for { return ...; }</a:t>
            </a:r>
            <a:endParaRPr lang="en-US" sz="1350" dirty="0"/>
          </a:p>
          <a:p>
            <a:pPr marL="0" indent="0">
              <a:lnSpc>
                <a:spcPct val="106000"/>
              </a:lnSpc>
              <a:buNone/>
            </a:pPr>
            <a:r>
              <a:rPr lang="en-US" sz="1350" i="1" dirty="0">
                <a:solidFill>
                  <a:srgbClr val="7FA6BD"/>
                </a:solidFill>
                <a:latin typeface="Courier New" pitchFamily="34" charset="0"/>
                <a:ea typeface="Courier New" pitchFamily="34" charset="-122"/>
                <a:cs typeface="Courier New" pitchFamily="34" charset="-120"/>
              </a:rPr>
              <a:t>// Only works for ONE expression.</a:t>
            </a:r>
            <a:endParaRPr lang="en-US" sz="1350" dirty="0"/>
          </a:p>
          <a:p>
            <a:pPr marL="0" indent="0">
              <a:lnSpc>
                <a:spcPct val="106000"/>
              </a:lnSpc>
              <a:buNone/>
            </a:pPr>
            <a:r>
              <a:rPr lang="en-US" sz="1350" i="1" dirty="0">
                <a:solidFill>
                  <a:srgbClr val="7FA6BD"/>
                </a:solidFill>
                <a:latin typeface="Courier New" pitchFamily="34" charset="0"/>
                <a:ea typeface="Courier New" pitchFamily="34" charset="-122"/>
                <a:cs typeface="Courier New" pitchFamily="34" charset="-120"/>
              </a:rPr>
              <a:t>// No semicolon inside, one at the end.</a:t>
            </a:r>
            <a:endParaRPr lang="en-US" sz="1350" dirty="0"/>
          </a:p>
        </p:txBody>
      </p:sp>
      <p:sp>
        <p:nvSpPr>
          <p:cNvPr id="13" name="Shape 11"/>
          <p:cNvSpPr/>
          <p:nvPr/>
        </p:nvSpPr>
        <p:spPr>
          <a:xfrm>
            <a:off x="566928" y="4297680"/>
            <a:ext cx="5532120" cy="1463040"/>
          </a:xfrm>
          <a:prstGeom prst="roundRect">
            <a:avLst>
              <a:gd name="adj" fmla="val 3125"/>
            </a:avLst>
          </a:prstGeom>
          <a:solidFill>
            <a:srgbClr val="E4F1F2"/>
          </a:solidFill>
          <a:ln w="12700">
            <a:solidFill>
              <a:srgbClr val="0E9AA3"/>
            </a:solidFill>
            <a:prstDash val="solid"/>
          </a:ln>
        </p:spPr>
        <p:txBody>
          <a:bodyPr/>
          <a:lstStyle/>
          <a:p>
            <a:endParaRPr lang="en-CA"/>
          </a:p>
        </p:txBody>
      </p:sp>
      <p:sp>
        <p:nvSpPr>
          <p:cNvPr id="14" name="Text 12"/>
          <p:cNvSpPr txBox="1"/>
          <p:nvPr/>
        </p:nvSpPr>
        <p:spPr>
          <a:xfrm>
            <a:off x="786384" y="441655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WHEN TO USE IT</a:t>
            </a:r>
            <a:endParaRPr lang="en-US" sz="1050" dirty="0"/>
          </a:p>
        </p:txBody>
      </p:sp>
      <p:sp>
        <p:nvSpPr>
          <p:cNvPr id="15" name="Text 13"/>
          <p:cNvSpPr txBox="1"/>
          <p:nvPr/>
        </p:nvSpPr>
        <p:spPr>
          <a:xfrm>
            <a:off x="786384" y="4663440"/>
            <a:ext cx="5093208" cy="98755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One expression → arrow. Two or more statements, an if, or a loop → braces. Don't cram logic into an arrow just to look clever; readability wins.</a:t>
            </a:r>
            <a:endParaRPr lang="en-US" sz="1300" dirty="0"/>
          </a:p>
        </p:txBody>
      </p:sp>
      <p:sp>
        <p:nvSpPr>
          <p:cNvPr id="16" name="Shape 14"/>
          <p:cNvSpPr/>
          <p:nvPr/>
        </p:nvSpPr>
        <p:spPr>
          <a:xfrm>
            <a:off x="6281928" y="4297680"/>
            <a:ext cx="5349240" cy="1463040"/>
          </a:xfrm>
          <a:prstGeom prst="roundRect">
            <a:avLst>
              <a:gd name="adj" fmla="val 3125"/>
            </a:avLst>
          </a:prstGeom>
          <a:solidFill>
            <a:srgbClr val="FDF3E3"/>
          </a:solidFill>
          <a:ln w="12700">
            <a:solidFill>
              <a:srgbClr val="E0A64B"/>
            </a:solidFill>
            <a:prstDash val="solid"/>
          </a:ln>
        </p:spPr>
        <p:txBody>
          <a:bodyPr/>
          <a:lstStyle/>
          <a:p>
            <a:endParaRPr lang="en-CA"/>
          </a:p>
        </p:txBody>
      </p:sp>
      <p:sp>
        <p:nvSpPr>
          <p:cNvPr id="17" name="Text 15"/>
          <p:cNvSpPr txBox="1"/>
          <p:nvPr/>
        </p:nvSpPr>
        <p:spPr>
          <a:xfrm>
            <a:off x="6501384" y="4416552"/>
            <a:ext cx="3108960" cy="237744"/>
          </a:xfrm>
          <a:prstGeom prst="rect">
            <a:avLst/>
          </a:prstGeom>
          <a:noFill/>
          <a:ln/>
        </p:spPr>
        <p:txBody>
          <a:bodyPr wrap="square" lIns="0" tIns="0" rIns="0" bIns="0" rtlCol="0" anchor="ctr"/>
          <a:lstStyle/>
          <a:p>
            <a:pPr marL="0" indent="0">
              <a:buNone/>
            </a:pPr>
            <a:r>
              <a:rPr lang="en-US" sz="1050" b="1" kern="0" spc="140" dirty="0">
                <a:solidFill>
                  <a:srgbClr val="E0A64B"/>
                </a:solidFill>
                <a:latin typeface="Calibri" pitchFamily="34" charset="0"/>
                <a:ea typeface="Calibri" pitchFamily="34" charset="-122"/>
                <a:cs typeface="Calibri" pitchFamily="34" charset="-120"/>
              </a:rPr>
              <a:t>COMMON ERROR</a:t>
            </a:r>
            <a:endParaRPr lang="en-US" sz="1050" dirty="0"/>
          </a:p>
        </p:txBody>
      </p:sp>
      <p:sp>
        <p:nvSpPr>
          <p:cNvPr id="18" name="Text 16"/>
          <p:cNvSpPr txBox="1"/>
          <p:nvPr/>
        </p:nvSpPr>
        <p:spPr>
          <a:xfrm>
            <a:off x="6501384" y="4663440"/>
            <a:ext cx="4910328" cy="987552"/>
          </a:xfrm>
          <a:prstGeom prst="rect">
            <a:avLst/>
          </a:prstGeom>
          <a:noFill/>
          <a:ln/>
        </p:spPr>
        <p:txBody>
          <a:bodyPr wrap="square" lIns="0" tIns="0" rIns="0" bIns="0" rtlCol="0" anchor="t"/>
          <a:lstStyle/>
          <a:p>
            <a:pPr marL="0" indent="0">
              <a:lnSpc>
                <a:spcPct val="112000"/>
              </a:lnSpc>
              <a:buNone/>
            </a:pPr>
            <a:r>
              <a:rPr lang="en-US" sz="1300" dirty="0">
                <a:solidFill>
                  <a:srgbClr val="7A5312"/>
                </a:solidFill>
                <a:latin typeface="Calibri" pitchFamily="34" charset="0"/>
                <a:ea typeface="Calibri" pitchFamily="34" charset="-122"/>
                <a:cs typeface="Calibri" pitchFamily="34" charset="-120"/>
              </a:rPr>
              <a:t>=&gt; { return w * h; } — arrow plus braces. You've now written a function that returns a function body. Pick one form, not both.</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THE BIG ONE</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Four ways to declare parameters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This is the slide to photograph. Dart's parameter rules are the biggest difference from the languages you already know.</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12</a:t>
            </a:r>
            <a:endParaRPr lang="en-US" sz="950" dirty="0"/>
          </a:p>
        </p:txBody>
      </p:sp>
      <p:sp>
        <p:nvSpPr>
          <p:cNvPr id="7" name="Shape 5"/>
          <p:cNvSpPr/>
          <p:nvPr/>
        </p:nvSpPr>
        <p:spPr>
          <a:xfrm>
            <a:off x="566928" y="1874520"/>
            <a:ext cx="2606040" cy="365760"/>
          </a:xfrm>
          <a:prstGeom prst="roundRect">
            <a:avLst>
              <a:gd name="adj" fmla="val 20000"/>
            </a:avLst>
          </a:prstGeom>
          <a:solidFill>
            <a:srgbClr val="0A2540"/>
          </a:solidFill>
          <a:ln/>
        </p:spPr>
        <p:txBody>
          <a:bodyPr/>
          <a:lstStyle/>
          <a:p>
            <a:endParaRPr lang="en-CA"/>
          </a:p>
        </p:txBody>
      </p:sp>
      <p:sp>
        <p:nvSpPr>
          <p:cNvPr id="8" name="Text 6"/>
          <p:cNvSpPr txBox="1"/>
          <p:nvPr/>
        </p:nvSpPr>
        <p:spPr>
          <a:xfrm>
            <a:off x="566928" y="1874520"/>
            <a:ext cx="260604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(a, b)</a:t>
            </a:r>
            <a:endParaRPr lang="en-US" sz="1250" dirty="0"/>
          </a:p>
        </p:txBody>
      </p:sp>
      <p:sp>
        <p:nvSpPr>
          <p:cNvPr id="9" name="Shape 7"/>
          <p:cNvSpPr/>
          <p:nvPr/>
        </p:nvSpPr>
        <p:spPr>
          <a:xfrm>
            <a:off x="3401568" y="1874520"/>
            <a:ext cx="2606040" cy="365760"/>
          </a:xfrm>
          <a:prstGeom prst="roundRect">
            <a:avLst>
              <a:gd name="adj" fmla="val 20000"/>
            </a:avLst>
          </a:prstGeom>
          <a:solidFill>
            <a:srgbClr val="00767F"/>
          </a:solidFill>
          <a:ln/>
        </p:spPr>
        <p:txBody>
          <a:bodyPr/>
          <a:lstStyle/>
          <a:p>
            <a:endParaRPr lang="en-CA"/>
          </a:p>
        </p:txBody>
      </p:sp>
      <p:sp>
        <p:nvSpPr>
          <p:cNvPr id="10" name="Text 8"/>
          <p:cNvSpPr txBox="1"/>
          <p:nvPr/>
        </p:nvSpPr>
        <p:spPr>
          <a:xfrm>
            <a:off x="3401568" y="1874520"/>
            <a:ext cx="260604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([a, b])</a:t>
            </a:r>
            <a:endParaRPr lang="en-US" sz="1250" dirty="0"/>
          </a:p>
        </p:txBody>
      </p:sp>
      <p:sp>
        <p:nvSpPr>
          <p:cNvPr id="11" name="Shape 9"/>
          <p:cNvSpPr/>
          <p:nvPr/>
        </p:nvSpPr>
        <p:spPr>
          <a:xfrm>
            <a:off x="6236208" y="1874520"/>
            <a:ext cx="2606040" cy="365760"/>
          </a:xfrm>
          <a:prstGeom prst="roundRect">
            <a:avLst>
              <a:gd name="adj" fmla="val 20000"/>
            </a:avLst>
          </a:prstGeom>
          <a:solidFill>
            <a:srgbClr val="00767F"/>
          </a:solidFill>
          <a:ln/>
        </p:spPr>
        <p:txBody>
          <a:bodyPr/>
          <a:lstStyle/>
          <a:p>
            <a:endParaRPr lang="en-CA"/>
          </a:p>
        </p:txBody>
      </p:sp>
      <p:sp>
        <p:nvSpPr>
          <p:cNvPr id="12" name="Text 10"/>
          <p:cNvSpPr txBox="1"/>
          <p:nvPr/>
        </p:nvSpPr>
        <p:spPr>
          <a:xfrm>
            <a:off x="6236208" y="1874520"/>
            <a:ext cx="260604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({a, b})</a:t>
            </a:r>
            <a:endParaRPr lang="en-US" sz="1250" dirty="0"/>
          </a:p>
        </p:txBody>
      </p:sp>
      <p:sp>
        <p:nvSpPr>
          <p:cNvPr id="13" name="Shape 11"/>
          <p:cNvSpPr/>
          <p:nvPr/>
        </p:nvSpPr>
        <p:spPr>
          <a:xfrm>
            <a:off x="9070848" y="1874520"/>
            <a:ext cx="2560320" cy="365760"/>
          </a:xfrm>
          <a:prstGeom prst="roundRect">
            <a:avLst>
              <a:gd name="adj" fmla="val 20000"/>
            </a:avLst>
          </a:prstGeom>
          <a:solidFill>
            <a:srgbClr val="6F9B2E"/>
          </a:solidFill>
          <a:ln/>
        </p:spPr>
        <p:txBody>
          <a:bodyPr/>
          <a:lstStyle/>
          <a:p>
            <a:endParaRPr lang="en-CA"/>
          </a:p>
        </p:txBody>
      </p:sp>
      <p:sp>
        <p:nvSpPr>
          <p:cNvPr id="14" name="Text 12"/>
          <p:cNvSpPr txBox="1"/>
          <p:nvPr/>
        </p:nvSpPr>
        <p:spPr>
          <a:xfrm>
            <a:off x="9070848" y="1874520"/>
            <a:ext cx="2560320" cy="365760"/>
          </a:xfrm>
          <a:prstGeom prst="rect">
            <a:avLst/>
          </a:prstGeom>
          <a:noFill/>
          <a:ln/>
        </p:spPr>
        <p:txBody>
          <a:bodyPr wrap="square" lIns="0" tIns="0" rIns="0" bIns="0" rtlCol="0" anchor="ctr"/>
          <a:lstStyle/>
          <a:p>
            <a:pPr marL="0" indent="0" algn="ctr">
              <a:buNone/>
            </a:pPr>
            <a:r>
              <a:rPr lang="en-US" sz="1250" b="1" dirty="0">
                <a:solidFill>
                  <a:srgbClr val="FFFFFF"/>
                </a:solidFill>
                <a:latin typeface="Courier New" pitchFamily="34" charset="0"/>
                <a:ea typeface="Courier New" pitchFamily="34" charset="-122"/>
                <a:cs typeface="Courier New" pitchFamily="34" charset="-120"/>
              </a:rPr>
              <a:t>({required a})</a:t>
            </a:r>
            <a:endParaRPr lang="en-US" sz="1250" dirty="0"/>
          </a:p>
        </p:txBody>
      </p:sp>
      <p:sp>
        <p:nvSpPr>
          <p:cNvPr id="15" name="Shape 13"/>
          <p:cNvSpPr/>
          <p:nvPr/>
        </p:nvSpPr>
        <p:spPr>
          <a:xfrm>
            <a:off x="566928" y="2359152"/>
            <a:ext cx="2606040" cy="2148840"/>
          </a:xfrm>
          <a:prstGeom prst="roundRect">
            <a:avLst>
              <a:gd name="adj" fmla="val 2128"/>
            </a:avLst>
          </a:prstGeom>
          <a:solidFill>
            <a:srgbClr val="F2F6F8"/>
          </a:solidFill>
          <a:ln/>
        </p:spPr>
        <p:txBody>
          <a:bodyPr/>
          <a:lstStyle/>
          <a:p>
            <a:endParaRPr lang="en-CA"/>
          </a:p>
        </p:txBody>
      </p:sp>
      <p:sp>
        <p:nvSpPr>
          <p:cNvPr id="16" name="Text 14"/>
          <p:cNvSpPr txBox="1"/>
          <p:nvPr/>
        </p:nvSpPr>
        <p:spPr>
          <a:xfrm>
            <a:off x="768096" y="2523744"/>
            <a:ext cx="2203704"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Positional</a:t>
            </a:r>
            <a:endParaRPr lang="en-US" sz="1500" dirty="0"/>
          </a:p>
        </p:txBody>
      </p:sp>
      <p:sp>
        <p:nvSpPr>
          <p:cNvPr id="17" name="Text 15"/>
          <p:cNvSpPr txBox="1"/>
          <p:nvPr/>
        </p:nvSpPr>
        <p:spPr>
          <a:xfrm>
            <a:off x="768096" y="2889504"/>
            <a:ext cx="2203704" cy="1399032"/>
          </a:xfrm>
          <a:prstGeom prst="rect">
            <a:avLst/>
          </a:prstGeom>
          <a:noFill/>
          <a:ln/>
        </p:spPr>
        <p:txBody>
          <a:bodyPr wrap="square" lIns="0" tIns="0" rIns="0" bIns="0" rtlCol="0" anchor="ctr"/>
          <a:lstStyle/>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Required. Order matters. Caller passes values with no labels.</a:t>
            </a:r>
            <a:endParaRPr lang="en-US" sz="1200" dirty="0"/>
          </a:p>
          <a:p>
            <a:pPr marL="0" indent="0">
              <a:lnSpc>
                <a:spcPct val="110000"/>
              </a:lnSpc>
              <a:buNone/>
            </a:pPr>
            <a:endParaRPr lang="en-US" sz="1200" dirty="0"/>
          </a:p>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Best for 1–2 obvious arguments.</a:t>
            </a:r>
            <a:endParaRPr lang="en-US" sz="1200" dirty="0"/>
          </a:p>
        </p:txBody>
      </p:sp>
      <p:sp>
        <p:nvSpPr>
          <p:cNvPr id="18" name="Shape 16"/>
          <p:cNvSpPr/>
          <p:nvPr/>
        </p:nvSpPr>
        <p:spPr>
          <a:xfrm>
            <a:off x="3401568" y="2359152"/>
            <a:ext cx="2606040" cy="2148840"/>
          </a:xfrm>
          <a:prstGeom prst="roundRect">
            <a:avLst>
              <a:gd name="adj" fmla="val 2128"/>
            </a:avLst>
          </a:prstGeom>
          <a:solidFill>
            <a:srgbClr val="E4F1F2"/>
          </a:solidFill>
          <a:ln/>
        </p:spPr>
        <p:txBody>
          <a:bodyPr/>
          <a:lstStyle/>
          <a:p>
            <a:endParaRPr lang="en-CA"/>
          </a:p>
        </p:txBody>
      </p:sp>
      <p:sp>
        <p:nvSpPr>
          <p:cNvPr id="19" name="Text 17"/>
          <p:cNvSpPr txBox="1"/>
          <p:nvPr/>
        </p:nvSpPr>
        <p:spPr>
          <a:xfrm>
            <a:off x="3602736" y="2523744"/>
            <a:ext cx="2203704"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Optional positional</a:t>
            </a:r>
            <a:endParaRPr lang="en-US" sz="1500" dirty="0"/>
          </a:p>
        </p:txBody>
      </p:sp>
      <p:sp>
        <p:nvSpPr>
          <p:cNvPr id="20" name="Text 18"/>
          <p:cNvSpPr txBox="1"/>
          <p:nvPr/>
        </p:nvSpPr>
        <p:spPr>
          <a:xfrm>
            <a:off x="3602736" y="2889504"/>
            <a:ext cx="2203704" cy="1399032"/>
          </a:xfrm>
          <a:prstGeom prst="rect">
            <a:avLst/>
          </a:prstGeom>
          <a:noFill/>
          <a:ln/>
        </p:spPr>
        <p:txBody>
          <a:bodyPr wrap="square" lIns="0" tIns="0" rIns="0" bIns="0" rtlCol="0" anchor="ctr"/>
          <a:lstStyle/>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Square brackets. Can be left off — but only from the right-hand end.</a:t>
            </a:r>
            <a:endParaRPr lang="en-US" sz="1200" dirty="0"/>
          </a:p>
          <a:p>
            <a:pPr marL="0" indent="0">
              <a:lnSpc>
                <a:spcPct val="110000"/>
              </a:lnSpc>
              <a:buNone/>
            </a:pPr>
            <a:endParaRPr lang="en-US" sz="1200" dirty="0"/>
          </a:p>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Must be nullable or have a default.</a:t>
            </a:r>
            <a:endParaRPr lang="en-US" sz="1200" dirty="0"/>
          </a:p>
        </p:txBody>
      </p:sp>
      <p:sp>
        <p:nvSpPr>
          <p:cNvPr id="21" name="Shape 19"/>
          <p:cNvSpPr/>
          <p:nvPr/>
        </p:nvSpPr>
        <p:spPr>
          <a:xfrm>
            <a:off x="6236208" y="2359152"/>
            <a:ext cx="2606040" cy="2148840"/>
          </a:xfrm>
          <a:prstGeom prst="roundRect">
            <a:avLst>
              <a:gd name="adj" fmla="val 2128"/>
            </a:avLst>
          </a:prstGeom>
          <a:solidFill>
            <a:srgbClr val="E4F1F2"/>
          </a:solidFill>
          <a:ln/>
        </p:spPr>
        <p:txBody>
          <a:bodyPr/>
          <a:lstStyle/>
          <a:p>
            <a:endParaRPr lang="en-CA"/>
          </a:p>
        </p:txBody>
      </p:sp>
      <p:sp>
        <p:nvSpPr>
          <p:cNvPr id="22" name="Text 20"/>
          <p:cNvSpPr txBox="1"/>
          <p:nvPr/>
        </p:nvSpPr>
        <p:spPr>
          <a:xfrm>
            <a:off x="6437376" y="2523744"/>
            <a:ext cx="2203704"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Named (optional)</a:t>
            </a:r>
            <a:endParaRPr lang="en-US" sz="1500" dirty="0"/>
          </a:p>
        </p:txBody>
      </p:sp>
      <p:sp>
        <p:nvSpPr>
          <p:cNvPr id="23" name="Text 21"/>
          <p:cNvSpPr txBox="1"/>
          <p:nvPr/>
        </p:nvSpPr>
        <p:spPr>
          <a:xfrm>
            <a:off x="6437376" y="2889504"/>
            <a:ext cx="2203704" cy="1399032"/>
          </a:xfrm>
          <a:prstGeom prst="rect">
            <a:avLst/>
          </a:prstGeom>
          <a:noFill/>
          <a:ln/>
        </p:spPr>
        <p:txBody>
          <a:bodyPr wrap="square" lIns="0" tIns="0" rIns="0" bIns="0" rtlCol="0" anchor="ctr"/>
          <a:lstStyle/>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Curly braces. Caller uses labels, in any order.</a:t>
            </a:r>
            <a:endParaRPr lang="en-US" sz="1200" dirty="0"/>
          </a:p>
          <a:p>
            <a:pPr marL="0" indent="0">
              <a:lnSpc>
                <a:spcPct val="110000"/>
              </a:lnSpc>
              <a:buNone/>
            </a:pPr>
            <a:endParaRPr lang="en-US" sz="1200" dirty="0"/>
          </a:p>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Optional by default, so also nullable or defaulted.</a:t>
            </a:r>
            <a:endParaRPr lang="en-US" sz="1200" dirty="0"/>
          </a:p>
        </p:txBody>
      </p:sp>
      <p:sp>
        <p:nvSpPr>
          <p:cNvPr id="24" name="Shape 22"/>
          <p:cNvSpPr/>
          <p:nvPr/>
        </p:nvSpPr>
        <p:spPr>
          <a:xfrm>
            <a:off x="9070848" y="2359152"/>
            <a:ext cx="2560320" cy="2148840"/>
          </a:xfrm>
          <a:prstGeom prst="roundRect">
            <a:avLst>
              <a:gd name="adj" fmla="val 2128"/>
            </a:avLst>
          </a:prstGeom>
          <a:solidFill>
            <a:srgbClr val="F2F6F8"/>
          </a:solidFill>
          <a:ln/>
        </p:spPr>
        <p:txBody>
          <a:bodyPr/>
          <a:lstStyle/>
          <a:p>
            <a:endParaRPr lang="en-CA"/>
          </a:p>
        </p:txBody>
      </p:sp>
      <p:sp>
        <p:nvSpPr>
          <p:cNvPr id="25" name="Text 23"/>
          <p:cNvSpPr txBox="1"/>
          <p:nvPr/>
        </p:nvSpPr>
        <p:spPr>
          <a:xfrm>
            <a:off x="9272016" y="2523744"/>
            <a:ext cx="2157984"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Named + required</a:t>
            </a:r>
            <a:endParaRPr lang="en-US" sz="1500" dirty="0"/>
          </a:p>
        </p:txBody>
      </p:sp>
      <p:sp>
        <p:nvSpPr>
          <p:cNvPr id="26" name="Text 24"/>
          <p:cNvSpPr txBox="1"/>
          <p:nvPr/>
        </p:nvSpPr>
        <p:spPr>
          <a:xfrm>
            <a:off x="9272016" y="2889504"/>
            <a:ext cx="2157984" cy="1399032"/>
          </a:xfrm>
          <a:prstGeom prst="rect">
            <a:avLst/>
          </a:prstGeom>
          <a:noFill/>
          <a:ln/>
        </p:spPr>
        <p:txBody>
          <a:bodyPr wrap="square" lIns="0" tIns="0" rIns="0" bIns="0" rtlCol="0" anchor="ctr"/>
          <a:lstStyle/>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Labelled, any order, but the compiler insists you pass it.</a:t>
            </a:r>
            <a:endParaRPr lang="en-US" sz="1200" dirty="0"/>
          </a:p>
          <a:p>
            <a:pPr marL="0" indent="0">
              <a:lnSpc>
                <a:spcPct val="110000"/>
              </a:lnSpc>
              <a:buNone/>
            </a:pPr>
            <a:endParaRPr lang="en-US" sz="1200" dirty="0"/>
          </a:p>
          <a:p>
            <a:pPr marL="0" indent="0">
              <a:lnSpc>
                <a:spcPct val="110000"/>
              </a:lnSpc>
              <a:buNone/>
            </a:pPr>
            <a:r>
              <a:rPr lang="en-US" sz="1200" dirty="0">
                <a:solidFill>
                  <a:srgbClr val="16232E"/>
                </a:solidFill>
                <a:latin typeface="Calibri" pitchFamily="34" charset="0"/>
                <a:ea typeface="Calibri" pitchFamily="34" charset="-122"/>
                <a:cs typeface="Calibri" pitchFamily="34" charset="-120"/>
              </a:rPr>
              <a:t>This is the Flutter house style.</a:t>
            </a:r>
            <a:endParaRPr lang="en-US" sz="1200" dirty="0"/>
          </a:p>
        </p:txBody>
      </p:sp>
      <p:sp>
        <p:nvSpPr>
          <p:cNvPr id="27" name="Shape 25"/>
          <p:cNvSpPr/>
          <p:nvPr/>
        </p:nvSpPr>
        <p:spPr>
          <a:xfrm>
            <a:off x="566928" y="4663440"/>
            <a:ext cx="11064240" cy="1143000"/>
          </a:xfrm>
          <a:prstGeom prst="roundRect">
            <a:avLst>
              <a:gd name="adj" fmla="val 4000"/>
            </a:avLst>
          </a:prstGeom>
          <a:solidFill>
            <a:srgbClr val="E4F1F2"/>
          </a:solidFill>
          <a:ln w="12700">
            <a:solidFill>
              <a:srgbClr val="0E9AA3"/>
            </a:solidFill>
            <a:prstDash val="solid"/>
          </a:ln>
        </p:spPr>
        <p:txBody>
          <a:bodyPr/>
          <a:lstStyle/>
          <a:p>
            <a:endParaRPr lang="en-CA"/>
          </a:p>
        </p:txBody>
      </p:sp>
      <p:sp>
        <p:nvSpPr>
          <p:cNvPr id="28" name="Text 26"/>
          <p:cNvSpPr txBox="1"/>
          <p:nvPr/>
        </p:nvSpPr>
        <p:spPr>
          <a:xfrm>
            <a:off x="786384" y="478231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WHY FLUTTER PICKED NAMED PARAMETERS</a:t>
            </a:r>
            <a:endParaRPr lang="en-US" sz="1050" dirty="0"/>
          </a:p>
        </p:txBody>
      </p:sp>
      <p:sp>
        <p:nvSpPr>
          <p:cNvPr id="29" name="Text 27"/>
          <p:cNvSpPr txBox="1"/>
          <p:nvPr/>
        </p:nvSpPr>
        <p:spPr>
          <a:xfrm>
            <a:off x="786384" y="5029200"/>
            <a:ext cx="10625328" cy="66751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A widget can take twenty parameters. Container(width: 40, height: 40, color: Colors.red) reads clearly at the call site; Container(40, 40, Colors.red, null, null, …) does not. Labels are documentation the compiler enforces.</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STYLES 1 &amp; 2</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Positional and optional positional</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13</a:t>
            </a:r>
            <a:endParaRPr lang="en-US" sz="950" dirty="0"/>
          </a:p>
        </p:txBody>
      </p:sp>
      <p:sp>
        <p:nvSpPr>
          <p:cNvPr id="6" name="Shape 4"/>
          <p:cNvSpPr/>
          <p:nvPr/>
        </p:nvSpPr>
        <p:spPr>
          <a:xfrm>
            <a:off x="566928" y="1371600"/>
            <a:ext cx="5532120" cy="2148840"/>
          </a:xfrm>
          <a:prstGeom prst="roundRect">
            <a:avLst>
              <a:gd name="adj" fmla="val 25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472184"/>
            <a:ext cx="51297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1 · POSITIONAL (REQUIRED)</a:t>
            </a:r>
            <a:endParaRPr lang="en-US" sz="1050" dirty="0"/>
          </a:p>
        </p:txBody>
      </p:sp>
      <p:sp>
        <p:nvSpPr>
          <p:cNvPr id="8" name="Text 6"/>
          <p:cNvSpPr txBox="1"/>
          <p:nvPr/>
        </p:nvSpPr>
        <p:spPr>
          <a:xfrm>
            <a:off x="768096" y="1773936"/>
            <a:ext cx="5166360" cy="1636776"/>
          </a:xfrm>
          <a:prstGeom prst="rect">
            <a:avLst/>
          </a:prstGeom>
          <a:noFill/>
          <a:ln/>
        </p:spPr>
        <p:txBody>
          <a:bodyPr wrap="square" lIns="0" tIns="0" rIns="0" bIns="0" rtlCol="0" anchor="t"/>
          <a:lstStyle/>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int add(int a, int b) =&gt; a + b;</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add(2, 3);      // 5</a:t>
            </a:r>
            <a:endParaRPr lang="en-US" sz="1300" dirty="0"/>
          </a:p>
          <a:p>
            <a:pPr marL="0" indent="0">
              <a:lnSpc>
                <a:spcPct val="106000"/>
              </a:lnSpc>
              <a:buNone/>
            </a:pPr>
            <a:r>
              <a:rPr lang="en-US" sz="1300" b="1" dirty="0">
                <a:solidFill>
                  <a:srgbClr val="C8EE7E"/>
                </a:solidFill>
                <a:latin typeface="Courier New" pitchFamily="34" charset="0"/>
                <a:ea typeface="Courier New" pitchFamily="34" charset="-122"/>
                <a:cs typeface="Courier New" pitchFamily="34" charset="-120"/>
              </a:rPr>
              <a:t>add(2);         // ERROR: 1 too few</a:t>
            </a:r>
            <a:endParaRPr lang="en-US" sz="1300" dirty="0"/>
          </a:p>
          <a:p>
            <a:pPr marL="0" indent="0">
              <a:lnSpc>
                <a:spcPct val="106000"/>
              </a:lnSpc>
              <a:buNone/>
            </a:pPr>
            <a:r>
              <a:rPr lang="en-US" sz="1300" b="1" dirty="0">
                <a:solidFill>
                  <a:srgbClr val="C8EE7E"/>
                </a:solidFill>
                <a:latin typeface="Courier New" pitchFamily="34" charset="0"/>
                <a:ea typeface="Courier New" pitchFamily="34" charset="-122"/>
                <a:cs typeface="Courier New" pitchFamily="34" charset="-120"/>
              </a:rPr>
              <a:t>add(3, 2);      // 5 — but is that right?</a:t>
            </a:r>
            <a:endParaRPr lang="en-US" sz="1300" dirty="0"/>
          </a:p>
          <a:p>
            <a:pPr marL="0" indent="0">
              <a:lnSpc>
                <a:spcPct val="106000"/>
              </a:lnSpc>
              <a:buNone/>
            </a:pPr>
            <a:r>
              <a:rPr lang="en-US" sz="1300" i="1" dirty="0">
                <a:solidFill>
                  <a:srgbClr val="7FA6BD"/>
                </a:solidFill>
                <a:latin typeface="Courier New" pitchFamily="34" charset="0"/>
                <a:ea typeface="Courier New" pitchFamily="34" charset="-122"/>
                <a:cs typeface="Courier New" pitchFamily="34" charset="-120"/>
              </a:rPr>
              <a:t>// order is on YOU to remember</a:t>
            </a:r>
            <a:endParaRPr lang="en-US" sz="1300" dirty="0"/>
          </a:p>
        </p:txBody>
      </p:sp>
      <p:sp>
        <p:nvSpPr>
          <p:cNvPr id="9" name="Shape 7"/>
          <p:cNvSpPr/>
          <p:nvPr/>
        </p:nvSpPr>
        <p:spPr>
          <a:xfrm>
            <a:off x="6281928" y="1371600"/>
            <a:ext cx="5349240" cy="2148840"/>
          </a:xfrm>
          <a:prstGeom prst="roundRect">
            <a:avLst>
              <a:gd name="adj" fmla="val 25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0" name="Text 8"/>
          <p:cNvSpPr txBox="1"/>
          <p:nvPr/>
        </p:nvSpPr>
        <p:spPr>
          <a:xfrm>
            <a:off x="6483096" y="1472184"/>
            <a:ext cx="4946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2 · OPTIONAL POSITIONAL [ ]</a:t>
            </a:r>
            <a:endParaRPr lang="en-US" sz="1050" dirty="0"/>
          </a:p>
        </p:txBody>
      </p:sp>
      <p:sp>
        <p:nvSpPr>
          <p:cNvPr id="11" name="Text 9"/>
          <p:cNvSpPr txBox="1"/>
          <p:nvPr/>
        </p:nvSpPr>
        <p:spPr>
          <a:xfrm>
            <a:off x="6483096" y="1773936"/>
            <a:ext cx="4983480" cy="1636776"/>
          </a:xfrm>
          <a:prstGeom prst="rect">
            <a:avLst/>
          </a:prstGeom>
          <a:noFill/>
          <a:ln/>
        </p:spPr>
        <p:txBody>
          <a:bodyPr wrap="square" lIns="0" tIns="0" rIns="0" bIns="0" rtlCol="0" anchor="t"/>
          <a:lstStyle/>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String tag(String name, [String? suffix]) {</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return suffix == null</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 name</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 '$name ($suffix)';</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tag('Jose');            // Jose</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tag('Jose', 'TL');      // Jose (TL)</a:t>
            </a:r>
            <a:endParaRPr lang="en-US" sz="1300" dirty="0"/>
          </a:p>
        </p:txBody>
      </p:sp>
      <p:sp>
        <p:nvSpPr>
          <p:cNvPr id="12" name="Shape 10"/>
          <p:cNvSpPr/>
          <p:nvPr/>
        </p:nvSpPr>
        <p:spPr>
          <a:xfrm>
            <a:off x="566928" y="3657600"/>
            <a:ext cx="5532120" cy="2194560"/>
          </a:xfrm>
          <a:prstGeom prst="roundRect">
            <a:avLst>
              <a:gd name="adj" fmla="val 2083"/>
            </a:avLst>
          </a:prstGeom>
          <a:solidFill>
            <a:srgbClr val="F2F6F8"/>
          </a:solidFill>
          <a:ln/>
        </p:spPr>
        <p:txBody>
          <a:bodyPr/>
          <a:lstStyle/>
          <a:p>
            <a:endParaRPr lang="en-CA"/>
          </a:p>
        </p:txBody>
      </p:sp>
      <p:sp>
        <p:nvSpPr>
          <p:cNvPr id="13" name="Text 11"/>
          <p:cNvSpPr txBox="1"/>
          <p:nvPr/>
        </p:nvSpPr>
        <p:spPr>
          <a:xfrm>
            <a:off x="768096" y="3822192"/>
            <a:ext cx="5129784"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Rules for [ ]</a:t>
            </a:r>
            <a:endParaRPr lang="en-US" sz="1600" dirty="0"/>
          </a:p>
        </p:txBody>
      </p:sp>
      <p:sp>
        <p:nvSpPr>
          <p:cNvPr id="14" name="Text 12"/>
          <p:cNvSpPr txBox="1"/>
          <p:nvPr/>
        </p:nvSpPr>
        <p:spPr>
          <a:xfrm>
            <a:off x="786384" y="4242816"/>
            <a:ext cx="5093208" cy="140817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Optional positionals always come last in the list</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You can only omit from the right — no skipping a middle one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Each must be nullable (String?) or carry a default value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Beyond two of them, the call site becomes unreadable — switch to named</a:t>
            </a:r>
            <a:endParaRPr lang="en-US" sz="1250" dirty="0"/>
          </a:p>
        </p:txBody>
      </p:sp>
      <p:sp>
        <p:nvSpPr>
          <p:cNvPr id="15" name="Shape 13"/>
          <p:cNvSpPr/>
          <p:nvPr/>
        </p:nvSpPr>
        <p:spPr>
          <a:xfrm>
            <a:off x="6281928" y="3657600"/>
            <a:ext cx="5349240" cy="2194560"/>
          </a:xfrm>
          <a:prstGeom prst="roundRect">
            <a:avLst>
              <a:gd name="adj" fmla="val 25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6" name="Text 14"/>
          <p:cNvSpPr txBox="1"/>
          <p:nvPr/>
        </p:nvSpPr>
        <p:spPr>
          <a:xfrm>
            <a:off x="6483096" y="3758184"/>
            <a:ext cx="4946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WHY "ONLY FROM THE RIGHT" BITES</a:t>
            </a:r>
            <a:endParaRPr lang="en-US" sz="1050" dirty="0"/>
          </a:p>
        </p:txBody>
      </p:sp>
      <p:sp>
        <p:nvSpPr>
          <p:cNvPr id="17" name="Text 15"/>
          <p:cNvSpPr txBox="1"/>
          <p:nvPr/>
        </p:nvSpPr>
        <p:spPr>
          <a:xfrm>
            <a:off x="6483096" y="4059936"/>
            <a:ext cx="4983480" cy="1682496"/>
          </a:xfrm>
          <a:prstGeom prst="rect">
            <a:avLst/>
          </a:prstGeom>
          <a:noFill/>
          <a:ln/>
        </p:spPr>
        <p:txBody>
          <a:bodyPr wrap="square" lIns="0" tIns="0" rIns="0" bIns="0" rtlCol="0" anchor="t"/>
          <a:lstStyle/>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void log(String msg,</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[String? tag, bool loud = false])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log('hi');                 // ok</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log('hi', 'AUTH');         // ok</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log('hi', true);           // ERROR: true is</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                           // not a String</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You cannot skip tag to reach loud.</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STYLES 3 &amp; 4</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Named parameters, required, and defaults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Read this the way you'll read a Flutter widget constructor, because it is one.</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14</a:t>
            </a:r>
            <a:endParaRPr lang="en-US" sz="950" dirty="0"/>
          </a:p>
        </p:txBody>
      </p:sp>
      <p:sp>
        <p:nvSpPr>
          <p:cNvPr id="7" name="Shape 5"/>
          <p:cNvSpPr/>
          <p:nvPr/>
        </p:nvSpPr>
        <p:spPr>
          <a:xfrm>
            <a:off x="566928" y="1828800"/>
            <a:ext cx="6446520" cy="3063240"/>
          </a:xfrm>
          <a:prstGeom prst="roundRect">
            <a:avLst>
              <a:gd name="adj" fmla="val 1791"/>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60441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NAMED, WITH REQUIRED AND DEFAULTS</a:t>
            </a:r>
            <a:endParaRPr lang="en-US" sz="1050" dirty="0"/>
          </a:p>
        </p:txBody>
      </p:sp>
      <p:sp>
        <p:nvSpPr>
          <p:cNvPr id="9" name="Text 7"/>
          <p:cNvSpPr txBox="1"/>
          <p:nvPr/>
        </p:nvSpPr>
        <p:spPr>
          <a:xfrm>
            <a:off x="768096" y="2231136"/>
            <a:ext cx="6080760" cy="2551176"/>
          </a:xfrm>
          <a:prstGeom prst="rect">
            <a:avLst/>
          </a:prstGeom>
          <a:noFill/>
          <a:ln/>
        </p:spPr>
        <p:txBody>
          <a:bodyPr wrap="square" lIns="0" tIns="0" rIns="0" bIns="0" rtlCol="0" anchor="t"/>
          <a:lstStyle/>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String describe({</a:t>
            </a:r>
            <a:endParaRPr lang="en-US" sz="1097" dirty="0"/>
          </a:p>
          <a:p>
            <a:pPr marL="0" indent="0">
              <a:lnSpc>
                <a:spcPct val="106000"/>
              </a:lnSpc>
              <a:buNone/>
            </a:pPr>
            <a:r>
              <a:rPr lang="en-US" sz="1097" b="1" dirty="0">
                <a:solidFill>
                  <a:srgbClr val="C8EE7E"/>
                </a:solidFill>
                <a:latin typeface="Courier New" pitchFamily="34" charset="0"/>
                <a:ea typeface="Courier New" pitchFamily="34" charset="-122"/>
                <a:cs typeface="Courier New" pitchFamily="34" charset="-120"/>
              </a:rPr>
              <a:t>  required String name,     // must be passed</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int age = 0,              // default value</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String? city,             // may be omitted</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final where = city ?? 'parts unknown';</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return '$name, $age, from $where';</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 </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describe(name: 'Ana');</a:t>
            </a:r>
            <a:endParaRPr lang="en-US" sz="1097" dirty="0"/>
          </a:p>
          <a:p>
            <a:pPr marL="0" indent="0">
              <a:lnSpc>
                <a:spcPct val="106000"/>
              </a:lnSpc>
              <a:buNone/>
            </a:pPr>
            <a:r>
              <a:rPr lang="en-US" sz="1097" i="1" dirty="0">
                <a:solidFill>
                  <a:srgbClr val="A8D65C"/>
                </a:solidFill>
                <a:latin typeface="Courier New" pitchFamily="34" charset="0"/>
                <a:ea typeface="Courier New" pitchFamily="34" charset="-122"/>
                <a:cs typeface="Courier New" pitchFamily="34" charset="-120"/>
              </a:rPr>
              <a:t>Ana, 0, from parts unknown</a:t>
            </a:r>
            <a:endParaRPr lang="en-US" sz="1097" dirty="0"/>
          </a:p>
          <a:p>
            <a:pPr marL="0" indent="0">
              <a:lnSpc>
                <a:spcPct val="106000"/>
              </a:lnSpc>
              <a:buNone/>
            </a:pPr>
            <a:r>
              <a:rPr lang="en-US" sz="1097" dirty="0">
                <a:solidFill>
                  <a:srgbClr val="EAF2F7"/>
                </a:solidFill>
                <a:latin typeface="Courier New" pitchFamily="34" charset="0"/>
                <a:ea typeface="Courier New" pitchFamily="34" charset="-122"/>
                <a:cs typeface="Courier New" pitchFamily="34" charset="-120"/>
              </a:rPr>
              <a:t>describe(city: 'Calgary', name: 'Ana', age: 31);</a:t>
            </a:r>
            <a:endParaRPr lang="en-US" sz="1097" dirty="0"/>
          </a:p>
          <a:p>
            <a:pPr marL="0" indent="0">
              <a:lnSpc>
                <a:spcPct val="106000"/>
              </a:lnSpc>
              <a:buNone/>
            </a:pPr>
            <a:r>
              <a:rPr lang="en-US" sz="1097" i="1" dirty="0">
                <a:solidFill>
                  <a:srgbClr val="A8D65C"/>
                </a:solidFill>
                <a:latin typeface="Courier New" pitchFamily="34" charset="0"/>
                <a:ea typeface="Courier New" pitchFamily="34" charset="-122"/>
                <a:cs typeface="Courier New" pitchFamily="34" charset="-120"/>
              </a:rPr>
              <a:t>Ana, 31, from Calgary</a:t>
            </a:r>
            <a:endParaRPr lang="en-US" sz="1097" dirty="0"/>
          </a:p>
          <a:p>
            <a:pPr marL="0" indent="0">
              <a:lnSpc>
                <a:spcPct val="106000"/>
              </a:lnSpc>
              <a:buNone/>
            </a:pPr>
            <a:r>
              <a:rPr lang="en-US" sz="1097" b="1" dirty="0">
                <a:solidFill>
                  <a:srgbClr val="C8EE7E"/>
                </a:solidFill>
                <a:latin typeface="Courier New" pitchFamily="34" charset="0"/>
                <a:ea typeface="Courier New" pitchFamily="34" charset="-122"/>
                <a:cs typeface="Courier New" pitchFamily="34" charset="-120"/>
              </a:rPr>
              <a:t>describe(age: 31);   // ERROR: name is required</a:t>
            </a:r>
            <a:endParaRPr lang="en-US" sz="1097" dirty="0"/>
          </a:p>
        </p:txBody>
      </p:sp>
      <p:sp>
        <p:nvSpPr>
          <p:cNvPr id="10" name="Text 8"/>
          <p:cNvSpPr txBox="1"/>
          <p:nvPr/>
        </p:nvSpPr>
        <p:spPr>
          <a:xfrm>
            <a:off x="7178040" y="1874520"/>
            <a:ext cx="4453128" cy="301752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Labels at the call site</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The reader doesn't have to look up the signature.</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Any order</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city before name is fine — labels, not positions.</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Optional by default</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So each one needs required, a default, or a ? type.</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Defaults must be compile-time constants</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int age = 0 works. DateTime.now() does not.</a:t>
            </a:r>
            <a:endParaRPr lang="en-US" sz="1300" dirty="0"/>
          </a:p>
        </p:txBody>
      </p:sp>
      <p:sp>
        <p:nvSpPr>
          <p:cNvPr id="11" name="Shape 9"/>
          <p:cNvSpPr/>
          <p:nvPr/>
        </p:nvSpPr>
        <p:spPr>
          <a:xfrm>
            <a:off x="566928" y="5074920"/>
            <a:ext cx="11064240" cy="822960"/>
          </a:xfrm>
          <a:prstGeom prst="roundRect">
            <a:avLst>
              <a:gd name="adj" fmla="val 5556"/>
            </a:avLst>
          </a:prstGeom>
          <a:solidFill>
            <a:srgbClr val="E4F1F2"/>
          </a:solidFill>
          <a:ln w="12700">
            <a:solidFill>
              <a:srgbClr val="0E9AA3"/>
            </a:solidFill>
            <a:prstDash val="solid"/>
          </a:ln>
        </p:spPr>
        <p:txBody>
          <a:bodyPr/>
          <a:lstStyle/>
          <a:p>
            <a:endParaRPr lang="en-CA"/>
          </a:p>
        </p:txBody>
      </p:sp>
      <p:sp>
        <p:nvSpPr>
          <p:cNvPr id="12" name="Text 10"/>
          <p:cNvSpPr txBox="1"/>
          <p:nvPr/>
        </p:nvSpPr>
        <p:spPr>
          <a:xfrm>
            <a:off x="786384" y="519379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THE RULE THAT EXPLAINS THE ERROR MESSAGES</a:t>
            </a:r>
            <a:endParaRPr lang="en-US" sz="1050" dirty="0"/>
          </a:p>
        </p:txBody>
      </p:sp>
      <p:sp>
        <p:nvSpPr>
          <p:cNvPr id="13" name="Text 11"/>
          <p:cNvSpPr txBox="1"/>
          <p:nvPr/>
        </p:nvSpPr>
        <p:spPr>
          <a:xfrm>
            <a:off x="786384" y="5440680"/>
            <a:ext cx="10625328" cy="34747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A named parameter with a non-nullable type and no default MUST be marked required — otherwise the compiler has no idea what value it would hold when the caller leaves it out.</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DECISION GUIDE</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Which parameter style should I use?</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15</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64240" cy="2810256"/>
        </p:xfrm>
        <a:graphic>
          <a:graphicData uri="http://schemas.openxmlformats.org/drawingml/2006/table">
            <a:tbl>
              <a:tblPr/>
              <a:tblGrid>
                <a:gridCol w="3657600">
                  <a:extLst>
                    <a:ext uri="{9D8B030D-6E8A-4147-A177-3AD203B41FA5}">
                      <a16:colId xmlns:a16="http://schemas.microsoft.com/office/drawing/2014/main" val="20000"/>
                    </a:ext>
                  </a:extLst>
                </a:gridCol>
                <a:gridCol w="370332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457200">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Situation</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Use this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Looks like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extLst>
                  <a:ext uri="{0D108BD9-81ED-4DB2-BD59-A6C34878D82A}">
                    <a16:rowId xmlns:a16="http://schemas.microsoft.com/office/drawing/2014/main" val="10000"/>
                  </a:ext>
                </a:extLst>
              </a:tr>
              <a:tr h="457200">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One or two arguments whose meaning is obvious from the name of the function</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Positional</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add(2, 3)</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A trailing extra that most callers won't need</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Optional positional [ ]</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tag('Jose', 'TL')</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57200">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Three or more arguments, or any bool argument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Named</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log(msg: 'hi', loud: true)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The value has no sensible fallback — the caller MUST supply it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Named + required</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Student(name: 'Ana')</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457200">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A sensible fallback exists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Default value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{int age = 0}</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66928" y="4343400"/>
            <a:ext cx="5532120" cy="1417320"/>
          </a:xfrm>
          <a:prstGeom prst="roundRect">
            <a:avLst>
              <a:gd name="adj" fmla="val 3226"/>
            </a:avLst>
          </a:prstGeom>
          <a:solidFill>
            <a:srgbClr val="E4F1F2"/>
          </a:solidFill>
          <a:ln w="12700">
            <a:solidFill>
              <a:srgbClr val="0E9AA3"/>
            </a:solidFill>
            <a:prstDash val="solid"/>
          </a:ln>
        </p:spPr>
        <p:txBody>
          <a:bodyPr/>
          <a:lstStyle/>
          <a:p>
            <a:endParaRPr lang="en-CA"/>
          </a:p>
        </p:txBody>
      </p:sp>
      <p:sp>
        <p:nvSpPr>
          <p:cNvPr id="8" name="Text 5"/>
          <p:cNvSpPr txBox="1"/>
          <p:nvPr/>
        </p:nvSpPr>
        <p:spPr>
          <a:xfrm>
            <a:off x="786384" y="446227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THE BOOLEAN RULE</a:t>
            </a:r>
            <a:endParaRPr lang="en-US" sz="1050" dirty="0"/>
          </a:p>
        </p:txBody>
      </p:sp>
      <p:sp>
        <p:nvSpPr>
          <p:cNvPr id="9" name="Text 6"/>
          <p:cNvSpPr txBox="1"/>
          <p:nvPr/>
        </p:nvSpPr>
        <p:spPr>
          <a:xfrm>
            <a:off x="786384" y="4709160"/>
            <a:ext cx="5093208" cy="94183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Never pass a bare true or false positionally. render(true) tells the reader nothing; render(animated: true) tells them everything. Dart's own lint rules will nag you about this.</a:t>
            </a:r>
            <a:endParaRPr lang="en-US" sz="1300" dirty="0"/>
          </a:p>
        </p:txBody>
      </p:sp>
      <p:sp>
        <p:nvSpPr>
          <p:cNvPr id="10" name="Shape 7"/>
          <p:cNvSpPr/>
          <p:nvPr/>
        </p:nvSpPr>
        <p:spPr>
          <a:xfrm>
            <a:off x="6281928" y="4343400"/>
            <a:ext cx="5349240" cy="1417320"/>
          </a:xfrm>
          <a:prstGeom prst="roundRect">
            <a:avLst>
              <a:gd name="adj" fmla="val 3226"/>
            </a:avLst>
          </a:prstGeom>
          <a:solidFill>
            <a:srgbClr val="E4F1F2"/>
          </a:solidFill>
          <a:ln w="12700">
            <a:solidFill>
              <a:srgbClr val="0E9AA3"/>
            </a:solidFill>
            <a:prstDash val="solid"/>
          </a:ln>
        </p:spPr>
        <p:txBody>
          <a:bodyPr/>
          <a:lstStyle/>
          <a:p>
            <a:endParaRPr lang="en-CA"/>
          </a:p>
        </p:txBody>
      </p:sp>
      <p:sp>
        <p:nvSpPr>
          <p:cNvPr id="11" name="Text 8"/>
          <p:cNvSpPr txBox="1"/>
          <p:nvPr/>
        </p:nvSpPr>
        <p:spPr>
          <a:xfrm>
            <a:off x="6501384" y="446227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MIXING IS ALLOWED</a:t>
            </a:r>
            <a:endParaRPr lang="en-US" sz="1050" dirty="0"/>
          </a:p>
        </p:txBody>
      </p:sp>
      <p:sp>
        <p:nvSpPr>
          <p:cNvPr id="12" name="Text 9"/>
          <p:cNvSpPr txBox="1"/>
          <p:nvPr/>
        </p:nvSpPr>
        <p:spPr>
          <a:xfrm>
            <a:off x="6501384" y="4709160"/>
            <a:ext cx="4910328" cy="94183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Positional first, then one optional group. You can write f(int a, {int? b}) — but you cannot combine [ ] and { } in the same signature.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FIRST-CLASS FUNCTIONS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Functions are values you can pass around</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This is the idea that makes the List section on the next block possible — and every Flutter callback.</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16</a:t>
            </a:r>
            <a:endParaRPr lang="en-US" sz="950" dirty="0"/>
          </a:p>
        </p:txBody>
      </p:sp>
      <p:sp>
        <p:nvSpPr>
          <p:cNvPr id="7" name="Shape 5"/>
          <p:cNvSpPr/>
          <p:nvPr/>
        </p:nvSpPr>
        <p:spPr>
          <a:xfrm>
            <a:off x="566928" y="1828800"/>
            <a:ext cx="6446520" cy="3108960"/>
          </a:xfrm>
          <a:prstGeom prst="roundRect">
            <a:avLst>
              <a:gd name="adj" fmla="val 1765"/>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60441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PASSING BEHAVIOUR, NOT JUST DATA</a:t>
            </a:r>
            <a:endParaRPr lang="en-US" sz="1050" dirty="0"/>
          </a:p>
        </p:txBody>
      </p:sp>
      <p:sp>
        <p:nvSpPr>
          <p:cNvPr id="9" name="Text 7"/>
          <p:cNvSpPr txBox="1"/>
          <p:nvPr/>
        </p:nvSpPr>
        <p:spPr>
          <a:xfrm>
            <a:off x="768096" y="2231136"/>
            <a:ext cx="6080760" cy="2596896"/>
          </a:xfrm>
          <a:prstGeom prst="rect">
            <a:avLst/>
          </a:prstGeom>
          <a:noFill/>
          <a:ln/>
        </p:spPr>
        <p:txBody>
          <a:bodyPr wrap="square" lIns="0" tIns="0" rIns="0" bIns="0" rtlCol="0" anchor="t"/>
          <a:lstStyle/>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int twice(int n) =&gt; n * 2;</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 </a:t>
            </a:r>
            <a:endParaRPr lang="en-US" sz="1117" dirty="0"/>
          </a:p>
          <a:p>
            <a:pPr marL="0" indent="0">
              <a:lnSpc>
                <a:spcPct val="106000"/>
              </a:lnSpc>
              <a:buNone/>
            </a:pPr>
            <a:r>
              <a:rPr lang="en-US" sz="1117" i="1" dirty="0">
                <a:solidFill>
                  <a:srgbClr val="7FA6BD"/>
                </a:solidFill>
                <a:latin typeface="Courier New" pitchFamily="34" charset="0"/>
                <a:ea typeface="Courier New" pitchFamily="34" charset="-122"/>
                <a:cs typeface="Courier New" pitchFamily="34" charset="-120"/>
              </a:rPr>
              <a:t>// store a function in a variable</a:t>
            </a:r>
            <a:endParaRPr lang="en-US" sz="1117" dirty="0"/>
          </a:p>
          <a:p>
            <a:pPr marL="0" indent="0">
              <a:lnSpc>
                <a:spcPct val="106000"/>
              </a:lnSpc>
              <a:buNone/>
            </a:pPr>
            <a:r>
              <a:rPr lang="en-US" sz="1117" b="1" dirty="0">
                <a:solidFill>
                  <a:srgbClr val="C8EE7E"/>
                </a:solidFill>
                <a:latin typeface="Courier New" pitchFamily="34" charset="0"/>
                <a:ea typeface="Courier New" pitchFamily="34" charset="-122"/>
                <a:cs typeface="Courier New" pitchFamily="34" charset="-120"/>
              </a:rPr>
              <a:t>int Function(int) op = twice;</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print(op(21));                 // 42</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 </a:t>
            </a:r>
            <a:endParaRPr lang="en-US" sz="1117" dirty="0"/>
          </a:p>
          <a:p>
            <a:pPr marL="0" indent="0">
              <a:lnSpc>
                <a:spcPct val="106000"/>
              </a:lnSpc>
              <a:buNone/>
            </a:pPr>
            <a:r>
              <a:rPr lang="en-US" sz="1117" i="1" dirty="0">
                <a:solidFill>
                  <a:srgbClr val="7FA6BD"/>
                </a:solidFill>
                <a:latin typeface="Courier New" pitchFamily="34" charset="0"/>
                <a:ea typeface="Courier New" pitchFamily="34" charset="-122"/>
                <a:cs typeface="Courier New" pitchFamily="34" charset="-120"/>
              </a:rPr>
              <a:t>// take a function as a parameter</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void applyTo(int value, int Function(int) f) {</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  print('result: ${f(value)}');</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 </a:t>
            </a:r>
            <a:endParaRPr lang="en-US" sz="1117" dirty="0"/>
          </a:p>
          <a:p>
            <a:pPr marL="0" indent="0">
              <a:lnSpc>
                <a:spcPct val="106000"/>
              </a:lnSpc>
              <a:buNone/>
            </a:pPr>
            <a:r>
              <a:rPr lang="en-US" sz="1117" dirty="0">
                <a:solidFill>
                  <a:srgbClr val="EAF2F7"/>
                </a:solidFill>
                <a:latin typeface="Courier New" pitchFamily="34" charset="0"/>
                <a:ea typeface="Courier New" pitchFamily="34" charset="-122"/>
                <a:cs typeface="Courier New" pitchFamily="34" charset="-120"/>
              </a:rPr>
              <a:t>applyTo(5, twice);             // result: 10</a:t>
            </a:r>
            <a:endParaRPr lang="en-US" sz="1117" dirty="0"/>
          </a:p>
          <a:p>
            <a:pPr marL="0" indent="0">
              <a:lnSpc>
                <a:spcPct val="106000"/>
              </a:lnSpc>
              <a:buNone/>
            </a:pPr>
            <a:r>
              <a:rPr lang="en-US" sz="1117" b="1" dirty="0">
                <a:solidFill>
                  <a:srgbClr val="C8EE7E"/>
                </a:solidFill>
                <a:latin typeface="Courier New" pitchFamily="34" charset="0"/>
                <a:ea typeface="Courier New" pitchFamily="34" charset="-122"/>
                <a:cs typeface="Courier New" pitchFamily="34" charset="-120"/>
              </a:rPr>
              <a:t>applyTo(5, (n) =&gt; n * n);      // result: 25</a:t>
            </a:r>
            <a:endParaRPr lang="en-US" sz="1117" dirty="0"/>
          </a:p>
          <a:p>
            <a:pPr marL="0" indent="0">
              <a:lnSpc>
                <a:spcPct val="106000"/>
              </a:lnSpc>
              <a:buNone/>
            </a:pPr>
            <a:r>
              <a:rPr lang="en-US" sz="1117" i="1" dirty="0">
                <a:solidFill>
                  <a:srgbClr val="7FA6BD"/>
                </a:solidFill>
                <a:latin typeface="Courier New" pitchFamily="34" charset="0"/>
                <a:ea typeface="Courier New" pitchFamily="34" charset="-122"/>
                <a:cs typeface="Courier New" pitchFamily="34" charset="-120"/>
              </a:rPr>
              <a:t>//        ^ anonymous function, no name needed</a:t>
            </a:r>
            <a:endParaRPr lang="en-US" sz="1117" dirty="0"/>
          </a:p>
        </p:txBody>
      </p:sp>
      <p:sp>
        <p:nvSpPr>
          <p:cNvPr id="10" name="Shape 8"/>
          <p:cNvSpPr/>
          <p:nvPr/>
        </p:nvSpPr>
        <p:spPr>
          <a:xfrm>
            <a:off x="7178040" y="1828800"/>
            <a:ext cx="4453128" cy="1508760"/>
          </a:xfrm>
          <a:prstGeom prst="roundRect">
            <a:avLst>
              <a:gd name="adj" fmla="val 3030"/>
            </a:avLst>
          </a:prstGeom>
          <a:solidFill>
            <a:srgbClr val="E4F1F2"/>
          </a:solidFill>
          <a:ln/>
        </p:spPr>
        <p:txBody>
          <a:bodyPr/>
          <a:lstStyle/>
          <a:p>
            <a:endParaRPr lang="en-CA"/>
          </a:p>
        </p:txBody>
      </p:sp>
      <p:sp>
        <p:nvSpPr>
          <p:cNvPr id="11" name="Text 9"/>
          <p:cNvSpPr txBox="1"/>
          <p:nvPr/>
        </p:nvSpPr>
        <p:spPr>
          <a:xfrm>
            <a:off x="7379208" y="1993392"/>
            <a:ext cx="405079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Reading the type</a:t>
            </a:r>
            <a:endParaRPr lang="en-US" sz="1600" dirty="0"/>
          </a:p>
        </p:txBody>
      </p:sp>
      <p:sp>
        <p:nvSpPr>
          <p:cNvPr id="12" name="Text 10"/>
          <p:cNvSpPr txBox="1"/>
          <p:nvPr/>
        </p:nvSpPr>
        <p:spPr>
          <a:xfrm>
            <a:off x="7379208" y="2395728"/>
            <a:ext cx="4050792" cy="722376"/>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int Function(int) means "a function that takes an int and returns an int". Return type first, then the word Function, then the parameter types.</a:t>
            </a:r>
            <a:endParaRPr lang="en-US" sz="1250" dirty="0"/>
          </a:p>
        </p:txBody>
      </p:sp>
      <p:sp>
        <p:nvSpPr>
          <p:cNvPr id="13" name="Shape 11"/>
          <p:cNvSpPr/>
          <p:nvPr/>
        </p:nvSpPr>
        <p:spPr>
          <a:xfrm>
            <a:off x="7178040" y="3456432"/>
            <a:ext cx="4453128" cy="1481328"/>
          </a:xfrm>
          <a:prstGeom prst="roundRect">
            <a:avLst>
              <a:gd name="adj" fmla="val 3086"/>
            </a:avLst>
          </a:prstGeom>
          <a:solidFill>
            <a:srgbClr val="F2F6F8"/>
          </a:solidFill>
          <a:ln/>
        </p:spPr>
        <p:txBody>
          <a:bodyPr/>
          <a:lstStyle/>
          <a:p>
            <a:endParaRPr lang="en-CA"/>
          </a:p>
        </p:txBody>
      </p:sp>
      <p:sp>
        <p:nvSpPr>
          <p:cNvPr id="14" name="Text 12"/>
          <p:cNvSpPr txBox="1"/>
          <p:nvPr/>
        </p:nvSpPr>
        <p:spPr>
          <a:xfrm>
            <a:off x="7379208" y="3621024"/>
            <a:ext cx="405079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Anonymous functions</a:t>
            </a:r>
            <a:endParaRPr lang="en-US" sz="1600" dirty="0"/>
          </a:p>
        </p:txBody>
      </p:sp>
      <p:sp>
        <p:nvSpPr>
          <p:cNvPr id="15" name="Text 13"/>
          <p:cNvSpPr txBox="1"/>
          <p:nvPr/>
        </p:nvSpPr>
        <p:spPr>
          <a:xfrm>
            <a:off x="7379208" y="4023360"/>
            <a:ext cx="4050792" cy="694944"/>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(n) =&gt; n * n has no name because it's used once, right there. You'll write hundreds of these: onPressed: () { … } is exactly this.</a:t>
            </a:r>
            <a:endParaRPr lang="en-US" sz="1250" dirty="0"/>
          </a:p>
        </p:txBody>
      </p:sp>
      <p:sp>
        <p:nvSpPr>
          <p:cNvPr id="16" name="Shape 14"/>
          <p:cNvSpPr/>
          <p:nvPr/>
        </p:nvSpPr>
        <p:spPr>
          <a:xfrm>
            <a:off x="566928" y="5047488"/>
            <a:ext cx="11064240" cy="960120"/>
          </a:xfrm>
          <a:prstGeom prst="roundRect">
            <a:avLst>
              <a:gd name="adj" fmla="val 4762"/>
            </a:avLst>
          </a:prstGeom>
          <a:solidFill>
            <a:srgbClr val="E4F1F2"/>
          </a:solidFill>
          <a:ln w="12700">
            <a:solidFill>
              <a:srgbClr val="0E9AA3"/>
            </a:solidFill>
            <a:prstDash val="solid"/>
          </a:ln>
        </p:spPr>
        <p:txBody>
          <a:bodyPr/>
          <a:lstStyle/>
          <a:p>
            <a:endParaRPr lang="en-CA"/>
          </a:p>
        </p:txBody>
      </p:sp>
      <p:sp>
        <p:nvSpPr>
          <p:cNvPr id="17" name="Text 15"/>
          <p:cNvSpPr txBox="1"/>
          <p:nvPr/>
        </p:nvSpPr>
        <p:spPr>
          <a:xfrm>
            <a:off x="786384" y="5166360"/>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MENTAL SHIFT</a:t>
            </a:r>
            <a:endParaRPr lang="en-US" sz="1050" dirty="0"/>
          </a:p>
        </p:txBody>
      </p:sp>
      <p:sp>
        <p:nvSpPr>
          <p:cNvPr id="18" name="Text 16"/>
          <p:cNvSpPr txBox="1"/>
          <p:nvPr/>
        </p:nvSpPr>
        <p:spPr>
          <a:xfrm>
            <a:off x="786384" y="5413248"/>
            <a:ext cx="10625328" cy="48463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Up to now, functions were places you go. Now they're things you hold. That shift is what lets a List transform itself, and what lets a button know what to do when tapped.</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DEMOS 2–4 · WE BUILD THIS TOGETHER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Live build: a small grade utility</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Three functions, three parameter styles, one program. Type along — this becomes part of tonight's lab.</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17</a:t>
            </a:r>
            <a:endParaRPr lang="en-US" sz="950" dirty="0"/>
          </a:p>
        </p:txBody>
      </p:sp>
      <p:sp>
        <p:nvSpPr>
          <p:cNvPr id="7" name="Shape 5"/>
          <p:cNvSpPr/>
          <p:nvPr/>
        </p:nvSpPr>
        <p:spPr>
          <a:xfrm>
            <a:off x="566928" y="1755648"/>
            <a:ext cx="6766560" cy="4069080"/>
          </a:xfrm>
          <a:prstGeom prst="roundRect">
            <a:avLst>
              <a:gd name="adj" fmla="val 1348"/>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856232"/>
            <a:ext cx="63642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bin/grades_functions.dart</a:t>
            </a:r>
            <a:endParaRPr lang="en-US" sz="1050" dirty="0"/>
          </a:p>
        </p:txBody>
      </p:sp>
      <p:sp>
        <p:nvSpPr>
          <p:cNvPr id="9" name="Text 7"/>
          <p:cNvSpPr txBox="1"/>
          <p:nvPr/>
        </p:nvSpPr>
        <p:spPr>
          <a:xfrm>
            <a:off x="768096" y="2157984"/>
            <a:ext cx="6400800" cy="3557016"/>
          </a:xfrm>
          <a:prstGeom prst="rect">
            <a:avLst/>
          </a:prstGeom>
          <a:noFill/>
          <a:ln/>
        </p:spPr>
        <p:txBody>
          <a:bodyPr wrap="square" lIns="0" tIns="0" rIns="0" bIns="0" rtlCol="0" anchor="t"/>
          <a:lstStyle/>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1 · positional: obvious argument order</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double percent(int earned, int total) =&gt; earned / total * 100;</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2 · named + default: reads well at the call site</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String letter(double pct, {double passMark = 50}) {</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if (pct &gt;= 80) return 'A';</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if (pct &gt;= 70) return 'B';</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if (pct &gt;= 60) return 'C';</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return pct &gt;= passMark ? 'D' : 'F';</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3 · named + required: the caller must be explicit</a:t>
            </a:r>
            <a:endParaRPr lang="en-US" sz="1134" dirty="0"/>
          </a:p>
          <a:p>
            <a:pPr marL="0" indent="0">
              <a:lnSpc>
                <a:spcPct val="106000"/>
              </a:lnSpc>
              <a:buNone/>
            </a:pPr>
            <a:r>
              <a:rPr lang="en-US" sz="1134" b="1" dirty="0">
                <a:solidFill>
                  <a:srgbClr val="C8EE7E"/>
                </a:solidFill>
                <a:latin typeface="Courier New" pitchFamily="34" charset="0"/>
                <a:ea typeface="Courier New" pitchFamily="34" charset="-122"/>
                <a:cs typeface="Courier New" pitchFamily="34" charset="-120"/>
              </a:rPr>
              <a:t>void report({required String student, required double pct}) {</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final pretty = pct.toStringAsFixed(1);</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print('$student: $pretty% (${letter(pct)})');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void main() =&gt; report(student: 'Ana', pct: percent(43, 50));</a:t>
            </a:r>
            <a:endParaRPr lang="en-US" sz="1134" dirty="0"/>
          </a:p>
          <a:p>
            <a:pPr marL="0" indent="0">
              <a:lnSpc>
                <a:spcPct val="106000"/>
              </a:lnSpc>
              <a:buNone/>
            </a:pPr>
            <a:r>
              <a:rPr lang="en-US" sz="1134" i="1" dirty="0">
                <a:solidFill>
                  <a:srgbClr val="A8D65C"/>
                </a:solidFill>
                <a:latin typeface="Courier New" pitchFamily="34" charset="0"/>
                <a:ea typeface="Courier New" pitchFamily="34" charset="-122"/>
                <a:cs typeface="Courier New" pitchFamily="34" charset="-120"/>
              </a:rPr>
              <a:t>Ana: 86.0% (A)</a:t>
            </a:r>
            <a:endParaRPr lang="en-US" sz="1134" dirty="0"/>
          </a:p>
        </p:txBody>
      </p:sp>
      <p:sp>
        <p:nvSpPr>
          <p:cNvPr id="10" name="Text 8"/>
          <p:cNvSpPr txBox="1"/>
          <p:nvPr/>
        </p:nvSpPr>
        <p:spPr>
          <a:xfrm>
            <a:off x="7516368" y="1801368"/>
            <a:ext cx="4114800" cy="40233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Build it in this order: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percent() first — run it, print the raw number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letter() next — call it from main with a literal</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report() last — it composes the other two</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Things to try:</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Call report('Ana', 86) positionally → read the error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Call letter(45, passMark: 40) → watch D instead of F</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toStringAsFixed(1) trims 86.00000001 noise</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Then: extract letter()'s cutoffs into a function of their own.</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2 · DEBRIEF</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Four function mistakes I see every term</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18</a:t>
            </a:r>
            <a:endParaRPr lang="en-US" sz="950" dirty="0"/>
          </a:p>
        </p:txBody>
      </p:sp>
      <p:sp>
        <p:nvSpPr>
          <p:cNvPr id="6" name="Shape 4"/>
          <p:cNvSpPr/>
          <p:nvPr/>
        </p:nvSpPr>
        <p:spPr>
          <a:xfrm>
            <a:off x="566928" y="1600200"/>
            <a:ext cx="420624" cy="420624"/>
          </a:xfrm>
          <a:prstGeom prst="ellipse">
            <a:avLst/>
          </a:prstGeom>
          <a:solidFill>
            <a:srgbClr val="00767F"/>
          </a:solidFill>
          <a:ln/>
        </p:spPr>
        <p:txBody>
          <a:bodyPr/>
          <a:lstStyle/>
          <a:p>
            <a:endParaRPr lang="en-CA"/>
          </a:p>
        </p:txBody>
      </p:sp>
      <p:sp>
        <p:nvSpPr>
          <p:cNvPr id="7" name="Text 5"/>
          <p:cNvSpPr txBox="1"/>
          <p:nvPr/>
        </p:nvSpPr>
        <p:spPr>
          <a:xfrm>
            <a:off x="566928" y="1600200"/>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8" name="Text 6"/>
          <p:cNvSpPr txBox="1"/>
          <p:nvPr/>
        </p:nvSpPr>
        <p:spPr>
          <a:xfrm>
            <a:off x="1133856" y="1572768"/>
            <a:ext cx="528523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Forgetting the return type</a:t>
            </a:r>
            <a:endParaRPr lang="en-US" sz="1500" dirty="0"/>
          </a:p>
        </p:txBody>
      </p:sp>
      <p:sp>
        <p:nvSpPr>
          <p:cNvPr id="9" name="Text 7"/>
          <p:cNvSpPr txBox="1"/>
          <p:nvPr/>
        </p:nvSpPr>
        <p:spPr>
          <a:xfrm>
            <a:off x="1133856" y="1847088"/>
            <a:ext cx="5285232" cy="658368"/>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Leaving it off makes it dynamic. Write int, double, String, bool, or void — every time.</a:t>
            </a:r>
            <a:endParaRPr lang="en-US" sz="1300" dirty="0"/>
          </a:p>
        </p:txBody>
      </p:sp>
      <p:sp>
        <p:nvSpPr>
          <p:cNvPr id="10" name="Shape 8"/>
          <p:cNvSpPr/>
          <p:nvPr/>
        </p:nvSpPr>
        <p:spPr>
          <a:xfrm>
            <a:off x="566928" y="2651760"/>
            <a:ext cx="420624" cy="420624"/>
          </a:xfrm>
          <a:prstGeom prst="ellipse">
            <a:avLst/>
          </a:prstGeom>
          <a:solidFill>
            <a:srgbClr val="0A2540"/>
          </a:solidFill>
          <a:ln/>
        </p:spPr>
        <p:txBody>
          <a:bodyPr/>
          <a:lstStyle/>
          <a:p>
            <a:endParaRPr lang="en-CA"/>
          </a:p>
        </p:txBody>
      </p:sp>
      <p:sp>
        <p:nvSpPr>
          <p:cNvPr id="11" name="Text 9"/>
          <p:cNvSpPr txBox="1"/>
          <p:nvPr/>
        </p:nvSpPr>
        <p:spPr>
          <a:xfrm>
            <a:off x="566928" y="2651760"/>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2" name="Text 10"/>
          <p:cNvSpPr txBox="1"/>
          <p:nvPr/>
        </p:nvSpPr>
        <p:spPr>
          <a:xfrm>
            <a:off x="1133856" y="2624328"/>
            <a:ext cx="528523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Printing instead of returning</a:t>
            </a:r>
            <a:endParaRPr lang="en-US" sz="1500" dirty="0"/>
          </a:p>
        </p:txBody>
      </p:sp>
      <p:sp>
        <p:nvSpPr>
          <p:cNvPr id="13" name="Text 11"/>
          <p:cNvSpPr txBox="1"/>
          <p:nvPr/>
        </p:nvSpPr>
        <p:spPr>
          <a:xfrm>
            <a:off x="1133856" y="2898648"/>
            <a:ext cx="5285232" cy="658368"/>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A function that prints can't be reused or tested. Return the value; let the caller decide to print it.</a:t>
            </a:r>
            <a:endParaRPr lang="en-US" sz="1300" dirty="0"/>
          </a:p>
        </p:txBody>
      </p:sp>
      <p:sp>
        <p:nvSpPr>
          <p:cNvPr id="14" name="Shape 12"/>
          <p:cNvSpPr/>
          <p:nvPr/>
        </p:nvSpPr>
        <p:spPr>
          <a:xfrm>
            <a:off x="566928" y="3703320"/>
            <a:ext cx="420624" cy="420624"/>
          </a:xfrm>
          <a:prstGeom prst="ellipse">
            <a:avLst/>
          </a:prstGeom>
          <a:solidFill>
            <a:srgbClr val="00767F"/>
          </a:solidFill>
          <a:ln/>
        </p:spPr>
        <p:txBody>
          <a:bodyPr/>
          <a:lstStyle/>
          <a:p>
            <a:endParaRPr lang="en-CA"/>
          </a:p>
        </p:txBody>
      </p:sp>
      <p:sp>
        <p:nvSpPr>
          <p:cNvPr id="15" name="Text 13"/>
          <p:cNvSpPr txBox="1"/>
          <p:nvPr/>
        </p:nvSpPr>
        <p:spPr>
          <a:xfrm>
            <a:off x="566928" y="3703320"/>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6" name="Text 14"/>
          <p:cNvSpPr txBox="1"/>
          <p:nvPr/>
        </p:nvSpPr>
        <p:spPr>
          <a:xfrm>
            <a:off x="1133856" y="3675888"/>
            <a:ext cx="528523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Mixing [ ] and { }</a:t>
            </a:r>
            <a:endParaRPr lang="en-US" sz="1500" dirty="0"/>
          </a:p>
        </p:txBody>
      </p:sp>
      <p:sp>
        <p:nvSpPr>
          <p:cNvPr id="17" name="Text 15"/>
          <p:cNvSpPr txBox="1"/>
          <p:nvPr/>
        </p:nvSpPr>
        <p:spPr>
          <a:xfrm>
            <a:off x="1133856" y="3950208"/>
            <a:ext cx="5285232" cy="658368"/>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Dart allows one optional group per function. Pick square or curly, not both.</a:t>
            </a:r>
            <a:endParaRPr lang="en-US" sz="1300" dirty="0"/>
          </a:p>
        </p:txBody>
      </p:sp>
      <p:sp>
        <p:nvSpPr>
          <p:cNvPr id="18" name="Shape 16"/>
          <p:cNvSpPr/>
          <p:nvPr/>
        </p:nvSpPr>
        <p:spPr>
          <a:xfrm>
            <a:off x="566928" y="4754880"/>
            <a:ext cx="420624" cy="420624"/>
          </a:xfrm>
          <a:prstGeom prst="ellipse">
            <a:avLst/>
          </a:prstGeom>
          <a:solidFill>
            <a:srgbClr val="0A2540"/>
          </a:solidFill>
          <a:ln/>
        </p:spPr>
        <p:txBody>
          <a:bodyPr/>
          <a:lstStyle/>
          <a:p>
            <a:endParaRPr lang="en-CA"/>
          </a:p>
        </p:txBody>
      </p:sp>
      <p:sp>
        <p:nvSpPr>
          <p:cNvPr id="19" name="Text 17"/>
          <p:cNvSpPr txBox="1"/>
          <p:nvPr/>
        </p:nvSpPr>
        <p:spPr>
          <a:xfrm>
            <a:off x="566928" y="4754880"/>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0" name="Text 18"/>
          <p:cNvSpPr txBox="1"/>
          <p:nvPr/>
        </p:nvSpPr>
        <p:spPr>
          <a:xfrm>
            <a:off x="1133856" y="4727448"/>
            <a:ext cx="528523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Non-const defaults</a:t>
            </a:r>
            <a:endParaRPr lang="en-US" sz="1500" dirty="0"/>
          </a:p>
        </p:txBody>
      </p:sp>
      <p:sp>
        <p:nvSpPr>
          <p:cNvPr id="21" name="Text 19"/>
          <p:cNvSpPr txBox="1"/>
          <p:nvPr/>
        </p:nvSpPr>
        <p:spPr>
          <a:xfrm>
            <a:off x="1133856" y="5001768"/>
            <a:ext cx="5285232" cy="658368"/>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{DateTime when = DateTime.now()} won't compile. Default to null and compute inside the body instead.</a:t>
            </a:r>
            <a:endParaRPr lang="en-US" sz="1300" dirty="0"/>
          </a:p>
        </p:txBody>
      </p:sp>
      <p:sp>
        <p:nvSpPr>
          <p:cNvPr id="22" name="Shape 20"/>
          <p:cNvSpPr/>
          <p:nvPr/>
        </p:nvSpPr>
        <p:spPr>
          <a:xfrm>
            <a:off x="6812280" y="1572768"/>
            <a:ext cx="4818888" cy="2788920"/>
          </a:xfrm>
          <a:prstGeom prst="roundRect">
            <a:avLst>
              <a:gd name="adj" fmla="val 196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3" name="Text 21"/>
          <p:cNvSpPr txBox="1"/>
          <p:nvPr/>
        </p:nvSpPr>
        <p:spPr>
          <a:xfrm>
            <a:off x="7013448" y="1673352"/>
            <a:ext cx="4416552"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MISTAKE 4, AND THE FIX</a:t>
            </a:r>
            <a:endParaRPr lang="en-US" sz="1050" dirty="0"/>
          </a:p>
        </p:txBody>
      </p:sp>
      <p:sp>
        <p:nvSpPr>
          <p:cNvPr id="24" name="Text 22"/>
          <p:cNvSpPr txBox="1"/>
          <p:nvPr/>
        </p:nvSpPr>
        <p:spPr>
          <a:xfrm>
            <a:off x="7013448" y="1975104"/>
            <a:ext cx="4453128" cy="2276856"/>
          </a:xfrm>
          <a:prstGeom prst="rect">
            <a:avLst/>
          </a:prstGeom>
          <a:noFill/>
          <a:ln/>
        </p:spPr>
        <p:txBody>
          <a:bodyPr wrap="square" lIns="0" tIns="0" rIns="0" bIns="0" rtlCol="0" anchor="t"/>
          <a:lstStyle/>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won't compile</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void log(String m,</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    {DateTime when = DateTime.now()})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the fix: nullable + fallback in the body</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void log(String m, {DateTime? when})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final t = when ?? DateTime.now();</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print('[$t] $m');</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a:t>
            </a:r>
            <a:endParaRPr lang="en-US" sz="1250" dirty="0"/>
          </a:p>
        </p:txBody>
      </p:sp>
      <p:sp>
        <p:nvSpPr>
          <p:cNvPr id="25" name="Shape 23"/>
          <p:cNvSpPr/>
          <p:nvPr/>
        </p:nvSpPr>
        <p:spPr>
          <a:xfrm>
            <a:off x="6812280" y="4526280"/>
            <a:ext cx="4818888" cy="1234440"/>
          </a:xfrm>
          <a:prstGeom prst="roundRect">
            <a:avLst>
              <a:gd name="adj" fmla="val 3704"/>
            </a:avLst>
          </a:prstGeom>
          <a:solidFill>
            <a:srgbClr val="E4F1F2"/>
          </a:solidFill>
          <a:ln w="12700">
            <a:solidFill>
              <a:srgbClr val="0E9AA3"/>
            </a:solidFill>
            <a:prstDash val="solid"/>
          </a:ln>
        </p:spPr>
        <p:txBody>
          <a:bodyPr/>
          <a:lstStyle/>
          <a:p>
            <a:endParaRPr lang="en-CA"/>
          </a:p>
        </p:txBody>
      </p:sp>
      <p:sp>
        <p:nvSpPr>
          <p:cNvPr id="26" name="Text 24"/>
          <p:cNvSpPr txBox="1"/>
          <p:nvPr/>
        </p:nvSpPr>
        <p:spPr>
          <a:xfrm>
            <a:off x="7031736" y="464515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CHECKPOINT</a:t>
            </a:r>
            <a:endParaRPr lang="en-US" sz="1050" dirty="0"/>
          </a:p>
        </p:txBody>
      </p:sp>
      <p:sp>
        <p:nvSpPr>
          <p:cNvPr id="27" name="Text 25"/>
          <p:cNvSpPr txBox="1"/>
          <p:nvPr/>
        </p:nvSpPr>
        <p:spPr>
          <a:xfrm>
            <a:off x="7031736" y="4892040"/>
            <a:ext cx="4379976" cy="75895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Can you write a function with a required named String and an optional bool that defaults to false? If not, flag me now — the next two blocks assume it.</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0120" y="2084832"/>
            <a:ext cx="1371600" cy="1371600"/>
          </a:xfrm>
          <a:prstGeom prst="ellipse">
            <a:avLst/>
          </a:prstGeom>
          <a:solidFill>
            <a:srgbClr val="00767F"/>
          </a:solidFill>
          <a:ln w="19050">
            <a:solidFill>
              <a:srgbClr val="A8D65C"/>
            </a:solidFill>
            <a:prstDash val="solid"/>
          </a:ln>
        </p:spPr>
        <p:txBody>
          <a:bodyPr/>
          <a:lstStyle/>
          <a:p>
            <a:endParaRPr lang="en-CA"/>
          </a:p>
        </p:txBody>
      </p:sp>
      <p:sp>
        <p:nvSpPr>
          <p:cNvPr id="3" name="Text 1"/>
          <p:cNvSpPr txBox="1"/>
          <p:nvPr/>
        </p:nvSpPr>
        <p:spPr>
          <a:xfrm>
            <a:off x="960120" y="2084832"/>
            <a:ext cx="13716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3</a:t>
            </a:r>
            <a:endParaRPr lang="en-US" sz="4000" dirty="0"/>
          </a:p>
        </p:txBody>
      </p:sp>
      <p:sp>
        <p:nvSpPr>
          <p:cNvPr id="4" name="Text 2"/>
          <p:cNvSpPr txBox="1"/>
          <p:nvPr/>
        </p:nvSpPr>
        <p:spPr>
          <a:xfrm>
            <a:off x="2743200" y="1993392"/>
            <a:ext cx="859536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Lists</a:t>
            </a:r>
            <a:endParaRPr lang="en-US" sz="4000" dirty="0"/>
          </a:p>
        </p:txBody>
      </p:sp>
      <p:sp>
        <p:nvSpPr>
          <p:cNvPr id="5" name="Text 3"/>
          <p:cNvSpPr txBox="1"/>
          <p:nvPr/>
        </p:nvSpPr>
        <p:spPr>
          <a:xfrm>
            <a:off x="2788920" y="2788920"/>
            <a:ext cx="81381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Dart's workhorse collection — and the thing behind every scrolling screen you'll build.</a:t>
            </a:r>
            <a:endParaRPr lang="en-US" sz="1600" dirty="0"/>
          </a:p>
        </p:txBody>
      </p:sp>
      <p:sp>
        <p:nvSpPr>
          <p:cNvPr id="6" name="Text 4"/>
          <p:cNvSpPr txBox="1"/>
          <p:nvPr/>
        </p:nvSpPr>
        <p:spPr>
          <a:xfrm>
            <a:off x="2788920" y="3703320"/>
            <a:ext cx="8138160" cy="13716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Literals, types, and growable vs fixed length</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Reading and changing items safely</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Three ways to iterate — and when each is right</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map / where / reduce: transforming instead of looping</a:t>
            </a:r>
            <a:endParaRPr lang="en-US" sz="1450" dirty="0"/>
          </a:p>
        </p:txBody>
      </p:sp>
      <p:sp>
        <p:nvSpPr>
          <p:cNvPr id="7" name="Text 5"/>
          <p:cNvSpPr txBox="1"/>
          <p:nvPr/>
        </p:nvSpPr>
        <p:spPr>
          <a:xfrm>
            <a:off x="960120" y="3749040"/>
            <a:ext cx="1463040" cy="320040"/>
          </a:xfrm>
          <a:prstGeom prst="rect">
            <a:avLst/>
          </a:prstGeom>
          <a:noFill/>
          <a:ln/>
        </p:spPr>
        <p:txBody>
          <a:bodyPr wrap="square" lIns="0" tIns="0" rIns="0" bIns="0" rtlCol="0" anchor="ctr"/>
          <a:lstStyle/>
          <a:p>
            <a:pPr marL="0" indent="0" algn="ctr">
              <a:buNone/>
            </a:pPr>
            <a:r>
              <a:rPr lang="en-US" sz="1200" b="1" dirty="0">
                <a:solidFill>
                  <a:srgbClr val="A8D65C"/>
                </a:solidFill>
                <a:latin typeface="Calibri" pitchFamily="34" charset="0"/>
                <a:ea typeface="Calibri" pitchFamily="34" charset="-122"/>
                <a:cs typeface="Calibri" pitchFamily="34" charset="-120"/>
              </a:rPr>
              <a:t>22 min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BASICS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Creating a List</a:t>
            </a:r>
            <a:endParaRPr lang="en-US" sz="3200" dirty="0"/>
          </a:p>
        </p:txBody>
      </p:sp>
      <p:sp>
        <p:nvSpPr>
          <p:cNvPr id="4" name="Text 2"/>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0:45 – 1:07</a:t>
            </a:r>
            <a:endParaRPr lang="en-US" sz="110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20</a:t>
            </a:r>
            <a:endParaRPr lang="en-US" sz="950" dirty="0"/>
          </a:p>
        </p:txBody>
      </p:sp>
      <p:sp>
        <p:nvSpPr>
          <p:cNvPr id="7" name="Shape 5"/>
          <p:cNvSpPr/>
          <p:nvPr/>
        </p:nvSpPr>
        <p:spPr>
          <a:xfrm>
            <a:off x="566928" y="1371600"/>
            <a:ext cx="6446520" cy="2834640"/>
          </a:xfrm>
          <a:prstGeom prst="roundRect">
            <a:avLst>
              <a:gd name="adj" fmla="val 1935"/>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472184"/>
            <a:ext cx="60441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FOUR WAYS TO MAKE ONE</a:t>
            </a:r>
            <a:endParaRPr lang="en-US" sz="1050" dirty="0"/>
          </a:p>
        </p:txBody>
      </p:sp>
      <p:sp>
        <p:nvSpPr>
          <p:cNvPr id="9" name="Text 7"/>
          <p:cNvSpPr txBox="1"/>
          <p:nvPr/>
        </p:nvSpPr>
        <p:spPr>
          <a:xfrm>
            <a:off x="768096" y="1773936"/>
            <a:ext cx="6080760" cy="2322576"/>
          </a:xfrm>
          <a:prstGeom prst="rect">
            <a:avLst/>
          </a:prstGeom>
          <a:noFill/>
          <a:ln/>
        </p:spPr>
        <p:txBody>
          <a:bodyPr wrap="square" lIns="0" tIns="0" rIns="0" bIns="0" rtlCol="0" anchor="t"/>
          <a:lstStyle/>
          <a:p>
            <a:pPr marL="0" indent="0">
              <a:lnSpc>
                <a:spcPct val="106000"/>
              </a:lnSpc>
              <a:buNone/>
            </a:pPr>
            <a:r>
              <a:rPr lang="en-US" sz="1073" i="1" dirty="0">
                <a:solidFill>
                  <a:srgbClr val="7FA6BD"/>
                </a:solidFill>
                <a:latin typeface="Courier New" pitchFamily="34" charset="0"/>
                <a:ea typeface="Courier New" pitchFamily="34" charset="-122"/>
                <a:cs typeface="Courier New" pitchFamily="34" charset="-120"/>
              </a:rPr>
              <a:t>// 1 · literal — type is inferred</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var marks = [88, 74, 91];        // List&lt;int&gt;</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 </a:t>
            </a:r>
            <a:endParaRPr lang="en-US" sz="1073" dirty="0"/>
          </a:p>
          <a:p>
            <a:pPr marL="0" indent="0">
              <a:lnSpc>
                <a:spcPct val="106000"/>
              </a:lnSpc>
              <a:buNone/>
            </a:pPr>
            <a:r>
              <a:rPr lang="en-US" sz="1073" i="1" dirty="0">
                <a:solidFill>
                  <a:srgbClr val="7FA6BD"/>
                </a:solidFill>
                <a:latin typeface="Courier New" pitchFamily="34" charset="0"/>
                <a:ea typeface="Courier New" pitchFamily="34" charset="-122"/>
                <a:cs typeface="Courier New" pitchFamily="34" charset="-120"/>
              </a:rPr>
              <a:t>// 2 · literal with an explicit type</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List&lt;String&gt; names = ['Ana', 'Bo'];</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 </a:t>
            </a:r>
            <a:endParaRPr lang="en-US" sz="1073" dirty="0"/>
          </a:p>
          <a:p>
            <a:pPr marL="0" indent="0">
              <a:lnSpc>
                <a:spcPct val="106000"/>
              </a:lnSpc>
              <a:buNone/>
            </a:pPr>
            <a:r>
              <a:rPr lang="en-US" sz="1073" i="1" dirty="0">
                <a:solidFill>
                  <a:srgbClr val="7FA6BD"/>
                </a:solidFill>
                <a:latin typeface="Courier New" pitchFamily="34" charset="0"/>
                <a:ea typeface="Courier New" pitchFamily="34" charset="-122"/>
                <a:cs typeface="Courier New" pitchFamily="34" charset="-120"/>
              </a:rPr>
              <a:t>// 3 · empty — the type MUST be stated</a:t>
            </a:r>
            <a:endParaRPr lang="en-US" sz="1073" dirty="0"/>
          </a:p>
          <a:p>
            <a:pPr marL="0" indent="0">
              <a:lnSpc>
                <a:spcPct val="106000"/>
              </a:lnSpc>
              <a:buNone/>
            </a:pPr>
            <a:r>
              <a:rPr lang="en-US" sz="1073" b="1" dirty="0">
                <a:solidFill>
                  <a:srgbClr val="C8EE7E"/>
                </a:solidFill>
                <a:latin typeface="Courier New" pitchFamily="34" charset="0"/>
                <a:ea typeface="Courier New" pitchFamily="34" charset="-122"/>
                <a:cs typeface="Courier New" pitchFamily="34" charset="-120"/>
              </a:rPr>
              <a:t>var scores = &lt;double&gt;[];         // List&lt;double&gt;</a:t>
            </a:r>
            <a:endParaRPr lang="en-US" sz="1073" dirty="0"/>
          </a:p>
          <a:p>
            <a:pPr marL="0" indent="0">
              <a:lnSpc>
                <a:spcPct val="106000"/>
              </a:lnSpc>
              <a:buNone/>
            </a:pPr>
            <a:r>
              <a:rPr lang="en-US" sz="1073" b="1" dirty="0">
                <a:solidFill>
                  <a:srgbClr val="C8EE7E"/>
                </a:solidFill>
                <a:latin typeface="Courier New" pitchFamily="34" charset="0"/>
                <a:ea typeface="Courier New" pitchFamily="34" charset="-122"/>
                <a:cs typeface="Courier New" pitchFamily="34" charset="-120"/>
              </a:rPr>
              <a:t>var wrong = [];                  // List&lt;dynamic&gt; — avoid</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 </a:t>
            </a:r>
            <a:endParaRPr lang="en-US" sz="1073" dirty="0"/>
          </a:p>
          <a:p>
            <a:pPr marL="0" indent="0">
              <a:lnSpc>
                <a:spcPct val="106000"/>
              </a:lnSpc>
              <a:buNone/>
            </a:pPr>
            <a:r>
              <a:rPr lang="en-US" sz="1073" i="1" dirty="0">
                <a:solidFill>
                  <a:srgbClr val="7FA6BD"/>
                </a:solidFill>
                <a:latin typeface="Courier New" pitchFamily="34" charset="0"/>
                <a:ea typeface="Courier New" pitchFamily="34" charset="-122"/>
                <a:cs typeface="Courier New" pitchFamily="34" charset="-120"/>
              </a:rPr>
              <a:t>// 4 · generated</a:t>
            </a:r>
            <a:endParaRPr lang="en-US" sz="1073" dirty="0"/>
          </a:p>
          <a:p>
            <a:pPr marL="0" indent="0">
              <a:lnSpc>
                <a:spcPct val="106000"/>
              </a:lnSpc>
              <a:buNone/>
            </a:pPr>
            <a:r>
              <a:rPr lang="en-US" sz="1073" dirty="0">
                <a:solidFill>
                  <a:srgbClr val="EAF2F7"/>
                </a:solidFill>
                <a:latin typeface="Courier New" pitchFamily="34" charset="0"/>
                <a:ea typeface="Courier New" pitchFamily="34" charset="-122"/>
                <a:cs typeface="Courier New" pitchFamily="34" charset="-120"/>
              </a:rPr>
              <a:t>final squares = List.generate(5, (i) =&gt; i * i);</a:t>
            </a:r>
            <a:endParaRPr lang="en-US" sz="1073" dirty="0"/>
          </a:p>
          <a:p>
            <a:pPr marL="0" indent="0">
              <a:lnSpc>
                <a:spcPct val="106000"/>
              </a:lnSpc>
              <a:buNone/>
            </a:pPr>
            <a:r>
              <a:rPr lang="en-US" sz="1073" i="1" dirty="0">
                <a:solidFill>
                  <a:srgbClr val="A8D65C"/>
                </a:solidFill>
                <a:latin typeface="Courier New" pitchFamily="34" charset="0"/>
                <a:ea typeface="Courier New" pitchFamily="34" charset="-122"/>
                <a:cs typeface="Courier New" pitchFamily="34" charset="-120"/>
              </a:rPr>
              <a:t>[0, 1, 4, 9, 16]</a:t>
            </a:r>
            <a:endParaRPr lang="en-US" sz="1073" dirty="0"/>
          </a:p>
        </p:txBody>
      </p:sp>
      <p:sp>
        <p:nvSpPr>
          <p:cNvPr id="10" name="Text 8"/>
          <p:cNvSpPr txBox="1"/>
          <p:nvPr/>
        </p:nvSpPr>
        <p:spPr>
          <a:xfrm>
            <a:off x="7178040" y="1417320"/>
            <a:ext cx="4453128" cy="278892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List&lt;T&gt; — T is the element type</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A List&lt;int&gt; holds ints only. The compiler enforces it.</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Zero-based indexing</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marks[0] is the first item; marks.length - 1 is the last.</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Ordered</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Insertion order is preserved — unlike a Set or a Map.</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Duplicates allowed</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[88, 88, 74] is a perfectly good List.</a:t>
            </a:r>
            <a:endParaRPr lang="en-US" sz="1300" dirty="0"/>
          </a:p>
        </p:txBody>
      </p:sp>
      <p:sp>
        <p:nvSpPr>
          <p:cNvPr id="11" name="Shape 9"/>
          <p:cNvSpPr/>
          <p:nvPr/>
        </p:nvSpPr>
        <p:spPr>
          <a:xfrm>
            <a:off x="566928" y="4389120"/>
            <a:ext cx="5532120" cy="1417320"/>
          </a:xfrm>
          <a:prstGeom prst="roundRect">
            <a:avLst>
              <a:gd name="adj" fmla="val 3226"/>
            </a:avLst>
          </a:prstGeom>
          <a:solidFill>
            <a:srgbClr val="FDF3E3"/>
          </a:solidFill>
          <a:ln w="12700">
            <a:solidFill>
              <a:srgbClr val="E0A64B"/>
            </a:solidFill>
            <a:prstDash val="solid"/>
          </a:ln>
        </p:spPr>
        <p:txBody>
          <a:bodyPr/>
          <a:lstStyle/>
          <a:p>
            <a:endParaRPr lang="en-CA"/>
          </a:p>
        </p:txBody>
      </p:sp>
      <p:sp>
        <p:nvSpPr>
          <p:cNvPr id="12" name="Text 10"/>
          <p:cNvSpPr txBox="1"/>
          <p:nvPr/>
        </p:nvSpPr>
        <p:spPr>
          <a:xfrm>
            <a:off x="786384" y="4507992"/>
            <a:ext cx="3108960" cy="237744"/>
          </a:xfrm>
          <a:prstGeom prst="rect">
            <a:avLst/>
          </a:prstGeom>
          <a:noFill/>
          <a:ln/>
        </p:spPr>
        <p:txBody>
          <a:bodyPr wrap="square" lIns="0" tIns="0" rIns="0" bIns="0" rtlCol="0" anchor="ctr"/>
          <a:lstStyle/>
          <a:p>
            <a:pPr marL="0" indent="0">
              <a:buNone/>
            </a:pPr>
            <a:r>
              <a:rPr lang="en-US" sz="1050" b="1" kern="0" spc="140" dirty="0">
                <a:solidFill>
                  <a:srgbClr val="E0A64B"/>
                </a:solidFill>
                <a:latin typeface="Calibri" pitchFamily="34" charset="0"/>
                <a:ea typeface="Calibri" pitchFamily="34" charset="-122"/>
                <a:cs typeface="Calibri" pitchFamily="34" charset="-120"/>
              </a:rPr>
              <a:t>THE EMPTY-LIST TRAP</a:t>
            </a:r>
            <a:endParaRPr lang="en-US" sz="1050" dirty="0"/>
          </a:p>
        </p:txBody>
      </p:sp>
      <p:sp>
        <p:nvSpPr>
          <p:cNvPr id="13" name="Text 11"/>
          <p:cNvSpPr txBox="1"/>
          <p:nvPr/>
        </p:nvSpPr>
        <p:spPr>
          <a:xfrm>
            <a:off x="786384" y="4754880"/>
            <a:ext cx="5093208" cy="941832"/>
          </a:xfrm>
          <a:prstGeom prst="rect">
            <a:avLst/>
          </a:prstGeom>
          <a:noFill/>
          <a:ln/>
        </p:spPr>
        <p:txBody>
          <a:bodyPr wrap="square" lIns="0" tIns="0" rIns="0" bIns="0" rtlCol="0" anchor="t"/>
          <a:lstStyle/>
          <a:p>
            <a:pPr marL="0" indent="0">
              <a:lnSpc>
                <a:spcPct val="112000"/>
              </a:lnSpc>
              <a:buNone/>
            </a:pPr>
            <a:r>
              <a:rPr lang="en-US" sz="1300" dirty="0">
                <a:solidFill>
                  <a:srgbClr val="7A5312"/>
                </a:solidFill>
                <a:latin typeface="Calibri" pitchFamily="34" charset="0"/>
                <a:ea typeface="Calibri" pitchFamily="34" charset="-122"/>
                <a:cs typeface="Calibri" pitchFamily="34" charset="-120"/>
              </a:rPr>
              <a:t>var items = []; gives you a List&lt;dynamic&gt; — Dart had nothing to infer from. Write &lt;String&gt;[] instead. You'll thank yourself when autocomplete still works.</a:t>
            </a:r>
            <a:endParaRPr lang="en-US" sz="1300" dirty="0"/>
          </a:p>
        </p:txBody>
      </p:sp>
      <p:sp>
        <p:nvSpPr>
          <p:cNvPr id="14" name="Shape 12"/>
          <p:cNvSpPr/>
          <p:nvPr/>
        </p:nvSpPr>
        <p:spPr>
          <a:xfrm>
            <a:off x="6281928" y="4389120"/>
            <a:ext cx="5349240" cy="1417320"/>
          </a:xfrm>
          <a:prstGeom prst="roundRect">
            <a:avLst>
              <a:gd name="adj" fmla="val 3871"/>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5" name="Text 13"/>
          <p:cNvSpPr txBox="1"/>
          <p:nvPr/>
        </p:nvSpPr>
        <p:spPr>
          <a:xfrm>
            <a:off x="6483096" y="4489704"/>
            <a:ext cx="4946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GROWABLE VS FIXED LENGTH</a:t>
            </a:r>
            <a:endParaRPr lang="en-US" sz="1050" dirty="0"/>
          </a:p>
        </p:txBody>
      </p:sp>
      <p:sp>
        <p:nvSpPr>
          <p:cNvPr id="16" name="Text 14"/>
          <p:cNvSpPr txBox="1"/>
          <p:nvPr/>
        </p:nvSpPr>
        <p:spPr>
          <a:xfrm>
            <a:off x="6483096" y="4791456"/>
            <a:ext cx="4983480" cy="905256"/>
          </a:xfrm>
          <a:prstGeom prst="rect">
            <a:avLst/>
          </a:prstGeom>
          <a:noFill/>
          <a:ln/>
        </p:spPr>
        <p:txBody>
          <a:bodyPr wrap="square" lIns="0" tIns="0" rIns="0" bIns="0" rtlCol="0" anchor="t"/>
          <a:lstStyle/>
          <a:p>
            <a:pPr marL="0" indent="0">
              <a:lnSpc>
                <a:spcPct val="106000"/>
              </a:lnSpc>
              <a:buNone/>
            </a:pPr>
            <a:r>
              <a:rPr lang="en-US" sz="1046" dirty="0">
                <a:solidFill>
                  <a:srgbClr val="EAF2F7"/>
                </a:solidFill>
                <a:latin typeface="Courier New" pitchFamily="34" charset="0"/>
                <a:ea typeface="Courier New" pitchFamily="34" charset="-122"/>
                <a:cs typeface="Courier New" pitchFamily="34" charset="-120"/>
              </a:rPr>
              <a:t>var a = [1, 2];                 // growable</a:t>
            </a:r>
            <a:endParaRPr lang="en-US" sz="1046" dirty="0"/>
          </a:p>
          <a:p>
            <a:pPr marL="0" indent="0">
              <a:lnSpc>
                <a:spcPct val="106000"/>
              </a:lnSpc>
              <a:buNone/>
            </a:pPr>
            <a:r>
              <a:rPr lang="en-US" sz="1046" dirty="0">
                <a:solidFill>
                  <a:srgbClr val="EAF2F7"/>
                </a:solidFill>
                <a:latin typeface="Courier New" pitchFamily="34" charset="0"/>
                <a:ea typeface="Courier New" pitchFamily="34" charset="-122"/>
                <a:cs typeface="Courier New" pitchFamily="34" charset="-120"/>
              </a:rPr>
              <a:t>a.add(3);                       // fine</a:t>
            </a:r>
            <a:endParaRPr lang="en-US" sz="1046" dirty="0"/>
          </a:p>
          <a:p>
            <a:pPr marL="0" indent="0">
              <a:lnSpc>
                <a:spcPct val="106000"/>
              </a:lnSpc>
              <a:buNone/>
            </a:pPr>
            <a:r>
              <a:rPr lang="en-US" sz="1046" dirty="0">
                <a:solidFill>
                  <a:srgbClr val="EAF2F7"/>
                </a:solidFill>
                <a:latin typeface="Courier New" pitchFamily="34" charset="0"/>
                <a:ea typeface="Courier New" pitchFamily="34" charset="-122"/>
                <a:cs typeface="Courier New" pitchFamily="34" charset="-120"/>
              </a:rPr>
              <a:t> </a:t>
            </a:r>
            <a:endParaRPr lang="en-US" sz="1046" dirty="0"/>
          </a:p>
          <a:p>
            <a:pPr marL="0" indent="0">
              <a:lnSpc>
                <a:spcPct val="106000"/>
              </a:lnSpc>
              <a:buNone/>
            </a:pPr>
            <a:r>
              <a:rPr lang="en-US" sz="1046" dirty="0">
                <a:solidFill>
                  <a:srgbClr val="EAF2F7"/>
                </a:solidFill>
                <a:latin typeface="Courier New" pitchFamily="34" charset="0"/>
                <a:ea typeface="Courier New" pitchFamily="34" charset="-122"/>
                <a:cs typeface="Courier New" pitchFamily="34" charset="-120"/>
              </a:rPr>
              <a:t>var b = List.filled(2, 0);      // FIXED length</a:t>
            </a:r>
            <a:endParaRPr lang="en-US" sz="1046" dirty="0"/>
          </a:p>
          <a:p>
            <a:pPr marL="0" indent="0">
              <a:lnSpc>
                <a:spcPct val="106000"/>
              </a:lnSpc>
              <a:buNone/>
            </a:pPr>
            <a:r>
              <a:rPr lang="en-US" sz="1046" b="1" dirty="0">
                <a:solidFill>
                  <a:srgbClr val="C8EE7E"/>
                </a:solidFill>
                <a:latin typeface="Courier New" pitchFamily="34" charset="0"/>
                <a:ea typeface="Courier New" pitchFamily="34" charset="-122"/>
                <a:cs typeface="Courier New" pitchFamily="34" charset="-120"/>
              </a:rPr>
              <a:t>b.add(3);   // runtime: Unsupported operation</a:t>
            </a:r>
            <a:endParaRPr lang="en-US" sz="1046"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READING &amp; CHANGING</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Getting at the items</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21</a:t>
            </a:r>
            <a:endParaRPr lang="en-US" sz="950" dirty="0"/>
          </a:p>
        </p:txBody>
      </p:sp>
      <p:sp>
        <p:nvSpPr>
          <p:cNvPr id="6" name="Shape 4"/>
          <p:cNvSpPr/>
          <p:nvPr/>
        </p:nvSpPr>
        <p:spPr>
          <a:xfrm>
            <a:off x="566928" y="1371600"/>
            <a:ext cx="5806440" cy="4434840"/>
          </a:xfrm>
          <a:prstGeom prst="roundRect">
            <a:avLst>
              <a:gd name="adj" fmla="val 123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472184"/>
            <a:ext cx="54041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ESSENTIALS</a:t>
            </a:r>
            <a:endParaRPr lang="en-US" sz="1050" dirty="0"/>
          </a:p>
        </p:txBody>
      </p:sp>
      <p:sp>
        <p:nvSpPr>
          <p:cNvPr id="8" name="Text 6"/>
          <p:cNvSpPr txBox="1"/>
          <p:nvPr/>
        </p:nvSpPr>
        <p:spPr>
          <a:xfrm>
            <a:off x="768096" y="1773936"/>
            <a:ext cx="5440680" cy="3922776"/>
          </a:xfrm>
          <a:prstGeom prst="rect">
            <a:avLst/>
          </a:prstGeom>
          <a:noFill/>
          <a:ln/>
        </p:spPr>
        <p:txBody>
          <a:bodyPr wrap="square" lIns="0" tIns="0" rIns="0" bIns="0" rtlCol="0" anchor="t"/>
          <a:lstStyle/>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final marks = [88, 74, 91, 60];</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 </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marks[0];              // 88   read</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marks[1] = 80;         //      write</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marks.length;          // 4</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marks.first;           // 88</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marks.last;            // 60</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marks.isEmpty;         // false</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marks.isNotEmpty;      // true</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 </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marks.add(55);         // [88,80,91,60,55]</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marks.insert(0, 100);  // at the front</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marks.remove(60);      // removes the VALUE 60</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marks.removeAt(0);     // removes the INDEX 0</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marks.contains(91);    // true</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marks.indexOf(91);     // 1</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marks.sort();          // ascending, in place</a:t>
            </a:r>
            <a:endParaRPr lang="en-US" sz="1252" dirty="0"/>
          </a:p>
          <a:p>
            <a:pPr marL="0" indent="0">
              <a:lnSpc>
                <a:spcPct val="106000"/>
              </a:lnSpc>
              <a:buNone/>
            </a:pPr>
            <a:r>
              <a:rPr lang="en-US" sz="1252" dirty="0">
                <a:solidFill>
                  <a:srgbClr val="EAF2F7"/>
                </a:solidFill>
                <a:latin typeface="Courier New" pitchFamily="34" charset="0"/>
                <a:ea typeface="Courier New" pitchFamily="34" charset="-122"/>
                <a:cs typeface="Courier New" pitchFamily="34" charset="-120"/>
              </a:rPr>
              <a:t>marks.reversed;        // a lazy view, not a copy</a:t>
            </a:r>
            <a:endParaRPr lang="en-US" sz="1252" dirty="0"/>
          </a:p>
          <a:p>
            <a:pPr marL="0" indent="0">
              <a:lnSpc>
                <a:spcPct val="106000"/>
              </a:lnSpc>
              <a:buNone/>
            </a:pPr>
            <a:r>
              <a:rPr lang="en-US" sz="1252" b="1" dirty="0">
                <a:solidFill>
                  <a:srgbClr val="C8EE7E"/>
                </a:solidFill>
                <a:latin typeface="Courier New" pitchFamily="34" charset="0"/>
                <a:ea typeface="Courier New" pitchFamily="34" charset="-122"/>
                <a:cs typeface="Courier New" pitchFamily="34" charset="-120"/>
              </a:rPr>
              <a:t>marks[9];              // RangeError at runtime</a:t>
            </a:r>
            <a:endParaRPr lang="en-US" sz="1252" dirty="0"/>
          </a:p>
        </p:txBody>
      </p:sp>
      <p:sp>
        <p:nvSpPr>
          <p:cNvPr id="9" name="Shape 7"/>
          <p:cNvSpPr/>
          <p:nvPr/>
        </p:nvSpPr>
        <p:spPr>
          <a:xfrm>
            <a:off x="6537960" y="1371600"/>
            <a:ext cx="5093208" cy="1737360"/>
          </a:xfrm>
          <a:prstGeom prst="roundRect">
            <a:avLst>
              <a:gd name="adj" fmla="val 2632"/>
            </a:avLst>
          </a:prstGeom>
          <a:solidFill>
            <a:srgbClr val="FDF3E3"/>
          </a:solidFill>
          <a:ln w="12700">
            <a:solidFill>
              <a:srgbClr val="E0A64B"/>
            </a:solidFill>
            <a:prstDash val="solid"/>
          </a:ln>
        </p:spPr>
        <p:txBody>
          <a:bodyPr/>
          <a:lstStyle/>
          <a:p>
            <a:endParaRPr lang="en-CA"/>
          </a:p>
        </p:txBody>
      </p:sp>
      <p:sp>
        <p:nvSpPr>
          <p:cNvPr id="10" name="Text 8"/>
          <p:cNvSpPr txBox="1"/>
          <p:nvPr/>
        </p:nvSpPr>
        <p:spPr>
          <a:xfrm>
            <a:off x="6739128" y="1536192"/>
            <a:ext cx="4690872" cy="329184"/>
          </a:xfrm>
          <a:prstGeom prst="rect">
            <a:avLst/>
          </a:prstGeom>
          <a:noFill/>
          <a:ln/>
        </p:spPr>
        <p:txBody>
          <a:bodyPr wrap="square" lIns="0" tIns="0" rIns="0" bIns="0" rtlCol="0" anchor="ctr"/>
          <a:lstStyle/>
          <a:p>
            <a:pPr marL="0" indent="0">
              <a:buNone/>
            </a:pPr>
            <a:r>
              <a:rPr lang="en-US" sz="1600" b="1" dirty="0">
                <a:solidFill>
                  <a:srgbClr val="7A5312"/>
                </a:solidFill>
                <a:latin typeface="Calibri" pitchFamily="34" charset="0"/>
                <a:ea typeface="Calibri" pitchFamily="34" charset="-122"/>
                <a:cs typeface="Calibri" pitchFamily="34" charset="-120"/>
              </a:rPr>
              <a:t>remove vs removeAt</a:t>
            </a:r>
            <a:endParaRPr lang="en-US" sz="1600" dirty="0"/>
          </a:p>
        </p:txBody>
      </p:sp>
      <p:sp>
        <p:nvSpPr>
          <p:cNvPr id="11" name="Text 9"/>
          <p:cNvSpPr txBox="1"/>
          <p:nvPr/>
        </p:nvSpPr>
        <p:spPr>
          <a:xfrm>
            <a:off x="6739128" y="1938528"/>
            <a:ext cx="4690872" cy="950976"/>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remove(60) hunts for the value 60. removeAt(0) deletes whatever sits at position 0. With a List&lt;int&gt; these look identical at the call site and do completely different things — this is a classic off-by-meaning bug.</a:t>
            </a:r>
            <a:endParaRPr lang="en-US" sz="1250" dirty="0"/>
          </a:p>
        </p:txBody>
      </p:sp>
      <p:sp>
        <p:nvSpPr>
          <p:cNvPr id="12" name="Shape 10"/>
          <p:cNvSpPr/>
          <p:nvPr/>
        </p:nvSpPr>
        <p:spPr>
          <a:xfrm>
            <a:off x="6537960" y="3246120"/>
            <a:ext cx="5093208" cy="1280160"/>
          </a:xfrm>
          <a:prstGeom prst="roundRect">
            <a:avLst>
              <a:gd name="adj" fmla="val 3571"/>
            </a:avLst>
          </a:prstGeom>
          <a:solidFill>
            <a:srgbClr val="E4F1F2"/>
          </a:solidFill>
          <a:ln/>
        </p:spPr>
        <p:txBody>
          <a:bodyPr/>
          <a:lstStyle/>
          <a:p>
            <a:endParaRPr lang="en-CA"/>
          </a:p>
        </p:txBody>
      </p:sp>
      <p:sp>
        <p:nvSpPr>
          <p:cNvPr id="13" name="Text 11"/>
          <p:cNvSpPr txBox="1"/>
          <p:nvPr/>
        </p:nvSpPr>
        <p:spPr>
          <a:xfrm>
            <a:off x="6739128" y="3410712"/>
            <a:ext cx="469087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sort() mutates</a:t>
            </a:r>
            <a:endParaRPr lang="en-US" sz="1600" dirty="0"/>
          </a:p>
        </p:txBody>
      </p:sp>
      <p:sp>
        <p:nvSpPr>
          <p:cNvPr id="14" name="Text 12"/>
          <p:cNvSpPr txBox="1"/>
          <p:nvPr/>
        </p:nvSpPr>
        <p:spPr>
          <a:xfrm>
            <a:off x="6739128" y="3813048"/>
            <a:ext cx="4690872" cy="493776"/>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marks.sort() reorders the original list and returns void. If you need the original order kept, sort a copy: [...marks]..sort().</a:t>
            </a:r>
            <a:endParaRPr lang="en-US" sz="1250" dirty="0"/>
          </a:p>
        </p:txBody>
      </p:sp>
      <p:sp>
        <p:nvSpPr>
          <p:cNvPr id="15" name="Shape 13"/>
          <p:cNvSpPr/>
          <p:nvPr/>
        </p:nvSpPr>
        <p:spPr>
          <a:xfrm>
            <a:off x="6537960" y="4663440"/>
            <a:ext cx="5093208" cy="1143000"/>
          </a:xfrm>
          <a:prstGeom prst="roundRect">
            <a:avLst>
              <a:gd name="adj" fmla="val 4000"/>
            </a:avLst>
          </a:prstGeom>
          <a:solidFill>
            <a:srgbClr val="FDF3E3"/>
          </a:solidFill>
          <a:ln w="12700">
            <a:solidFill>
              <a:srgbClr val="E0A64B"/>
            </a:solidFill>
            <a:prstDash val="solid"/>
          </a:ln>
        </p:spPr>
        <p:txBody>
          <a:bodyPr/>
          <a:lstStyle/>
          <a:p>
            <a:endParaRPr lang="en-CA"/>
          </a:p>
        </p:txBody>
      </p:sp>
      <p:sp>
        <p:nvSpPr>
          <p:cNvPr id="16" name="Text 14"/>
          <p:cNvSpPr txBox="1"/>
          <p:nvPr/>
        </p:nvSpPr>
        <p:spPr>
          <a:xfrm>
            <a:off x="6757416" y="4782312"/>
            <a:ext cx="3108960" cy="237744"/>
          </a:xfrm>
          <a:prstGeom prst="rect">
            <a:avLst/>
          </a:prstGeom>
          <a:noFill/>
          <a:ln/>
        </p:spPr>
        <p:txBody>
          <a:bodyPr wrap="square" lIns="0" tIns="0" rIns="0" bIns="0" rtlCol="0" anchor="ctr"/>
          <a:lstStyle/>
          <a:p>
            <a:pPr marL="0" indent="0">
              <a:buNone/>
            </a:pPr>
            <a:r>
              <a:rPr lang="en-US" sz="1050" b="1" kern="0" spc="140" dirty="0">
                <a:solidFill>
                  <a:srgbClr val="E0A64B"/>
                </a:solidFill>
                <a:latin typeface="Calibri" pitchFamily="34" charset="0"/>
                <a:ea typeface="Calibri" pitchFamily="34" charset="-122"/>
                <a:cs typeface="Calibri" pitchFamily="34" charset="-120"/>
              </a:rPr>
              <a:t>RANGEERROR</a:t>
            </a:r>
            <a:endParaRPr lang="en-US" sz="1050" dirty="0"/>
          </a:p>
        </p:txBody>
      </p:sp>
      <p:sp>
        <p:nvSpPr>
          <p:cNvPr id="17" name="Text 15"/>
          <p:cNvSpPr txBox="1"/>
          <p:nvPr/>
        </p:nvSpPr>
        <p:spPr>
          <a:xfrm>
            <a:off x="6757416" y="5029200"/>
            <a:ext cx="4654296" cy="667512"/>
          </a:xfrm>
          <a:prstGeom prst="rect">
            <a:avLst/>
          </a:prstGeom>
          <a:noFill/>
          <a:ln/>
        </p:spPr>
        <p:txBody>
          <a:bodyPr wrap="square" lIns="0" tIns="0" rIns="0" bIns="0" rtlCol="0" anchor="t"/>
          <a:lstStyle/>
          <a:p>
            <a:pPr marL="0" indent="0">
              <a:lnSpc>
                <a:spcPct val="112000"/>
              </a:lnSpc>
              <a:buNone/>
            </a:pPr>
            <a:r>
              <a:rPr lang="en-US" sz="1300" dirty="0">
                <a:solidFill>
                  <a:srgbClr val="7A5312"/>
                </a:solidFill>
                <a:latin typeface="Calibri" pitchFamily="34" charset="0"/>
                <a:ea typeface="Calibri" pitchFamily="34" charset="-122"/>
                <a:cs typeface="Calibri" pitchFamily="34" charset="-120"/>
              </a:rPr>
              <a:t>Indexing past the end is a runtime crash, not a compile error — the compiler can't know the length. Guard with isNotEmpty or a bounds check.</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ITERATION</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Three ways to walk a List</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They all work. Choosing well is a readability decision, not a performance one.</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22</a:t>
            </a:r>
            <a:endParaRPr lang="en-US" sz="950" dirty="0"/>
          </a:p>
        </p:txBody>
      </p:sp>
      <p:sp>
        <p:nvSpPr>
          <p:cNvPr id="7" name="Shape 5"/>
          <p:cNvSpPr/>
          <p:nvPr/>
        </p:nvSpPr>
        <p:spPr>
          <a:xfrm>
            <a:off x="566928" y="1828800"/>
            <a:ext cx="3566160" cy="2331720"/>
          </a:xfrm>
          <a:prstGeom prst="roundRect">
            <a:avLst>
              <a:gd name="adj" fmla="val 23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31638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CLASSIC FOR</a:t>
            </a:r>
            <a:endParaRPr lang="en-US" sz="1050" dirty="0"/>
          </a:p>
        </p:txBody>
      </p:sp>
      <p:sp>
        <p:nvSpPr>
          <p:cNvPr id="9" name="Text 7"/>
          <p:cNvSpPr txBox="1"/>
          <p:nvPr/>
        </p:nvSpPr>
        <p:spPr>
          <a:xfrm>
            <a:off x="768096" y="2231136"/>
            <a:ext cx="3200400" cy="1819656"/>
          </a:xfrm>
          <a:prstGeom prst="rect">
            <a:avLst/>
          </a:prstGeom>
          <a:noFill/>
          <a:ln/>
        </p:spPr>
        <p:txBody>
          <a:bodyPr wrap="square" lIns="0" tIns="0" rIns="0" bIns="0" rtlCol="0" anchor="t"/>
          <a:lstStyle/>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for (var i = 0;</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i &lt; marks.length;</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i++) {</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print('$i: ${marks[i]}');</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Use when you need</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the index itself.</a:t>
            </a:r>
            <a:endParaRPr lang="en-US" sz="1200" dirty="0"/>
          </a:p>
        </p:txBody>
      </p:sp>
      <p:sp>
        <p:nvSpPr>
          <p:cNvPr id="10" name="Shape 8"/>
          <p:cNvSpPr/>
          <p:nvPr/>
        </p:nvSpPr>
        <p:spPr>
          <a:xfrm>
            <a:off x="4315968" y="1828800"/>
            <a:ext cx="3566160" cy="2331720"/>
          </a:xfrm>
          <a:prstGeom prst="roundRect">
            <a:avLst>
              <a:gd name="adj" fmla="val 23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4517136" y="1929384"/>
            <a:ext cx="31638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FOR-IN</a:t>
            </a:r>
            <a:endParaRPr lang="en-US" sz="1050" dirty="0"/>
          </a:p>
        </p:txBody>
      </p:sp>
      <p:sp>
        <p:nvSpPr>
          <p:cNvPr id="12" name="Text 10"/>
          <p:cNvSpPr txBox="1"/>
          <p:nvPr/>
        </p:nvSpPr>
        <p:spPr>
          <a:xfrm>
            <a:off x="4517136" y="2231136"/>
            <a:ext cx="3200400" cy="1819656"/>
          </a:xfrm>
          <a:prstGeom prst="rect">
            <a:avLst/>
          </a:prstGeom>
          <a:noFill/>
          <a:ln/>
        </p:spPr>
        <p:txBody>
          <a:bodyPr wrap="square" lIns="0" tIns="0" rIns="0" bIns="0" rtlCol="0" anchor="t"/>
          <a:lstStyle/>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for (final m in marks) {</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print(m);</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The default choice.</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No index bookkeeping,</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so no off-by-one.</a:t>
            </a:r>
            <a:endParaRPr lang="en-US" sz="1200" dirty="0"/>
          </a:p>
        </p:txBody>
      </p:sp>
      <p:sp>
        <p:nvSpPr>
          <p:cNvPr id="13" name="Shape 11"/>
          <p:cNvSpPr/>
          <p:nvPr/>
        </p:nvSpPr>
        <p:spPr>
          <a:xfrm>
            <a:off x="8065008" y="1828800"/>
            <a:ext cx="3566160" cy="2331720"/>
          </a:xfrm>
          <a:prstGeom prst="roundRect">
            <a:avLst>
              <a:gd name="adj" fmla="val 23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4" name="Text 12"/>
          <p:cNvSpPr txBox="1"/>
          <p:nvPr/>
        </p:nvSpPr>
        <p:spPr>
          <a:xfrm>
            <a:off x="8266176" y="1929384"/>
            <a:ext cx="31638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FOREACH</a:t>
            </a:r>
            <a:endParaRPr lang="en-US" sz="1050" dirty="0"/>
          </a:p>
        </p:txBody>
      </p:sp>
      <p:sp>
        <p:nvSpPr>
          <p:cNvPr id="15" name="Text 13"/>
          <p:cNvSpPr txBox="1"/>
          <p:nvPr/>
        </p:nvSpPr>
        <p:spPr>
          <a:xfrm>
            <a:off x="8266176" y="2231136"/>
            <a:ext cx="3200400" cy="1819656"/>
          </a:xfrm>
          <a:prstGeom prst="rect">
            <a:avLst/>
          </a:prstGeom>
          <a:noFill/>
          <a:ln/>
        </p:spPr>
        <p:txBody>
          <a:bodyPr wrap="square" lIns="0" tIns="0" rIns="0" bIns="0" rtlCol="0" anchor="t"/>
          <a:lstStyle/>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marks.forEach((m) {</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print(m);</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marks.forEach(print);</a:t>
            </a:r>
            <a:endParaRPr lang="en-US" sz="1200" dirty="0"/>
          </a:p>
          <a:p>
            <a:pPr marL="0" indent="0">
              <a:lnSpc>
                <a:spcPct val="106000"/>
              </a:lnSpc>
              <a:buNone/>
            </a:pPr>
            <a:r>
              <a:rPr lang="en-US" sz="1200" dirty="0">
                <a:solidFill>
                  <a:srgbClr val="EAF2F7"/>
                </a:solidFill>
                <a:latin typeface="Courier New" pitchFamily="34" charset="0"/>
                <a:ea typeface="Courier New" pitchFamily="34" charset="-122"/>
                <a:cs typeface="Courier New" pitchFamily="34" charset="-120"/>
              </a:rPr>
              <a:t> </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Takes a function.</a:t>
            </a:r>
            <a:endParaRPr lang="en-US" sz="1200" dirty="0"/>
          </a:p>
          <a:p>
            <a:pPr marL="0" indent="0">
              <a:lnSpc>
                <a:spcPct val="106000"/>
              </a:lnSpc>
              <a:buNone/>
            </a:pPr>
            <a:r>
              <a:rPr lang="en-US" sz="1200" i="1" dirty="0">
                <a:solidFill>
                  <a:srgbClr val="7FA6BD"/>
                </a:solidFill>
                <a:latin typeface="Courier New" pitchFamily="34" charset="0"/>
                <a:ea typeface="Courier New" pitchFamily="34" charset="-122"/>
                <a:cs typeface="Courier New" pitchFamily="34" charset="-120"/>
              </a:rPr>
              <a:t>// Can't break out of it.</a:t>
            </a:r>
            <a:endParaRPr lang="en-US" sz="1200" dirty="0"/>
          </a:p>
        </p:txBody>
      </p:sp>
      <p:sp>
        <p:nvSpPr>
          <p:cNvPr id="16" name="Shape 14"/>
          <p:cNvSpPr/>
          <p:nvPr/>
        </p:nvSpPr>
        <p:spPr>
          <a:xfrm>
            <a:off x="566928" y="4343400"/>
            <a:ext cx="5532120" cy="1417320"/>
          </a:xfrm>
          <a:prstGeom prst="roundRect">
            <a:avLst>
              <a:gd name="adj" fmla="val 3226"/>
            </a:avLst>
          </a:prstGeom>
          <a:solidFill>
            <a:srgbClr val="E4F1F2"/>
          </a:solidFill>
          <a:ln w="12700">
            <a:solidFill>
              <a:srgbClr val="0E9AA3"/>
            </a:solidFill>
            <a:prstDash val="solid"/>
          </a:ln>
        </p:spPr>
        <p:txBody>
          <a:bodyPr/>
          <a:lstStyle/>
          <a:p>
            <a:endParaRPr lang="en-CA"/>
          </a:p>
        </p:txBody>
      </p:sp>
      <p:sp>
        <p:nvSpPr>
          <p:cNvPr id="17" name="Text 15"/>
          <p:cNvSpPr txBox="1"/>
          <p:nvPr/>
        </p:nvSpPr>
        <p:spPr>
          <a:xfrm>
            <a:off x="786384" y="446227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PICK FOR-IN BY DEFAULT</a:t>
            </a:r>
            <a:endParaRPr lang="en-US" sz="1050" dirty="0"/>
          </a:p>
        </p:txBody>
      </p:sp>
      <p:sp>
        <p:nvSpPr>
          <p:cNvPr id="18" name="Text 16"/>
          <p:cNvSpPr txBox="1"/>
          <p:nvPr/>
        </p:nvSpPr>
        <p:spPr>
          <a:xfrm>
            <a:off x="786384" y="4709160"/>
            <a:ext cx="5093208" cy="94183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for-in is the clearest and can't go out of bounds. Reach for the classic for loop only when the index is genuinely part of the problem — printing a numbered list, or comparing item i with item i-1.</a:t>
            </a:r>
            <a:endParaRPr lang="en-US" sz="1300" dirty="0"/>
          </a:p>
        </p:txBody>
      </p:sp>
      <p:sp>
        <p:nvSpPr>
          <p:cNvPr id="19" name="Shape 17"/>
          <p:cNvSpPr/>
          <p:nvPr/>
        </p:nvSpPr>
        <p:spPr>
          <a:xfrm>
            <a:off x="6281928" y="4343400"/>
            <a:ext cx="5349240" cy="1417320"/>
          </a:xfrm>
          <a:prstGeom prst="roundRect">
            <a:avLst>
              <a:gd name="adj" fmla="val 3226"/>
            </a:avLst>
          </a:prstGeom>
          <a:solidFill>
            <a:srgbClr val="FDF3E3"/>
          </a:solidFill>
          <a:ln w="12700">
            <a:solidFill>
              <a:srgbClr val="E0A64B"/>
            </a:solidFill>
            <a:prstDash val="solid"/>
          </a:ln>
        </p:spPr>
        <p:txBody>
          <a:bodyPr/>
          <a:lstStyle/>
          <a:p>
            <a:endParaRPr lang="en-CA"/>
          </a:p>
        </p:txBody>
      </p:sp>
      <p:sp>
        <p:nvSpPr>
          <p:cNvPr id="20" name="Text 18"/>
          <p:cNvSpPr txBox="1"/>
          <p:nvPr/>
        </p:nvSpPr>
        <p:spPr>
          <a:xfrm>
            <a:off x="6501384" y="4462272"/>
            <a:ext cx="3108960" cy="237744"/>
          </a:xfrm>
          <a:prstGeom prst="rect">
            <a:avLst/>
          </a:prstGeom>
          <a:noFill/>
          <a:ln/>
        </p:spPr>
        <p:txBody>
          <a:bodyPr wrap="square" lIns="0" tIns="0" rIns="0" bIns="0" rtlCol="0" anchor="ctr"/>
          <a:lstStyle/>
          <a:p>
            <a:pPr marL="0" indent="0">
              <a:buNone/>
            </a:pPr>
            <a:r>
              <a:rPr lang="en-US" sz="1050" b="1" kern="0" spc="140" dirty="0">
                <a:solidFill>
                  <a:srgbClr val="E0A64B"/>
                </a:solidFill>
                <a:latin typeface="Calibri" pitchFamily="34" charset="0"/>
                <a:ea typeface="Calibri" pitchFamily="34" charset="-122"/>
                <a:cs typeface="Calibri" pitchFamily="34" charset="-120"/>
              </a:rPr>
              <a:t>FOREACH LIMITATION</a:t>
            </a:r>
            <a:endParaRPr lang="en-US" sz="1050" dirty="0"/>
          </a:p>
        </p:txBody>
      </p:sp>
      <p:sp>
        <p:nvSpPr>
          <p:cNvPr id="21" name="Text 19"/>
          <p:cNvSpPr txBox="1"/>
          <p:nvPr/>
        </p:nvSpPr>
        <p:spPr>
          <a:xfrm>
            <a:off x="6501384" y="4709160"/>
            <a:ext cx="4910328" cy="941832"/>
          </a:xfrm>
          <a:prstGeom prst="rect">
            <a:avLst/>
          </a:prstGeom>
          <a:noFill/>
          <a:ln/>
        </p:spPr>
        <p:txBody>
          <a:bodyPr wrap="square" lIns="0" tIns="0" rIns="0" bIns="0" rtlCol="0" anchor="t"/>
          <a:lstStyle/>
          <a:p>
            <a:pPr marL="0" indent="0">
              <a:lnSpc>
                <a:spcPct val="112000"/>
              </a:lnSpc>
              <a:buNone/>
            </a:pPr>
            <a:r>
              <a:rPr lang="en-US" sz="1300" dirty="0">
                <a:solidFill>
                  <a:srgbClr val="7A5312"/>
                </a:solidFill>
                <a:latin typeface="Calibri" pitchFamily="34" charset="0"/>
                <a:ea typeface="Calibri" pitchFamily="34" charset="-122"/>
                <a:cs typeface="Calibri" pitchFamily="34" charset="-120"/>
              </a:rPr>
              <a:t>You cannot break or return out of a forEach — it's a function call, not a loop. If you need to stop early, use for-in.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THE PAYOFF</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map, where, reduce — transform instead of loop</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Remember functions-as-values from block 2? This is what it was for.</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23</a:t>
            </a:r>
            <a:endParaRPr lang="en-US" sz="950" dirty="0"/>
          </a:p>
        </p:txBody>
      </p:sp>
      <p:sp>
        <p:nvSpPr>
          <p:cNvPr id="7" name="Shape 5"/>
          <p:cNvSpPr/>
          <p:nvPr/>
        </p:nvSpPr>
        <p:spPr>
          <a:xfrm>
            <a:off x="566928" y="1828800"/>
            <a:ext cx="6675120" cy="3794760"/>
          </a:xfrm>
          <a:prstGeom prst="roundRect">
            <a:avLst>
              <a:gd name="adj" fmla="val 1446"/>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62727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SAME QUESTION, TWO WAYS</a:t>
            </a:r>
            <a:endParaRPr lang="en-US" sz="1050" dirty="0"/>
          </a:p>
        </p:txBody>
      </p:sp>
      <p:sp>
        <p:nvSpPr>
          <p:cNvPr id="9" name="Text 7"/>
          <p:cNvSpPr txBox="1"/>
          <p:nvPr/>
        </p:nvSpPr>
        <p:spPr>
          <a:xfrm>
            <a:off x="768096" y="2231136"/>
            <a:ext cx="6309360" cy="3282696"/>
          </a:xfrm>
          <a:prstGeom prst="rect">
            <a:avLst/>
          </a:prstGeom>
          <a:noFill/>
          <a:ln/>
        </p:spPr>
        <p:txBody>
          <a:bodyPr wrap="square" lIns="0" tIns="0" rIns="0" bIns="0" rtlCol="0" anchor="t"/>
          <a:lstStyle/>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final marks = [88, 74, 91, 45, 60];</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 </a:t>
            </a:r>
            <a:endParaRPr lang="en-US" sz="1045" dirty="0"/>
          </a:p>
          <a:p>
            <a:pPr marL="0" indent="0">
              <a:lnSpc>
                <a:spcPct val="106000"/>
              </a:lnSpc>
              <a:buNone/>
            </a:pPr>
            <a:r>
              <a:rPr lang="en-US" sz="1045" i="1" dirty="0">
                <a:solidFill>
                  <a:srgbClr val="7FA6BD"/>
                </a:solidFill>
                <a:latin typeface="Courier New" pitchFamily="34" charset="0"/>
                <a:ea typeface="Courier New" pitchFamily="34" charset="-122"/>
                <a:cs typeface="Courier New" pitchFamily="34" charset="-120"/>
              </a:rPr>
              <a:t>// THE LOOP WAY</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var passing = &lt;int&gt;[];</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for (final m in marks) {</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  if (m &gt;= 50) passing.add(m);</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 </a:t>
            </a:r>
            <a:endParaRPr lang="en-US" sz="1045" dirty="0"/>
          </a:p>
          <a:p>
            <a:pPr marL="0" indent="0">
              <a:lnSpc>
                <a:spcPct val="106000"/>
              </a:lnSpc>
              <a:buNone/>
            </a:pPr>
            <a:r>
              <a:rPr lang="en-US" sz="1045" i="1" dirty="0">
                <a:solidFill>
                  <a:srgbClr val="7FA6BD"/>
                </a:solidFill>
                <a:latin typeface="Courier New" pitchFamily="34" charset="0"/>
                <a:ea typeface="Courier New" pitchFamily="34" charset="-122"/>
                <a:cs typeface="Courier New" pitchFamily="34" charset="-120"/>
              </a:rPr>
              <a:t>// THE TRANSFORM WAY</a:t>
            </a:r>
            <a:endParaRPr lang="en-US" sz="1045" dirty="0"/>
          </a:p>
          <a:p>
            <a:pPr marL="0" indent="0">
              <a:lnSpc>
                <a:spcPct val="106000"/>
              </a:lnSpc>
              <a:buNone/>
            </a:pPr>
            <a:r>
              <a:rPr lang="en-US" sz="1045" b="1" dirty="0">
                <a:solidFill>
                  <a:srgbClr val="C8EE7E"/>
                </a:solidFill>
                <a:latin typeface="Courier New" pitchFamily="34" charset="0"/>
                <a:ea typeface="Courier New" pitchFamily="34" charset="-122"/>
                <a:cs typeface="Courier New" pitchFamily="34" charset="-120"/>
              </a:rPr>
              <a:t>final passing2 = marks.where((m) =&gt; m &gt;= 50).toList();</a:t>
            </a:r>
            <a:endParaRPr lang="en-US" sz="1045" dirty="0"/>
          </a:p>
          <a:p>
            <a:pPr marL="0" indent="0">
              <a:lnSpc>
                <a:spcPct val="106000"/>
              </a:lnSpc>
              <a:buNone/>
            </a:pPr>
            <a:r>
              <a:rPr lang="en-US" sz="1045" i="1" dirty="0">
                <a:solidFill>
                  <a:srgbClr val="A8D65C"/>
                </a:solidFill>
                <a:latin typeface="Courier New" pitchFamily="34" charset="0"/>
                <a:ea typeface="Courier New" pitchFamily="34" charset="-122"/>
                <a:cs typeface="Courier New" pitchFamily="34" charset="-120"/>
              </a:rPr>
              <a:t>[88, 74, 91, 60]</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 </a:t>
            </a:r>
            <a:endParaRPr lang="en-US" sz="1045" dirty="0"/>
          </a:p>
          <a:p>
            <a:pPr marL="0" indent="0">
              <a:lnSpc>
                <a:spcPct val="106000"/>
              </a:lnSpc>
              <a:buNone/>
            </a:pPr>
            <a:r>
              <a:rPr lang="en-US" sz="1045" i="1" dirty="0">
                <a:solidFill>
                  <a:srgbClr val="7FA6BD"/>
                </a:solidFill>
                <a:latin typeface="Courier New" pitchFamily="34" charset="0"/>
                <a:ea typeface="Courier New" pitchFamily="34" charset="-122"/>
                <a:cs typeface="Courier New" pitchFamily="34" charset="-120"/>
              </a:rPr>
              <a:t>// map: change every element</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final curved = marks.map((m) =&gt; m + 5).toList();</a:t>
            </a:r>
            <a:endParaRPr lang="en-US" sz="1045" dirty="0"/>
          </a:p>
          <a:p>
            <a:pPr marL="0" indent="0">
              <a:lnSpc>
                <a:spcPct val="106000"/>
              </a:lnSpc>
              <a:buNone/>
            </a:pPr>
            <a:r>
              <a:rPr lang="en-US" sz="1045" i="1" dirty="0">
                <a:solidFill>
                  <a:srgbClr val="A8D65C"/>
                </a:solidFill>
                <a:latin typeface="Courier New" pitchFamily="34" charset="0"/>
                <a:ea typeface="Courier New" pitchFamily="34" charset="-122"/>
                <a:cs typeface="Courier New" pitchFamily="34" charset="-120"/>
              </a:rPr>
              <a:t>[93, 79, 96, 50, 65]</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 </a:t>
            </a:r>
            <a:endParaRPr lang="en-US" sz="1045" dirty="0"/>
          </a:p>
          <a:p>
            <a:pPr marL="0" indent="0">
              <a:lnSpc>
                <a:spcPct val="106000"/>
              </a:lnSpc>
              <a:buNone/>
            </a:pPr>
            <a:r>
              <a:rPr lang="en-US" sz="1045" i="1" dirty="0">
                <a:solidFill>
                  <a:srgbClr val="7FA6BD"/>
                </a:solidFill>
                <a:latin typeface="Courier New" pitchFamily="34" charset="0"/>
                <a:ea typeface="Courier New" pitchFamily="34" charset="-122"/>
                <a:cs typeface="Courier New" pitchFamily="34" charset="-120"/>
              </a:rPr>
              <a:t>// reduce: collapse to a single value</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final total = marks.reduce((a, b) =&gt; a + b);   // 358</a:t>
            </a:r>
            <a:endParaRPr lang="en-US" sz="1045" dirty="0"/>
          </a:p>
          <a:p>
            <a:pPr marL="0" indent="0">
              <a:lnSpc>
                <a:spcPct val="106000"/>
              </a:lnSpc>
              <a:buNone/>
            </a:pPr>
            <a:r>
              <a:rPr lang="en-US" sz="1045" dirty="0">
                <a:solidFill>
                  <a:srgbClr val="EAF2F7"/>
                </a:solidFill>
                <a:latin typeface="Courier New" pitchFamily="34" charset="0"/>
                <a:ea typeface="Courier New" pitchFamily="34" charset="-122"/>
                <a:cs typeface="Courier New" pitchFamily="34" charset="-120"/>
              </a:rPr>
              <a:t>final avg = total / marks.length;              // 71.6</a:t>
            </a:r>
            <a:endParaRPr lang="en-US" sz="1045" dirty="0"/>
          </a:p>
        </p:txBody>
      </p:sp>
      <p:sp>
        <p:nvSpPr>
          <p:cNvPr id="10" name="Shape 8"/>
          <p:cNvSpPr/>
          <p:nvPr/>
        </p:nvSpPr>
        <p:spPr>
          <a:xfrm>
            <a:off x="7406640" y="1828800"/>
            <a:ext cx="4224528" cy="1234440"/>
          </a:xfrm>
          <a:prstGeom prst="roundRect">
            <a:avLst>
              <a:gd name="adj" fmla="val 3704"/>
            </a:avLst>
          </a:prstGeom>
          <a:solidFill>
            <a:srgbClr val="E4F1F2"/>
          </a:solidFill>
          <a:ln/>
        </p:spPr>
        <p:txBody>
          <a:bodyPr/>
          <a:lstStyle/>
          <a:p>
            <a:endParaRPr lang="en-CA"/>
          </a:p>
        </p:txBody>
      </p:sp>
      <p:sp>
        <p:nvSpPr>
          <p:cNvPr id="11" name="Text 9"/>
          <p:cNvSpPr txBox="1"/>
          <p:nvPr/>
        </p:nvSpPr>
        <p:spPr>
          <a:xfrm>
            <a:off x="7607808" y="1993392"/>
            <a:ext cx="3822192"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where — keep some</a:t>
            </a:r>
            <a:endParaRPr lang="en-US" sz="1500" dirty="0"/>
          </a:p>
        </p:txBody>
      </p:sp>
      <p:sp>
        <p:nvSpPr>
          <p:cNvPr id="12" name="Text 10"/>
          <p:cNvSpPr txBox="1"/>
          <p:nvPr/>
        </p:nvSpPr>
        <p:spPr>
          <a:xfrm>
            <a:off x="7607808" y="2359152"/>
            <a:ext cx="3822192" cy="48463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Give it a test. Keeps every element the test says true for. Length can shrink.</a:t>
            </a:r>
            <a:endParaRPr lang="en-US" sz="1250" dirty="0"/>
          </a:p>
        </p:txBody>
      </p:sp>
      <p:sp>
        <p:nvSpPr>
          <p:cNvPr id="13" name="Shape 11"/>
          <p:cNvSpPr/>
          <p:nvPr/>
        </p:nvSpPr>
        <p:spPr>
          <a:xfrm>
            <a:off x="7406640" y="3154680"/>
            <a:ext cx="4224528" cy="1234440"/>
          </a:xfrm>
          <a:prstGeom prst="roundRect">
            <a:avLst>
              <a:gd name="adj" fmla="val 3704"/>
            </a:avLst>
          </a:prstGeom>
          <a:solidFill>
            <a:srgbClr val="F2F6F8"/>
          </a:solidFill>
          <a:ln/>
        </p:spPr>
        <p:txBody>
          <a:bodyPr/>
          <a:lstStyle/>
          <a:p>
            <a:endParaRPr lang="en-CA"/>
          </a:p>
        </p:txBody>
      </p:sp>
      <p:sp>
        <p:nvSpPr>
          <p:cNvPr id="14" name="Text 12"/>
          <p:cNvSpPr txBox="1"/>
          <p:nvPr/>
        </p:nvSpPr>
        <p:spPr>
          <a:xfrm>
            <a:off x="7607808" y="3319272"/>
            <a:ext cx="3822192"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map — change each</a:t>
            </a:r>
            <a:endParaRPr lang="en-US" sz="1500" dirty="0"/>
          </a:p>
        </p:txBody>
      </p:sp>
      <p:sp>
        <p:nvSpPr>
          <p:cNvPr id="15" name="Text 13"/>
          <p:cNvSpPr txBox="1"/>
          <p:nvPr/>
        </p:nvSpPr>
        <p:spPr>
          <a:xfrm>
            <a:off x="7607808" y="3685032"/>
            <a:ext cx="3822192" cy="48463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Give it a converter. Same number of elements out, possibly a different type.</a:t>
            </a:r>
            <a:endParaRPr lang="en-US" sz="1250" dirty="0"/>
          </a:p>
        </p:txBody>
      </p:sp>
      <p:sp>
        <p:nvSpPr>
          <p:cNvPr id="16" name="Shape 14"/>
          <p:cNvSpPr/>
          <p:nvPr/>
        </p:nvSpPr>
        <p:spPr>
          <a:xfrm>
            <a:off x="7406640" y="4480560"/>
            <a:ext cx="4224528" cy="1143000"/>
          </a:xfrm>
          <a:prstGeom prst="roundRect">
            <a:avLst>
              <a:gd name="adj" fmla="val 4000"/>
            </a:avLst>
          </a:prstGeom>
          <a:solidFill>
            <a:srgbClr val="E4F1F2"/>
          </a:solidFill>
          <a:ln/>
        </p:spPr>
        <p:txBody>
          <a:bodyPr/>
          <a:lstStyle/>
          <a:p>
            <a:endParaRPr lang="en-CA"/>
          </a:p>
        </p:txBody>
      </p:sp>
      <p:sp>
        <p:nvSpPr>
          <p:cNvPr id="17" name="Text 15"/>
          <p:cNvSpPr txBox="1"/>
          <p:nvPr/>
        </p:nvSpPr>
        <p:spPr>
          <a:xfrm>
            <a:off x="7607808" y="4645152"/>
            <a:ext cx="3822192"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reduce / fold — collapse</a:t>
            </a:r>
            <a:endParaRPr lang="en-US" sz="1500" dirty="0"/>
          </a:p>
        </p:txBody>
      </p:sp>
      <p:sp>
        <p:nvSpPr>
          <p:cNvPr id="18" name="Text 16"/>
          <p:cNvSpPr txBox="1"/>
          <p:nvPr/>
        </p:nvSpPr>
        <p:spPr>
          <a:xfrm>
            <a:off x="7607808" y="5010912"/>
            <a:ext cx="3822192" cy="39319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One value out. Use fold when the list may be empty: fold(0, (a, b) =&gt; a + b).</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TWO DETAILS THAT MATTER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Chaining, and why .toList() keeps appearing</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24</a:t>
            </a:r>
            <a:endParaRPr lang="en-US" sz="950" dirty="0"/>
          </a:p>
        </p:txBody>
      </p:sp>
      <p:sp>
        <p:nvSpPr>
          <p:cNvPr id="6" name="Shape 4"/>
          <p:cNvSpPr/>
          <p:nvPr/>
        </p:nvSpPr>
        <p:spPr>
          <a:xfrm>
            <a:off x="566928" y="1463040"/>
            <a:ext cx="6492240" cy="2468880"/>
          </a:xfrm>
          <a:prstGeom prst="roundRect">
            <a:avLst>
              <a:gd name="adj" fmla="val 2222"/>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563624"/>
            <a:ext cx="6089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CHAINS READ LEFT TO RIGHT</a:t>
            </a:r>
            <a:endParaRPr lang="en-US" sz="1050" dirty="0"/>
          </a:p>
        </p:txBody>
      </p:sp>
      <p:sp>
        <p:nvSpPr>
          <p:cNvPr id="8" name="Text 6"/>
          <p:cNvSpPr txBox="1"/>
          <p:nvPr/>
        </p:nvSpPr>
        <p:spPr>
          <a:xfrm>
            <a:off x="768096" y="1865376"/>
            <a:ext cx="6126480" cy="1956816"/>
          </a:xfrm>
          <a:prstGeom prst="rect">
            <a:avLst/>
          </a:prstGeom>
          <a:noFill/>
          <a:ln/>
        </p:spPr>
        <p:txBody>
          <a:bodyPr wrap="square" lIns="0" tIns="0" rIns="0" bIns="0" rtlCol="0" anchor="t"/>
          <a:lstStyle/>
          <a:p>
            <a:pPr marL="0" indent="0">
              <a:lnSpc>
                <a:spcPct val="106000"/>
              </a:lnSpc>
              <a:buNone/>
            </a:pPr>
            <a:r>
              <a:rPr lang="en-US" sz="1064" dirty="0">
                <a:solidFill>
                  <a:srgbClr val="EAF2F7"/>
                </a:solidFill>
                <a:latin typeface="Courier New" pitchFamily="34" charset="0"/>
                <a:ea typeface="Courier New" pitchFamily="34" charset="-122"/>
                <a:cs typeface="Courier New" pitchFamily="34" charset="-120"/>
              </a:rPr>
              <a:t>final names = ['ana', 'bo', 'chandra', 'dev'];</a:t>
            </a:r>
            <a:endParaRPr lang="en-US" sz="1064" dirty="0"/>
          </a:p>
          <a:p>
            <a:pPr marL="0" indent="0">
              <a:lnSpc>
                <a:spcPct val="106000"/>
              </a:lnSpc>
              <a:buNone/>
            </a:pPr>
            <a:r>
              <a:rPr lang="en-US" sz="1064" dirty="0">
                <a:solidFill>
                  <a:srgbClr val="EAF2F7"/>
                </a:solidFill>
                <a:latin typeface="Courier New" pitchFamily="34" charset="0"/>
                <a:ea typeface="Courier New" pitchFamily="34" charset="-122"/>
                <a:cs typeface="Courier New" pitchFamily="34" charset="-120"/>
              </a:rPr>
              <a:t> </a:t>
            </a:r>
            <a:endParaRPr lang="en-US" sz="1064" dirty="0"/>
          </a:p>
          <a:p>
            <a:pPr marL="0" indent="0">
              <a:lnSpc>
                <a:spcPct val="106000"/>
              </a:lnSpc>
              <a:buNone/>
            </a:pPr>
            <a:r>
              <a:rPr lang="en-US" sz="1064" b="1" dirty="0">
                <a:solidFill>
                  <a:srgbClr val="C8EE7E"/>
                </a:solidFill>
                <a:latin typeface="Courier New" pitchFamily="34" charset="0"/>
                <a:ea typeface="Courier New" pitchFamily="34" charset="-122"/>
                <a:cs typeface="Courier New" pitchFamily="34" charset="-120"/>
              </a:rPr>
              <a:t>final shouted = names</a:t>
            </a:r>
            <a:endParaRPr lang="en-US" sz="1064" dirty="0"/>
          </a:p>
          <a:p>
            <a:pPr marL="0" indent="0">
              <a:lnSpc>
                <a:spcPct val="106000"/>
              </a:lnSpc>
              <a:buNone/>
            </a:pPr>
            <a:r>
              <a:rPr lang="en-US" sz="1064" b="1" dirty="0">
                <a:solidFill>
                  <a:srgbClr val="C8EE7E"/>
                </a:solidFill>
                <a:latin typeface="Courier New" pitchFamily="34" charset="0"/>
                <a:ea typeface="Courier New" pitchFamily="34" charset="-122"/>
                <a:cs typeface="Courier New" pitchFamily="34" charset="-120"/>
              </a:rPr>
              <a:t>    .where((n) =&gt; n.length &gt; 2)</a:t>
            </a:r>
            <a:endParaRPr lang="en-US" sz="1064" dirty="0"/>
          </a:p>
          <a:p>
            <a:pPr marL="0" indent="0">
              <a:lnSpc>
                <a:spcPct val="106000"/>
              </a:lnSpc>
              <a:buNone/>
            </a:pPr>
            <a:r>
              <a:rPr lang="en-US" sz="1064" b="1" dirty="0">
                <a:solidFill>
                  <a:srgbClr val="C8EE7E"/>
                </a:solidFill>
                <a:latin typeface="Courier New" pitchFamily="34" charset="0"/>
                <a:ea typeface="Courier New" pitchFamily="34" charset="-122"/>
                <a:cs typeface="Courier New" pitchFamily="34" charset="-120"/>
              </a:rPr>
              <a:t>    .map((n) =&gt; n.toUpperCase())</a:t>
            </a:r>
            <a:endParaRPr lang="en-US" sz="1064" dirty="0"/>
          </a:p>
          <a:p>
            <a:pPr marL="0" indent="0">
              <a:lnSpc>
                <a:spcPct val="106000"/>
              </a:lnSpc>
              <a:buNone/>
            </a:pPr>
            <a:r>
              <a:rPr lang="en-US" sz="1064" b="1" dirty="0">
                <a:solidFill>
                  <a:srgbClr val="C8EE7E"/>
                </a:solidFill>
                <a:latin typeface="Courier New" pitchFamily="34" charset="0"/>
                <a:ea typeface="Courier New" pitchFamily="34" charset="-122"/>
                <a:cs typeface="Courier New" pitchFamily="34" charset="-120"/>
              </a:rPr>
              <a:t>    .toList();</a:t>
            </a:r>
            <a:endParaRPr lang="en-US" sz="1064" dirty="0"/>
          </a:p>
          <a:p>
            <a:pPr marL="0" indent="0">
              <a:lnSpc>
                <a:spcPct val="106000"/>
              </a:lnSpc>
              <a:buNone/>
            </a:pPr>
            <a:r>
              <a:rPr lang="en-US" sz="1064" i="1" dirty="0">
                <a:solidFill>
                  <a:srgbClr val="A8D65C"/>
                </a:solidFill>
                <a:latin typeface="Courier New" pitchFamily="34" charset="0"/>
                <a:ea typeface="Courier New" pitchFamily="34" charset="-122"/>
                <a:cs typeface="Courier New" pitchFamily="34" charset="-120"/>
              </a:rPr>
              <a:t>[ANA, CHANDRA, DEV]</a:t>
            </a:r>
            <a:endParaRPr lang="en-US" sz="1064" dirty="0"/>
          </a:p>
          <a:p>
            <a:pPr marL="0" indent="0">
              <a:lnSpc>
                <a:spcPct val="106000"/>
              </a:lnSpc>
              <a:buNone/>
            </a:pPr>
            <a:r>
              <a:rPr lang="en-US" sz="1064" dirty="0">
                <a:solidFill>
                  <a:srgbClr val="EAF2F7"/>
                </a:solidFill>
                <a:latin typeface="Courier New" pitchFamily="34" charset="0"/>
                <a:ea typeface="Courier New" pitchFamily="34" charset="-122"/>
                <a:cs typeface="Courier New" pitchFamily="34" charset="-120"/>
              </a:rPr>
              <a:t> </a:t>
            </a:r>
            <a:endParaRPr lang="en-US" sz="1064" dirty="0"/>
          </a:p>
          <a:p>
            <a:pPr marL="0" indent="0">
              <a:lnSpc>
                <a:spcPct val="106000"/>
              </a:lnSpc>
              <a:buNone/>
            </a:pPr>
            <a:r>
              <a:rPr lang="en-US" sz="1064" i="1" dirty="0">
                <a:solidFill>
                  <a:srgbClr val="7FA6BD"/>
                </a:solidFill>
                <a:latin typeface="Courier New" pitchFamily="34" charset="0"/>
                <a:ea typeface="Courier New" pitchFamily="34" charset="-122"/>
                <a:cs typeface="Courier New" pitchFamily="34" charset="-120"/>
              </a:rPr>
              <a:t>// filter, then transform, then materialise.</a:t>
            </a:r>
            <a:endParaRPr lang="en-US" sz="1064" dirty="0"/>
          </a:p>
          <a:p>
            <a:pPr marL="0" indent="0">
              <a:lnSpc>
                <a:spcPct val="106000"/>
              </a:lnSpc>
              <a:buNone/>
            </a:pPr>
            <a:r>
              <a:rPr lang="en-US" sz="1064" i="1" dirty="0">
                <a:solidFill>
                  <a:srgbClr val="7FA6BD"/>
                </a:solidFill>
                <a:latin typeface="Courier New" pitchFamily="34" charset="0"/>
                <a:ea typeface="Courier New" pitchFamily="34" charset="-122"/>
                <a:cs typeface="Courier New" pitchFamily="34" charset="-120"/>
              </a:rPr>
              <a:t>// Order matters: swap where and map and you</a:t>
            </a:r>
            <a:endParaRPr lang="en-US" sz="1064" dirty="0"/>
          </a:p>
          <a:p>
            <a:pPr marL="0" indent="0">
              <a:lnSpc>
                <a:spcPct val="106000"/>
              </a:lnSpc>
              <a:buNone/>
            </a:pPr>
            <a:r>
              <a:rPr lang="en-US" sz="1064" i="1" dirty="0">
                <a:solidFill>
                  <a:srgbClr val="7FA6BD"/>
                </a:solidFill>
                <a:latin typeface="Courier New" pitchFamily="34" charset="0"/>
                <a:ea typeface="Courier New" pitchFamily="34" charset="-122"/>
                <a:cs typeface="Courier New" pitchFamily="34" charset="-120"/>
              </a:rPr>
              <a:t>// filter on the already-changed values.</a:t>
            </a:r>
            <a:endParaRPr lang="en-US" sz="1064" dirty="0"/>
          </a:p>
        </p:txBody>
      </p:sp>
      <p:sp>
        <p:nvSpPr>
          <p:cNvPr id="9" name="Shape 7"/>
          <p:cNvSpPr/>
          <p:nvPr/>
        </p:nvSpPr>
        <p:spPr>
          <a:xfrm>
            <a:off x="7223760" y="1463040"/>
            <a:ext cx="4407408" cy="2468880"/>
          </a:xfrm>
          <a:prstGeom prst="roundRect">
            <a:avLst>
              <a:gd name="adj" fmla="val 1852"/>
            </a:avLst>
          </a:prstGeom>
          <a:solidFill>
            <a:srgbClr val="E4F1F2"/>
          </a:solidFill>
          <a:ln/>
        </p:spPr>
        <p:txBody>
          <a:bodyPr/>
          <a:lstStyle/>
          <a:p>
            <a:endParaRPr lang="en-CA"/>
          </a:p>
        </p:txBody>
      </p:sp>
      <p:sp>
        <p:nvSpPr>
          <p:cNvPr id="10" name="Text 8"/>
          <p:cNvSpPr txBox="1"/>
          <p:nvPr/>
        </p:nvSpPr>
        <p:spPr>
          <a:xfrm>
            <a:off x="7424928" y="1627632"/>
            <a:ext cx="400507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Iterable vs List</a:t>
            </a:r>
            <a:endParaRPr lang="en-US" sz="1600" dirty="0"/>
          </a:p>
        </p:txBody>
      </p:sp>
      <p:sp>
        <p:nvSpPr>
          <p:cNvPr id="11" name="Text 9"/>
          <p:cNvSpPr txBox="1"/>
          <p:nvPr/>
        </p:nvSpPr>
        <p:spPr>
          <a:xfrm>
            <a:off x="7443216" y="2048256"/>
            <a:ext cx="3968496" cy="168249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where() and map() return an Iterable — a recipe, not a result</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Nothing is computed until something asks for the values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.toList() runs the recipe and gives you a real List you can index and store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Forgetting it is why you sometimes see "(88, 74)" with round brackets instead of square ones</a:t>
            </a:r>
            <a:endParaRPr lang="en-US" sz="1250" dirty="0"/>
          </a:p>
        </p:txBody>
      </p:sp>
      <p:sp>
        <p:nvSpPr>
          <p:cNvPr id="12" name="Shape 10"/>
          <p:cNvSpPr/>
          <p:nvPr/>
        </p:nvSpPr>
        <p:spPr>
          <a:xfrm>
            <a:off x="566928" y="4114800"/>
            <a:ext cx="6492240" cy="1691640"/>
          </a:xfrm>
          <a:prstGeom prst="roundRect">
            <a:avLst>
              <a:gd name="adj" fmla="val 324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3" name="Text 11"/>
          <p:cNvSpPr txBox="1"/>
          <p:nvPr/>
        </p:nvSpPr>
        <p:spPr>
          <a:xfrm>
            <a:off x="768096" y="4215384"/>
            <a:ext cx="6089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SPREAD AND COLLECTION-IF / FOR</a:t>
            </a:r>
            <a:endParaRPr lang="en-US" sz="1050" dirty="0"/>
          </a:p>
        </p:txBody>
      </p:sp>
      <p:sp>
        <p:nvSpPr>
          <p:cNvPr id="14" name="Text 12"/>
          <p:cNvSpPr txBox="1"/>
          <p:nvPr/>
        </p:nvSpPr>
        <p:spPr>
          <a:xfrm>
            <a:off x="768096" y="4517136"/>
            <a:ext cx="6126480" cy="1179576"/>
          </a:xfrm>
          <a:prstGeom prst="rect">
            <a:avLst/>
          </a:prstGeom>
          <a:noFill/>
          <a:ln/>
        </p:spPr>
        <p:txBody>
          <a:bodyPr wrap="square" lIns="0" tIns="0" rIns="0" bIns="0" rtlCol="0" anchor="t"/>
          <a:lstStyle/>
          <a:p>
            <a:pPr marL="0" indent="0">
              <a:lnSpc>
                <a:spcPct val="106000"/>
              </a:lnSpc>
              <a:buNone/>
            </a:pPr>
            <a:r>
              <a:rPr lang="en-US" sz="1153" dirty="0">
                <a:solidFill>
                  <a:srgbClr val="EAF2F7"/>
                </a:solidFill>
                <a:latin typeface="Courier New" pitchFamily="34" charset="0"/>
                <a:ea typeface="Courier New" pitchFamily="34" charset="-122"/>
                <a:cs typeface="Courier New" pitchFamily="34" charset="-120"/>
              </a:rPr>
              <a:t>final core = ['Dart', 'Flutter'];</a:t>
            </a:r>
            <a:endParaRPr lang="en-US" sz="1153" dirty="0"/>
          </a:p>
          <a:p>
            <a:pPr marL="0" indent="0">
              <a:lnSpc>
                <a:spcPct val="106000"/>
              </a:lnSpc>
              <a:buNone/>
            </a:pPr>
            <a:r>
              <a:rPr lang="en-US" sz="1153" dirty="0">
                <a:solidFill>
                  <a:srgbClr val="EAF2F7"/>
                </a:solidFill>
                <a:latin typeface="Courier New" pitchFamily="34" charset="0"/>
                <a:ea typeface="Courier New" pitchFamily="34" charset="-122"/>
                <a:cs typeface="Courier New" pitchFamily="34" charset="-120"/>
              </a:rPr>
              <a:t>final showBonus = true;</a:t>
            </a:r>
            <a:endParaRPr lang="en-US" sz="1153" dirty="0"/>
          </a:p>
          <a:p>
            <a:pPr marL="0" indent="0">
              <a:lnSpc>
                <a:spcPct val="106000"/>
              </a:lnSpc>
              <a:buNone/>
            </a:pPr>
            <a:r>
              <a:rPr lang="en-US" sz="1153" dirty="0">
                <a:solidFill>
                  <a:srgbClr val="EAF2F7"/>
                </a:solidFill>
                <a:latin typeface="Courier New" pitchFamily="34" charset="0"/>
                <a:ea typeface="Courier New" pitchFamily="34" charset="-122"/>
                <a:cs typeface="Courier New" pitchFamily="34" charset="-120"/>
              </a:rPr>
              <a:t> </a:t>
            </a:r>
            <a:endParaRPr lang="en-US" sz="1153" dirty="0"/>
          </a:p>
          <a:p>
            <a:pPr marL="0" indent="0">
              <a:lnSpc>
                <a:spcPct val="106000"/>
              </a:lnSpc>
              <a:buNone/>
            </a:pPr>
            <a:r>
              <a:rPr lang="en-US" sz="1153" b="1" dirty="0">
                <a:solidFill>
                  <a:srgbClr val="C8EE7E"/>
                </a:solidFill>
                <a:latin typeface="Courier New" pitchFamily="34" charset="0"/>
                <a:ea typeface="Courier New" pitchFamily="34" charset="-122"/>
                <a:cs typeface="Courier New" pitchFamily="34" charset="-120"/>
              </a:rPr>
              <a:t>final topics = [...core, if (showBonus) 'Firebase',</a:t>
            </a:r>
            <a:endParaRPr lang="en-US" sz="1153" dirty="0"/>
          </a:p>
          <a:p>
            <a:pPr marL="0" indent="0">
              <a:lnSpc>
                <a:spcPct val="106000"/>
              </a:lnSpc>
              <a:buNone/>
            </a:pPr>
            <a:r>
              <a:rPr lang="en-US" sz="1153" b="1" dirty="0">
                <a:solidFill>
                  <a:srgbClr val="C8EE7E"/>
                </a:solidFill>
                <a:latin typeface="Courier New" pitchFamily="34" charset="0"/>
                <a:ea typeface="Courier New" pitchFamily="34" charset="-122"/>
                <a:cs typeface="Courier New" pitchFamily="34" charset="-120"/>
              </a:rPr>
              <a:t>                for (var i = 1; i &lt;= 2; i++) 'Lab $i'];</a:t>
            </a:r>
            <a:endParaRPr lang="en-US" sz="1153" dirty="0"/>
          </a:p>
          <a:p>
            <a:pPr marL="0" indent="0">
              <a:lnSpc>
                <a:spcPct val="106000"/>
              </a:lnSpc>
              <a:buNone/>
            </a:pPr>
            <a:r>
              <a:rPr lang="en-US" sz="1153" i="1" dirty="0">
                <a:solidFill>
                  <a:srgbClr val="A8D65C"/>
                </a:solidFill>
                <a:latin typeface="Courier New" pitchFamily="34" charset="0"/>
                <a:ea typeface="Courier New" pitchFamily="34" charset="-122"/>
                <a:cs typeface="Courier New" pitchFamily="34" charset="-120"/>
              </a:rPr>
              <a:t>[Dart, Flutter, Firebase, Lab 1, Lab 2]</a:t>
            </a:r>
            <a:endParaRPr lang="en-US" sz="1153" dirty="0"/>
          </a:p>
        </p:txBody>
      </p:sp>
      <p:sp>
        <p:nvSpPr>
          <p:cNvPr id="15" name="Shape 13"/>
          <p:cNvSpPr/>
          <p:nvPr/>
        </p:nvSpPr>
        <p:spPr>
          <a:xfrm>
            <a:off x="7223760" y="4114800"/>
            <a:ext cx="4407408" cy="1691640"/>
          </a:xfrm>
          <a:prstGeom prst="roundRect">
            <a:avLst>
              <a:gd name="adj" fmla="val 2703"/>
            </a:avLst>
          </a:prstGeom>
          <a:solidFill>
            <a:srgbClr val="E4F1F2"/>
          </a:solidFill>
          <a:ln w="12700">
            <a:solidFill>
              <a:srgbClr val="0E9AA3"/>
            </a:solidFill>
            <a:prstDash val="solid"/>
          </a:ln>
        </p:spPr>
        <p:txBody>
          <a:bodyPr/>
          <a:lstStyle/>
          <a:p>
            <a:endParaRPr lang="en-CA"/>
          </a:p>
        </p:txBody>
      </p:sp>
      <p:sp>
        <p:nvSpPr>
          <p:cNvPr id="16" name="Text 14"/>
          <p:cNvSpPr txBox="1"/>
          <p:nvPr/>
        </p:nvSpPr>
        <p:spPr>
          <a:xfrm>
            <a:off x="7443216" y="423367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WHY YOU'LL CARE IN WEEK 3</a:t>
            </a:r>
            <a:endParaRPr lang="en-US" sz="1050" dirty="0"/>
          </a:p>
        </p:txBody>
      </p:sp>
      <p:sp>
        <p:nvSpPr>
          <p:cNvPr id="17" name="Text 15"/>
          <p:cNvSpPr txBox="1"/>
          <p:nvPr/>
        </p:nvSpPr>
        <p:spPr>
          <a:xfrm>
            <a:off x="7443216" y="4480560"/>
            <a:ext cx="3968496" cy="121615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Flutter widget lists are built exactly like this: ...someWidgets, then if (isLoggedIn) LogoutButton(), then a for over your data. Learning it here means the widget code looks familiar later.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DEMOS 5–7 · WE BUILD THIS TOGETHER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Live build: class roster statistics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One List, five questions. Type along; we'll extend this same program after the objects block.</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25</a:t>
            </a:r>
            <a:endParaRPr lang="en-US" sz="950" dirty="0"/>
          </a:p>
        </p:txBody>
      </p:sp>
      <p:sp>
        <p:nvSpPr>
          <p:cNvPr id="7" name="Shape 5"/>
          <p:cNvSpPr/>
          <p:nvPr/>
        </p:nvSpPr>
        <p:spPr>
          <a:xfrm>
            <a:off x="566928" y="1755648"/>
            <a:ext cx="6903720" cy="4069080"/>
          </a:xfrm>
          <a:prstGeom prst="roundRect">
            <a:avLst>
              <a:gd name="adj" fmla="val 1348"/>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856232"/>
            <a:ext cx="65013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bin/roster_stats.dart</a:t>
            </a:r>
            <a:endParaRPr lang="en-US" sz="1050" dirty="0"/>
          </a:p>
        </p:txBody>
      </p:sp>
      <p:sp>
        <p:nvSpPr>
          <p:cNvPr id="9" name="Text 7"/>
          <p:cNvSpPr txBox="1"/>
          <p:nvPr/>
        </p:nvSpPr>
        <p:spPr>
          <a:xfrm>
            <a:off x="768096" y="2157984"/>
            <a:ext cx="6537960" cy="3557016"/>
          </a:xfrm>
          <a:prstGeom prst="rect">
            <a:avLst/>
          </a:prstGeom>
          <a:noFill/>
          <a:ln/>
        </p:spPr>
        <p:txBody>
          <a:bodyPr wrap="square" lIns="0" tIns="0" rIns="0" bIns="0" rtlCol="0" anchor="t"/>
          <a:lstStyle/>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void main() {</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final marks = &lt;int&gt;[88, 74, 91, 45, 60, 79, 38];</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 1 · how many, and what's the spread?</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final sorted = [...marks]..sort();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print('count : ${marks.length}');</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print('range : ${sorted.first} – ${sorted.last}');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 2 · average, to one decimal</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final avg = marks.reduce((a, b) =&gt; a + b) / marks.length;</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print('mean  : ${avg.toStringAsFixed(1)}');</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 3 · who passed?</a:t>
            </a:r>
            <a:endParaRPr lang="en-US" sz="1134" dirty="0"/>
          </a:p>
          <a:p>
            <a:pPr marL="0" indent="0">
              <a:lnSpc>
                <a:spcPct val="106000"/>
              </a:lnSpc>
              <a:buNone/>
            </a:pPr>
            <a:r>
              <a:rPr lang="en-US" sz="1134" b="1" dirty="0">
                <a:solidFill>
                  <a:srgbClr val="C8EE7E"/>
                </a:solidFill>
                <a:latin typeface="Courier New" pitchFamily="34" charset="0"/>
                <a:ea typeface="Courier New" pitchFamily="34" charset="-122"/>
                <a:cs typeface="Courier New" pitchFamily="34" charset="-120"/>
              </a:rPr>
              <a:t>  final passing = marks.where((m) =&gt; m &gt;= 50).toList();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print('passed: ${passing.length} of ${marks.length}');</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a:t>
            </a:r>
            <a:endParaRPr lang="en-US" sz="1134" dirty="0"/>
          </a:p>
          <a:p>
            <a:pPr marL="0" indent="0">
              <a:lnSpc>
                <a:spcPct val="106000"/>
              </a:lnSpc>
              <a:buNone/>
            </a:pPr>
            <a:r>
              <a:rPr lang="en-US" sz="1134" i="1" dirty="0">
                <a:solidFill>
                  <a:srgbClr val="7FA6BD"/>
                </a:solidFill>
                <a:latin typeface="Courier New" pitchFamily="34" charset="0"/>
                <a:ea typeface="Courier New" pitchFamily="34" charset="-122"/>
                <a:cs typeface="Courier New" pitchFamily="34" charset="-120"/>
              </a:rPr>
              <a:t>  // 4 · apply a 5-point curve, capped at 100</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  print(marks.map((m) =&gt; (m + 5).clamp(0, 100)).toList());</a:t>
            </a:r>
            <a:endParaRPr lang="en-US" sz="1134" dirty="0"/>
          </a:p>
          <a:p>
            <a:pPr marL="0" indent="0">
              <a:lnSpc>
                <a:spcPct val="106000"/>
              </a:lnSpc>
              <a:buNone/>
            </a:pPr>
            <a:r>
              <a:rPr lang="en-US" sz="1134" dirty="0">
                <a:solidFill>
                  <a:srgbClr val="EAF2F7"/>
                </a:solidFill>
                <a:latin typeface="Courier New" pitchFamily="34" charset="0"/>
                <a:ea typeface="Courier New" pitchFamily="34" charset="-122"/>
                <a:cs typeface="Courier New" pitchFamily="34" charset="-120"/>
              </a:rPr>
              <a:t>}</a:t>
            </a:r>
            <a:endParaRPr lang="en-US" sz="1134" dirty="0"/>
          </a:p>
        </p:txBody>
      </p:sp>
      <p:sp>
        <p:nvSpPr>
          <p:cNvPr id="10" name="Text 8"/>
          <p:cNvSpPr txBox="1"/>
          <p:nvPr/>
        </p:nvSpPr>
        <p:spPr>
          <a:xfrm>
            <a:off x="7635240" y="1801368"/>
            <a:ext cx="3995928" cy="40233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Build order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count → range → mean → passing → curve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Run after every step</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Notice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[...marks]..sort() — spread makes a copy, cascade sorts it, original untouched</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.clamp(0, 100) stops the curve pushing 98 past 100</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Extend it (lab)</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Add a median (careful: even count)</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Print the failing marks only</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Turn each block into its own function</a:t>
            </a:r>
            <a:endParaRPr lang="en-US" sz="12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3 · DEBRIEF</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List mistakes worth inoculating against</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26</a:t>
            </a:r>
            <a:endParaRPr lang="en-US" sz="9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11064240" cy="3328416"/>
        </p:xfrm>
        <a:graphic>
          <a:graphicData uri="http://schemas.openxmlformats.org/drawingml/2006/table">
            <a:tbl>
              <a:tblPr/>
              <a:tblGrid>
                <a:gridCol w="411480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75488">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mistake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What you see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50" b="1" dirty="0">
                          <a:solidFill>
                            <a:srgbClr val="FFFFFF"/>
                          </a:solidFill>
                          <a:latin typeface="Calibri" pitchFamily="34" charset="0"/>
                          <a:ea typeface="Calibri" pitchFamily="34" charset="-122"/>
                          <a:cs typeface="Calibri" pitchFamily="34" charset="-120"/>
                        </a:rPr>
                        <a:t>The fix</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extLst>
                  <a:ext uri="{0D108BD9-81ED-4DB2-BD59-A6C34878D82A}">
                    <a16:rowId xmlns:a16="http://schemas.microsoft.com/office/drawing/2014/main" val="10000"/>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var list = []; then adding strings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Works, then dies at runtime</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&lt;String&gt;[]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var s = marks.sort();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s is void</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sort() mutates; use [...marks]..sort()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Using remove(2) to delete position 2</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Deletes the value 2 instead</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removeAt(2)</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Printing a where() result directly</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(88, 74) with round brackets</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Add .toList()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Modifying a list while looping over it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ConcurrentModificationError</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Build a new list, or loop a copy</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5488">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reduce() on a possibly-empty list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Bad state: No element</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50" dirty="0">
                          <a:solidFill>
                            <a:srgbClr val="16232E"/>
                          </a:solidFill>
                          <a:latin typeface="Calibri" pitchFamily="34" charset="0"/>
                          <a:ea typeface="Calibri" pitchFamily="34" charset="-122"/>
                          <a:cs typeface="Calibri" pitchFamily="34" charset="-120"/>
                        </a:rPr>
                        <a:t>fold(0, (a, b) =&gt; a + b)</a:t>
                      </a:r>
                      <a:endParaRPr lang="en-US" sz="125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6"/>
                  </a:ext>
                </a:extLst>
              </a:tr>
            </a:tbl>
          </a:graphicData>
        </a:graphic>
      </p:graphicFrame>
      <p:sp>
        <p:nvSpPr>
          <p:cNvPr id="7" name="Shape 4"/>
          <p:cNvSpPr/>
          <p:nvPr/>
        </p:nvSpPr>
        <p:spPr>
          <a:xfrm>
            <a:off x="566928" y="4937760"/>
            <a:ext cx="11064240" cy="868680"/>
          </a:xfrm>
          <a:prstGeom prst="roundRect">
            <a:avLst>
              <a:gd name="adj" fmla="val 5263"/>
            </a:avLst>
          </a:prstGeom>
          <a:solidFill>
            <a:srgbClr val="E4F1F2"/>
          </a:solidFill>
          <a:ln w="12700">
            <a:solidFill>
              <a:srgbClr val="0E9AA3"/>
            </a:solidFill>
            <a:prstDash val="solid"/>
          </a:ln>
        </p:spPr>
        <p:txBody>
          <a:bodyPr/>
          <a:lstStyle/>
          <a:p>
            <a:endParaRPr lang="en-CA"/>
          </a:p>
        </p:txBody>
      </p:sp>
      <p:sp>
        <p:nvSpPr>
          <p:cNvPr id="8" name="Text 5"/>
          <p:cNvSpPr txBox="1"/>
          <p:nvPr/>
        </p:nvSpPr>
        <p:spPr>
          <a:xfrm>
            <a:off x="786384" y="505663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PATTERN</a:t>
            </a:r>
            <a:endParaRPr lang="en-US" sz="1050" dirty="0"/>
          </a:p>
        </p:txBody>
      </p:sp>
      <p:sp>
        <p:nvSpPr>
          <p:cNvPr id="9" name="Text 6"/>
          <p:cNvSpPr txBox="1"/>
          <p:nvPr/>
        </p:nvSpPr>
        <p:spPr>
          <a:xfrm>
            <a:off x="786384" y="5303520"/>
            <a:ext cx="10625328" cy="39319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Five of these six are the compiler being unable to help you because the type was too loose or the operation happened at runtime. Tight types up front = errors in your editor instead of in your demo.</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0120" y="2084832"/>
            <a:ext cx="1371600" cy="1371600"/>
          </a:xfrm>
          <a:prstGeom prst="ellipse">
            <a:avLst/>
          </a:prstGeom>
          <a:solidFill>
            <a:srgbClr val="00767F"/>
          </a:solidFill>
          <a:ln w="19050">
            <a:solidFill>
              <a:srgbClr val="A8D65C"/>
            </a:solidFill>
            <a:prstDash val="solid"/>
          </a:ln>
        </p:spPr>
        <p:txBody>
          <a:bodyPr/>
          <a:lstStyle/>
          <a:p>
            <a:endParaRPr lang="en-CA"/>
          </a:p>
        </p:txBody>
      </p:sp>
      <p:sp>
        <p:nvSpPr>
          <p:cNvPr id="3" name="Text 1"/>
          <p:cNvSpPr txBox="1"/>
          <p:nvPr/>
        </p:nvSpPr>
        <p:spPr>
          <a:xfrm>
            <a:off x="960120" y="2084832"/>
            <a:ext cx="13716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4</a:t>
            </a:r>
            <a:endParaRPr lang="en-US" sz="4000" dirty="0"/>
          </a:p>
        </p:txBody>
      </p:sp>
      <p:sp>
        <p:nvSpPr>
          <p:cNvPr id="4" name="Text 2"/>
          <p:cNvSpPr txBox="1"/>
          <p:nvPr/>
        </p:nvSpPr>
        <p:spPr>
          <a:xfrm>
            <a:off x="2743200" y="1993392"/>
            <a:ext cx="859536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Null safety</a:t>
            </a:r>
            <a:endParaRPr lang="en-US" sz="4000" dirty="0"/>
          </a:p>
        </p:txBody>
      </p:sp>
      <p:sp>
        <p:nvSpPr>
          <p:cNvPr id="5" name="Text 3"/>
          <p:cNvSpPr txBox="1"/>
          <p:nvPr/>
        </p:nvSpPr>
        <p:spPr>
          <a:xfrm>
            <a:off x="2788920" y="2788920"/>
            <a:ext cx="81381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The single biggest source of confusion in week 2 — so we spend real time on it now.</a:t>
            </a:r>
            <a:endParaRPr lang="en-US" sz="1600" dirty="0"/>
          </a:p>
        </p:txBody>
      </p:sp>
      <p:sp>
        <p:nvSpPr>
          <p:cNvPr id="6" name="Text 4"/>
          <p:cNvSpPr txBox="1"/>
          <p:nvPr/>
        </p:nvSpPr>
        <p:spPr>
          <a:xfrm>
            <a:off x="2788920" y="3703320"/>
            <a:ext cx="8138160" cy="13716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What problem it solves, and why Dart made it mandatory</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T versus T? — the whole idea in one character</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 · ??= · ?. · ! · late — five tools, five different jobs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How to read the error messages instead of guessing</a:t>
            </a:r>
            <a:endParaRPr lang="en-US" sz="1450" dirty="0"/>
          </a:p>
        </p:txBody>
      </p:sp>
      <p:sp>
        <p:nvSpPr>
          <p:cNvPr id="7" name="Text 5"/>
          <p:cNvSpPr txBox="1"/>
          <p:nvPr/>
        </p:nvSpPr>
        <p:spPr>
          <a:xfrm>
            <a:off x="960120" y="3749040"/>
            <a:ext cx="1463040" cy="320040"/>
          </a:xfrm>
          <a:prstGeom prst="rect">
            <a:avLst/>
          </a:prstGeom>
          <a:noFill/>
          <a:ln/>
        </p:spPr>
        <p:txBody>
          <a:bodyPr wrap="square" lIns="0" tIns="0" rIns="0" bIns="0" rtlCol="0" anchor="ctr"/>
          <a:lstStyle/>
          <a:p>
            <a:pPr marL="0" indent="0" algn="ctr">
              <a:buNone/>
            </a:pPr>
            <a:r>
              <a:rPr lang="en-US" sz="1200" b="1" dirty="0">
                <a:solidFill>
                  <a:srgbClr val="A8D65C"/>
                </a:solidFill>
                <a:latin typeface="Calibri" pitchFamily="34" charset="0"/>
                <a:ea typeface="Calibri" pitchFamily="34" charset="-122"/>
                <a:cs typeface="Calibri" pitchFamily="34" charset="-120"/>
              </a:rPr>
              <a:t>25 min</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MOTIVATION</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The problem null safety solves</a:t>
            </a:r>
            <a:endParaRPr lang="en-US" sz="3200" dirty="0"/>
          </a:p>
        </p:txBody>
      </p:sp>
      <p:sp>
        <p:nvSpPr>
          <p:cNvPr id="4" name="Text 2"/>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1:07 – 1:32</a:t>
            </a:r>
            <a:endParaRPr lang="en-US" sz="110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28</a:t>
            </a:r>
            <a:endParaRPr lang="en-US" sz="950" dirty="0"/>
          </a:p>
        </p:txBody>
      </p:sp>
      <p:sp>
        <p:nvSpPr>
          <p:cNvPr id="7" name="Shape 5"/>
          <p:cNvSpPr/>
          <p:nvPr/>
        </p:nvSpPr>
        <p:spPr>
          <a:xfrm>
            <a:off x="566928" y="1417320"/>
            <a:ext cx="5440680" cy="1371600"/>
          </a:xfrm>
          <a:prstGeom prst="roundRect">
            <a:avLst>
              <a:gd name="adj" fmla="val 3333"/>
            </a:avLst>
          </a:prstGeom>
          <a:solidFill>
            <a:srgbClr val="0A2540"/>
          </a:solidFill>
          <a:ln/>
        </p:spPr>
        <p:txBody>
          <a:bodyPr/>
          <a:lstStyle/>
          <a:p>
            <a:endParaRPr lang="en-CA"/>
          </a:p>
        </p:txBody>
      </p:sp>
      <p:sp>
        <p:nvSpPr>
          <p:cNvPr id="8" name="Text 6"/>
          <p:cNvSpPr txBox="1"/>
          <p:nvPr/>
        </p:nvSpPr>
        <p:spPr>
          <a:xfrm>
            <a:off x="768096" y="1581912"/>
            <a:ext cx="5038344" cy="384048"/>
          </a:xfrm>
          <a:prstGeom prst="rect">
            <a:avLst/>
          </a:prstGeom>
          <a:noFill/>
          <a:ln/>
        </p:spPr>
        <p:txBody>
          <a:bodyPr wrap="square" lIns="0" tIns="0" rIns="0" bIns="0" rtlCol="0" anchor="ctr"/>
          <a:lstStyle/>
          <a:p>
            <a:pPr marL="0" indent="0">
              <a:buNone/>
            </a:pPr>
            <a:r>
              <a:rPr lang="en-US" sz="1700" b="1" dirty="0">
                <a:solidFill>
                  <a:srgbClr val="A8D65C"/>
                </a:solidFill>
                <a:latin typeface="Calibri" pitchFamily="34" charset="0"/>
                <a:ea typeface="Calibri" pitchFamily="34" charset="-122"/>
                <a:cs typeface="Calibri" pitchFamily="34" charset="-120"/>
              </a:rPr>
              <a:t>"I call it my billion-dollar mistake."</a:t>
            </a:r>
            <a:endParaRPr lang="en-US" sz="1700" dirty="0"/>
          </a:p>
        </p:txBody>
      </p:sp>
      <p:sp>
        <p:nvSpPr>
          <p:cNvPr id="9" name="Text 7"/>
          <p:cNvSpPr txBox="1"/>
          <p:nvPr/>
        </p:nvSpPr>
        <p:spPr>
          <a:xfrm>
            <a:off x="768096" y="2039112"/>
            <a:ext cx="5038344" cy="530352"/>
          </a:xfrm>
          <a:prstGeom prst="rect">
            <a:avLst/>
          </a:prstGeom>
          <a:noFill/>
          <a:ln/>
        </p:spPr>
        <p:txBody>
          <a:bodyPr wrap="square" lIns="0" tIns="0" rIns="0" bIns="0" rtlCol="0" anchor="ctr"/>
          <a:lstStyle/>
          <a:p>
            <a:pPr marL="0" indent="0">
              <a:lnSpc>
                <a:spcPct val="110000"/>
              </a:lnSpc>
              <a:buNone/>
            </a:pPr>
            <a:r>
              <a:rPr lang="en-US" sz="1300" dirty="0">
                <a:solidFill>
                  <a:srgbClr val="FFFFFF"/>
                </a:solidFill>
                <a:latin typeface="Calibri" pitchFamily="34" charset="0"/>
                <a:ea typeface="Calibri" pitchFamily="34" charset="-122"/>
                <a:cs typeface="Calibri" pitchFamily="34" charset="-120"/>
              </a:rPr>
              <a:t>Tony Hoare, on inventing the null reference in 1965. Sixty years later it is still the most common crash in production software.</a:t>
            </a:r>
            <a:endParaRPr lang="en-US" sz="1300" dirty="0"/>
          </a:p>
        </p:txBody>
      </p:sp>
      <p:sp>
        <p:nvSpPr>
          <p:cNvPr id="10" name="Shape 8"/>
          <p:cNvSpPr/>
          <p:nvPr/>
        </p:nvSpPr>
        <p:spPr>
          <a:xfrm>
            <a:off x="566928" y="2926080"/>
            <a:ext cx="5440680" cy="1874520"/>
          </a:xfrm>
          <a:prstGeom prst="roundRect">
            <a:avLst>
              <a:gd name="adj" fmla="val 292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768096" y="3026664"/>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IN A LANGUAGE WITHOUT NULL SAFETY</a:t>
            </a:r>
            <a:endParaRPr lang="en-US" sz="1050" dirty="0"/>
          </a:p>
        </p:txBody>
      </p:sp>
      <p:sp>
        <p:nvSpPr>
          <p:cNvPr id="12" name="Text 10"/>
          <p:cNvSpPr txBox="1"/>
          <p:nvPr/>
        </p:nvSpPr>
        <p:spPr>
          <a:xfrm>
            <a:off x="768096" y="3328416"/>
            <a:ext cx="5074920" cy="1362456"/>
          </a:xfrm>
          <a:prstGeom prst="rect">
            <a:avLst/>
          </a:prstGeom>
          <a:noFill/>
          <a:ln/>
        </p:spPr>
        <p:txBody>
          <a:bodyPr wrap="square" lIns="0" tIns="0" rIns="0" bIns="0" rtlCol="0" anchor="t"/>
          <a:lstStyle/>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String name = getUserName();  // may be null</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print(name.length);           // compiles fine</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NoSuchMethodError: The getter 'length' was</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called on null</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...discovered by a user, not by you.</a:t>
            </a:r>
            <a:endParaRPr lang="en-US" sz="1250" dirty="0"/>
          </a:p>
        </p:txBody>
      </p:sp>
      <p:sp>
        <p:nvSpPr>
          <p:cNvPr id="13" name="Text 11"/>
          <p:cNvSpPr txBox="1"/>
          <p:nvPr/>
        </p:nvSpPr>
        <p:spPr>
          <a:xfrm>
            <a:off x="6281928" y="1463040"/>
            <a:ext cx="5349240" cy="338328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300" b="1" dirty="0">
                <a:solidFill>
                  <a:srgbClr val="16232E"/>
                </a:solidFill>
                <a:latin typeface="Calibri" pitchFamily="34" charset="0"/>
                <a:ea typeface="Calibri" pitchFamily="34" charset="-122"/>
                <a:cs typeface="Calibri" pitchFamily="34" charset="-120"/>
              </a:rPr>
              <a:t>The old deal</a:t>
            </a:r>
            <a:endParaRPr lang="en-US" sz="1300" dirty="0"/>
          </a:p>
          <a:p>
            <a:pPr marL="457200" lvl="1" indent="-228600">
              <a:lnSpc>
                <a:spcPct val="105000"/>
              </a:lnSpc>
              <a:spcAft>
                <a:spcPts val="500"/>
              </a:spcAft>
              <a:buSzPct val="100000"/>
              <a:buChar char="•"/>
            </a:pPr>
            <a:r>
              <a:rPr lang="en-US" sz="1150" dirty="0">
                <a:solidFill>
                  <a:srgbClr val="5B7183"/>
                </a:solidFill>
                <a:latin typeface="Calibri" pitchFamily="34" charset="0"/>
                <a:ea typeface="Calibri" pitchFamily="34" charset="-122"/>
                <a:cs typeface="Calibri" pitchFamily="34" charset="-120"/>
              </a:rPr>
              <a:t>Any reference might secretly be null. The compiler shrugged; you found out at runtime.</a:t>
            </a:r>
            <a:endParaRPr lang="en-US" sz="1300" dirty="0"/>
          </a:p>
          <a:p>
            <a:pPr marL="342900" indent="-342900">
              <a:lnSpc>
                <a:spcPct val="105000"/>
              </a:lnSpc>
              <a:spcAft>
                <a:spcPts val="500"/>
              </a:spcAft>
              <a:buSzPct val="100000"/>
              <a:buChar char="▪"/>
            </a:pPr>
            <a:r>
              <a:rPr lang="en-US" sz="1300" b="1" dirty="0">
                <a:solidFill>
                  <a:srgbClr val="16232E"/>
                </a:solidFill>
                <a:latin typeface="Calibri" pitchFamily="34" charset="0"/>
                <a:ea typeface="Calibri" pitchFamily="34" charset="-122"/>
                <a:cs typeface="Calibri" pitchFamily="34" charset="-120"/>
              </a:rPr>
              <a:t>The new deal in Dart</a:t>
            </a:r>
            <a:endParaRPr lang="en-US" sz="1300" dirty="0"/>
          </a:p>
          <a:p>
            <a:pPr marL="457200" lvl="1" indent="-228600">
              <a:lnSpc>
                <a:spcPct val="105000"/>
              </a:lnSpc>
              <a:spcAft>
                <a:spcPts val="500"/>
              </a:spcAft>
              <a:buSzPct val="100000"/>
              <a:buChar char="•"/>
            </a:pPr>
            <a:r>
              <a:rPr lang="en-US" sz="1150" dirty="0">
                <a:solidFill>
                  <a:srgbClr val="5B7183"/>
                </a:solidFill>
                <a:latin typeface="Calibri" pitchFamily="34" charset="0"/>
                <a:ea typeface="Calibri" pitchFamily="34" charset="-122"/>
                <a:cs typeface="Calibri" pitchFamily="34" charset="-120"/>
              </a:rPr>
              <a:t>A type either can hold null or it can't, and the compiler knows which. It refuses to let you use a maybe-null value as if it were definitely there.</a:t>
            </a:r>
            <a:endParaRPr lang="en-US" sz="1300" dirty="0"/>
          </a:p>
          <a:p>
            <a:pPr marL="342900" indent="-342900">
              <a:lnSpc>
                <a:spcPct val="105000"/>
              </a:lnSpc>
              <a:spcAft>
                <a:spcPts val="500"/>
              </a:spcAft>
              <a:buSzPct val="100000"/>
              <a:buChar char="▪"/>
            </a:pPr>
            <a:r>
              <a:rPr lang="en-US" sz="1300" b="1" dirty="0">
                <a:solidFill>
                  <a:srgbClr val="16232E"/>
                </a:solidFill>
                <a:latin typeface="Calibri" pitchFamily="34" charset="0"/>
                <a:ea typeface="Calibri" pitchFamily="34" charset="-122"/>
                <a:cs typeface="Calibri" pitchFamily="34" charset="-120"/>
              </a:rPr>
              <a:t>What you get for it</a:t>
            </a:r>
            <a:endParaRPr lang="en-US" sz="1300" dirty="0"/>
          </a:p>
          <a:p>
            <a:pPr marL="457200" lvl="1" indent="-228600">
              <a:lnSpc>
                <a:spcPct val="105000"/>
              </a:lnSpc>
              <a:spcAft>
                <a:spcPts val="500"/>
              </a:spcAft>
              <a:buSzPct val="100000"/>
              <a:buChar char="•"/>
            </a:pPr>
            <a:r>
              <a:rPr lang="en-US" sz="1150" dirty="0">
                <a:solidFill>
                  <a:srgbClr val="5B7183"/>
                </a:solidFill>
                <a:latin typeface="Calibri" pitchFamily="34" charset="0"/>
                <a:ea typeface="Calibri" pitchFamily="34" charset="-122"/>
                <a:cs typeface="Calibri" pitchFamily="34" charset="-120"/>
              </a:rPr>
              <a:t>Null crashes move from your users' phones into your editor, before you commit.</a:t>
            </a:r>
            <a:endParaRPr lang="en-US" sz="1300" dirty="0"/>
          </a:p>
          <a:p>
            <a:pPr marL="342900" indent="-342900">
              <a:lnSpc>
                <a:spcPct val="105000"/>
              </a:lnSpc>
              <a:spcAft>
                <a:spcPts val="500"/>
              </a:spcAft>
              <a:buSzPct val="100000"/>
              <a:buChar char="▪"/>
            </a:pPr>
            <a:r>
              <a:rPr lang="en-US" sz="1300" b="1" dirty="0">
                <a:solidFill>
                  <a:srgbClr val="16232E"/>
                </a:solidFill>
                <a:latin typeface="Calibri" pitchFamily="34" charset="0"/>
                <a:ea typeface="Calibri" pitchFamily="34" charset="-122"/>
                <a:cs typeface="Calibri" pitchFamily="34" charset="-120"/>
              </a:rPr>
              <a:t>What it costs you</a:t>
            </a:r>
            <a:endParaRPr lang="en-US" sz="1300" dirty="0"/>
          </a:p>
          <a:p>
            <a:pPr marL="457200" lvl="1" indent="-228600">
              <a:lnSpc>
                <a:spcPct val="105000"/>
              </a:lnSpc>
              <a:spcAft>
                <a:spcPts val="500"/>
              </a:spcAft>
              <a:buSzPct val="100000"/>
              <a:buChar char="•"/>
            </a:pPr>
            <a:r>
              <a:rPr lang="en-US" sz="1150" dirty="0">
                <a:solidFill>
                  <a:srgbClr val="5B7183"/>
                </a:solidFill>
                <a:latin typeface="Calibri" pitchFamily="34" charset="0"/>
                <a:ea typeface="Calibri" pitchFamily="34" charset="-122"/>
                <a:cs typeface="Calibri" pitchFamily="34" charset="-120"/>
              </a:rPr>
              <a:t>You have to be explicit about the maybes. That explicitness is the whole feature.</a:t>
            </a:r>
            <a:endParaRPr lang="en-US" sz="1300" dirty="0"/>
          </a:p>
        </p:txBody>
      </p:sp>
      <p:sp>
        <p:nvSpPr>
          <p:cNvPr id="14" name="Shape 12"/>
          <p:cNvSpPr/>
          <p:nvPr/>
        </p:nvSpPr>
        <p:spPr>
          <a:xfrm>
            <a:off x="566928" y="4983480"/>
            <a:ext cx="11064240" cy="868680"/>
          </a:xfrm>
          <a:prstGeom prst="roundRect">
            <a:avLst>
              <a:gd name="adj" fmla="val 5263"/>
            </a:avLst>
          </a:prstGeom>
          <a:solidFill>
            <a:srgbClr val="E4F1F2"/>
          </a:solidFill>
          <a:ln w="12700">
            <a:solidFill>
              <a:srgbClr val="0E9AA3"/>
            </a:solidFill>
            <a:prstDash val="solid"/>
          </a:ln>
        </p:spPr>
        <p:txBody>
          <a:bodyPr/>
          <a:lstStyle/>
          <a:p>
            <a:endParaRPr lang="en-CA"/>
          </a:p>
        </p:txBody>
      </p:sp>
      <p:sp>
        <p:nvSpPr>
          <p:cNvPr id="15" name="Text 13"/>
          <p:cNvSpPr txBox="1"/>
          <p:nvPr/>
        </p:nvSpPr>
        <p:spPr>
          <a:xfrm>
            <a:off x="786384" y="510235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REFRAME</a:t>
            </a:r>
            <a:endParaRPr lang="en-US" sz="1050" dirty="0"/>
          </a:p>
        </p:txBody>
      </p:sp>
      <p:sp>
        <p:nvSpPr>
          <p:cNvPr id="16" name="Text 14"/>
          <p:cNvSpPr txBox="1"/>
          <p:nvPr/>
        </p:nvSpPr>
        <p:spPr>
          <a:xfrm>
            <a:off x="786384" y="5349240"/>
            <a:ext cx="10625328" cy="39319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Null-safety errors are not the compiler being difficult. They are the compiler finding a crash for you while it's still cheap to fix. When you see one, the right reaction is "good catch", not "how do I silence this".</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THE CORE IDEA</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One character changes everything</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Sound null safety: every type is non-nullable unless you write a question mark.</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29</a:t>
            </a:r>
            <a:endParaRPr lang="en-US" sz="950" dirty="0"/>
          </a:p>
        </p:txBody>
      </p:sp>
      <p:sp>
        <p:nvSpPr>
          <p:cNvPr id="7" name="Shape 5"/>
          <p:cNvSpPr/>
          <p:nvPr/>
        </p:nvSpPr>
        <p:spPr>
          <a:xfrm>
            <a:off x="566928" y="1828800"/>
            <a:ext cx="5440680" cy="1965960"/>
          </a:xfrm>
          <a:prstGeom prst="roundRect">
            <a:avLst>
              <a:gd name="adj" fmla="val 2791"/>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NON-NULLABLE — THE DEFAULT</a:t>
            </a:r>
            <a:endParaRPr lang="en-US" sz="1050" dirty="0"/>
          </a:p>
        </p:txBody>
      </p:sp>
      <p:sp>
        <p:nvSpPr>
          <p:cNvPr id="9" name="Text 7"/>
          <p:cNvSpPr txBox="1"/>
          <p:nvPr/>
        </p:nvSpPr>
        <p:spPr>
          <a:xfrm>
            <a:off x="768096" y="2231136"/>
            <a:ext cx="5074920" cy="1453896"/>
          </a:xfrm>
          <a:prstGeom prst="rect">
            <a:avLst/>
          </a:prstGeom>
          <a:noFill/>
          <a:ln/>
        </p:spPr>
        <p:txBody>
          <a:bodyPr wrap="square" lIns="0" tIns="0" rIns="0" bIns="0" rtlCol="0" anchor="t"/>
          <a:lstStyle/>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int count = 0;</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String name = 'Ana';</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 </a:t>
            </a:r>
            <a:endParaRPr lang="en-US" sz="1229" dirty="0"/>
          </a:p>
          <a:p>
            <a:pPr marL="0" indent="0">
              <a:lnSpc>
                <a:spcPct val="106000"/>
              </a:lnSpc>
              <a:buNone/>
            </a:pPr>
            <a:r>
              <a:rPr lang="en-US" sz="1229" b="1" dirty="0">
                <a:solidFill>
                  <a:srgbClr val="C8EE7E"/>
                </a:solidFill>
                <a:latin typeface="Courier New" pitchFamily="34" charset="0"/>
                <a:ea typeface="Courier New" pitchFamily="34" charset="-122"/>
                <a:cs typeface="Courier New" pitchFamily="34" charset="-120"/>
              </a:rPr>
              <a:t>count = null;   // COMPILE ERROR</a:t>
            </a:r>
            <a:endParaRPr lang="en-US" sz="1229" dirty="0"/>
          </a:p>
          <a:p>
            <a:pPr marL="0" indent="0">
              <a:lnSpc>
                <a:spcPct val="106000"/>
              </a:lnSpc>
              <a:buNone/>
            </a:pPr>
            <a:r>
              <a:rPr lang="en-US" sz="1229" b="1" dirty="0">
                <a:solidFill>
                  <a:srgbClr val="C8EE7E"/>
                </a:solidFill>
                <a:latin typeface="Courier New" pitchFamily="34" charset="0"/>
                <a:ea typeface="Courier New" pitchFamily="34" charset="-122"/>
                <a:cs typeface="Courier New" pitchFamily="34" charset="-120"/>
              </a:rPr>
              <a:t>int x;          // ERROR if read before set</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 </a:t>
            </a:r>
            <a:endParaRPr lang="en-US" sz="1229" dirty="0"/>
          </a:p>
          <a:p>
            <a:pPr marL="0" indent="0">
              <a:lnSpc>
                <a:spcPct val="106000"/>
              </a:lnSpc>
              <a:buNone/>
            </a:pPr>
            <a:r>
              <a:rPr lang="en-US" sz="1229" i="1" dirty="0">
                <a:solidFill>
                  <a:srgbClr val="7FA6BD"/>
                </a:solidFill>
                <a:latin typeface="Courier New" pitchFamily="34" charset="0"/>
                <a:ea typeface="Courier New" pitchFamily="34" charset="-122"/>
                <a:cs typeface="Courier New" pitchFamily="34" charset="-120"/>
              </a:rPr>
              <a:t>// The compiler guarantees: never null.</a:t>
            </a:r>
            <a:endParaRPr lang="en-US" sz="1229" dirty="0"/>
          </a:p>
        </p:txBody>
      </p:sp>
      <p:sp>
        <p:nvSpPr>
          <p:cNvPr id="10" name="Shape 8"/>
          <p:cNvSpPr/>
          <p:nvPr/>
        </p:nvSpPr>
        <p:spPr>
          <a:xfrm>
            <a:off x="6190488" y="1828800"/>
            <a:ext cx="5440680" cy="1965960"/>
          </a:xfrm>
          <a:prstGeom prst="roundRect">
            <a:avLst>
              <a:gd name="adj" fmla="val 2791"/>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6391656" y="1929384"/>
            <a:ext cx="503834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NULLABLE — YOU OPT IN WITH ?</a:t>
            </a:r>
            <a:endParaRPr lang="en-US" sz="1050" dirty="0"/>
          </a:p>
        </p:txBody>
      </p:sp>
      <p:sp>
        <p:nvSpPr>
          <p:cNvPr id="12" name="Text 10"/>
          <p:cNvSpPr txBox="1"/>
          <p:nvPr/>
        </p:nvSpPr>
        <p:spPr>
          <a:xfrm>
            <a:off x="6391656" y="2231136"/>
            <a:ext cx="5074920" cy="1453896"/>
          </a:xfrm>
          <a:prstGeom prst="rect">
            <a:avLst/>
          </a:prstGeom>
          <a:noFill/>
          <a:ln/>
        </p:spPr>
        <p:txBody>
          <a:bodyPr wrap="square" lIns="0" tIns="0" rIns="0" bIns="0" rtlCol="0" anchor="t"/>
          <a:lstStyle/>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int? count;              // starts as null</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String? name = null;     // explicit</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 </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count = 5;               // fine</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count = null;            // also fine</a:t>
            </a:r>
            <a:endParaRPr lang="en-US" sz="1229" dirty="0"/>
          </a:p>
          <a:p>
            <a:pPr marL="0" indent="0">
              <a:lnSpc>
                <a:spcPct val="106000"/>
              </a:lnSpc>
              <a:buNone/>
            </a:pPr>
            <a:r>
              <a:rPr lang="en-US" sz="1229" dirty="0">
                <a:solidFill>
                  <a:srgbClr val="EAF2F7"/>
                </a:solidFill>
                <a:latin typeface="Courier New" pitchFamily="34" charset="0"/>
                <a:ea typeface="Courier New" pitchFamily="34" charset="-122"/>
                <a:cs typeface="Courier New" pitchFamily="34" charset="-120"/>
              </a:rPr>
              <a:t> </a:t>
            </a:r>
            <a:endParaRPr lang="en-US" sz="1229" dirty="0"/>
          </a:p>
          <a:p>
            <a:pPr marL="0" indent="0">
              <a:lnSpc>
                <a:spcPct val="106000"/>
              </a:lnSpc>
              <a:buNone/>
            </a:pPr>
            <a:r>
              <a:rPr lang="en-US" sz="1229" b="1" dirty="0">
                <a:solidFill>
                  <a:srgbClr val="C8EE7E"/>
                </a:solidFill>
                <a:latin typeface="Courier New" pitchFamily="34" charset="0"/>
                <a:ea typeface="Courier New" pitchFamily="34" charset="-122"/>
                <a:cs typeface="Courier New" pitchFamily="34" charset="-120"/>
              </a:rPr>
              <a:t>print(count + 1);        // ERROR: might be null</a:t>
            </a:r>
            <a:endParaRPr lang="en-US" sz="1229" dirty="0"/>
          </a:p>
        </p:txBody>
      </p:sp>
      <p:sp>
        <p:nvSpPr>
          <p:cNvPr id="13" name="Shape 11"/>
          <p:cNvSpPr/>
          <p:nvPr/>
        </p:nvSpPr>
        <p:spPr>
          <a:xfrm>
            <a:off x="566928" y="3931920"/>
            <a:ext cx="5440680" cy="1874520"/>
          </a:xfrm>
          <a:prstGeom prst="roundRect">
            <a:avLst>
              <a:gd name="adj" fmla="val 2439"/>
            </a:avLst>
          </a:prstGeom>
          <a:solidFill>
            <a:srgbClr val="E4F1F2"/>
          </a:solidFill>
          <a:ln/>
        </p:spPr>
        <p:txBody>
          <a:bodyPr/>
          <a:lstStyle/>
          <a:p>
            <a:endParaRPr lang="en-CA"/>
          </a:p>
        </p:txBody>
      </p:sp>
      <p:sp>
        <p:nvSpPr>
          <p:cNvPr id="14" name="Text 12"/>
          <p:cNvSpPr txBox="1"/>
          <p:nvPr/>
        </p:nvSpPr>
        <p:spPr>
          <a:xfrm>
            <a:off x="768096" y="4096512"/>
            <a:ext cx="5038344"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What "sound" means</a:t>
            </a:r>
            <a:endParaRPr lang="en-US" sz="1600" dirty="0"/>
          </a:p>
        </p:txBody>
      </p:sp>
      <p:sp>
        <p:nvSpPr>
          <p:cNvPr id="15" name="Text 13"/>
          <p:cNvSpPr txBox="1"/>
          <p:nvPr/>
        </p:nvSpPr>
        <p:spPr>
          <a:xfrm>
            <a:off x="786384" y="4517136"/>
            <a:ext cx="5001768" cy="108813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If a variable's type is int, it is never null — no exceptions, no escape hatch</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So the compiler can trust it, optimise on it, and stop asking you to check</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Soundness is why Dart won't let one dynamic corner of your code poison the rest</a:t>
            </a:r>
            <a:endParaRPr lang="en-US" sz="1250" dirty="0"/>
          </a:p>
        </p:txBody>
      </p:sp>
      <p:sp>
        <p:nvSpPr>
          <p:cNvPr id="16" name="Shape 14"/>
          <p:cNvSpPr/>
          <p:nvPr/>
        </p:nvSpPr>
        <p:spPr>
          <a:xfrm>
            <a:off x="6190488" y="3931920"/>
            <a:ext cx="5440680" cy="1874520"/>
          </a:xfrm>
          <a:prstGeom prst="roundRect">
            <a:avLst>
              <a:gd name="adj" fmla="val 2439"/>
            </a:avLst>
          </a:prstGeom>
          <a:solidFill>
            <a:srgbClr val="FDF3E3"/>
          </a:solidFill>
          <a:ln w="12700">
            <a:solidFill>
              <a:srgbClr val="E0A64B"/>
            </a:solidFill>
            <a:prstDash val="solid"/>
          </a:ln>
        </p:spPr>
        <p:txBody>
          <a:bodyPr/>
          <a:lstStyle/>
          <a:p>
            <a:endParaRPr lang="en-CA"/>
          </a:p>
        </p:txBody>
      </p:sp>
      <p:sp>
        <p:nvSpPr>
          <p:cNvPr id="17" name="Text 15"/>
          <p:cNvSpPr txBox="1"/>
          <p:nvPr/>
        </p:nvSpPr>
        <p:spPr>
          <a:xfrm>
            <a:off x="6391656" y="4096512"/>
            <a:ext cx="5038344" cy="329184"/>
          </a:xfrm>
          <a:prstGeom prst="rect">
            <a:avLst/>
          </a:prstGeom>
          <a:noFill/>
          <a:ln/>
        </p:spPr>
        <p:txBody>
          <a:bodyPr wrap="square" lIns="0" tIns="0" rIns="0" bIns="0" rtlCol="0" anchor="ctr"/>
          <a:lstStyle/>
          <a:p>
            <a:pPr marL="0" indent="0">
              <a:buNone/>
            </a:pPr>
            <a:r>
              <a:rPr lang="en-US" sz="1600" b="1" dirty="0">
                <a:solidFill>
                  <a:srgbClr val="7A5312"/>
                </a:solidFill>
                <a:latin typeface="Calibri" pitchFamily="34" charset="0"/>
                <a:ea typeface="Calibri" pitchFamily="34" charset="-122"/>
                <a:cs typeface="Calibri" pitchFamily="34" charset="-120"/>
              </a:rPr>
              <a:t>Read the bottom-right error carefully</a:t>
            </a:r>
            <a:endParaRPr lang="en-US" sz="1600" dirty="0"/>
          </a:p>
        </p:txBody>
      </p:sp>
      <p:sp>
        <p:nvSpPr>
          <p:cNvPr id="18" name="Text 16"/>
          <p:cNvSpPr txBox="1"/>
          <p:nvPr/>
        </p:nvSpPr>
        <p:spPr>
          <a:xfrm>
            <a:off x="6391656" y="4498848"/>
            <a:ext cx="5038344" cy="1088136"/>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The compiler is not saying count IS null. It's saying it cannot prove that it isn't. Your job is to give it a proof — a check, a default, or a promise. The next four slides are the four ways to do that.</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TOOL 1 OF 5</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Just check it: flow analysis and promotion</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The cleanest fix is usually an ordinary if statement. The compiler is watching.</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30</a:t>
            </a:r>
            <a:endParaRPr lang="en-US" sz="950" dirty="0"/>
          </a:p>
        </p:txBody>
      </p:sp>
      <p:sp>
        <p:nvSpPr>
          <p:cNvPr id="7" name="Shape 5"/>
          <p:cNvSpPr/>
          <p:nvPr/>
        </p:nvSpPr>
        <p:spPr>
          <a:xfrm>
            <a:off x="566928" y="1828800"/>
            <a:ext cx="6537960" cy="3246120"/>
          </a:xfrm>
          <a:prstGeom prst="roundRect">
            <a:avLst>
              <a:gd name="adj" fmla="val 169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61356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COMPILER FOLLOWS YOUR LOGIC</a:t>
            </a:r>
            <a:endParaRPr lang="en-US" sz="1050" dirty="0"/>
          </a:p>
        </p:txBody>
      </p:sp>
      <p:sp>
        <p:nvSpPr>
          <p:cNvPr id="9" name="Text 7"/>
          <p:cNvSpPr txBox="1"/>
          <p:nvPr/>
        </p:nvSpPr>
        <p:spPr>
          <a:xfrm>
            <a:off x="768096" y="2231136"/>
            <a:ext cx="6172200" cy="2734056"/>
          </a:xfrm>
          <a:prstGeom prst="rect">
            <a:avLst/>
          </a:prstGeom>
          <a:noFill/>
          <a:ln/>
        </p:spPr>
        <p:txBody>
          <a:bodyPr wrap="square" lIns="0" tIns="0" rIns="0" bIns="0" rtlCol="0" anchor="t"/>
          <a:lstStyle/>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int? maybeCount = fetchCount();</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 </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if (maybeCount != null) {</a:t>
            </a:r>
            <a:endParaRPr lang="en-US" sz="1177" dirty="0"/>
          </a:p>
          <a:p>
            <a:pPr marL="0" indent="0">
              <a:lnSpc>
                <a:spcPct val="106000"/>
              </a:lnSpc>
              <a:buNone/>
            </a:pPr>
            <a:r>
              <a:rPr lang="en-US" sz="1177" b="1" dirty="0">
                <a:solidFill>
                  <a:srgbClr val="C8EE7E"/>
                </a:solidFill>
                <a:latin typeface="Courier New" pitchFamily="34" charset="0"/>
                <a:ea typeface="Courier New" pitchFamily="34" charset="-122"/>
                <a:cs typeface="Courier New" pitchFamily="34" charset="-120"/>
              </a:rPr>
              <a:t>  print(maybeCount + 1);   // OK — promoted to int</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 </a:t>
            </a:r>
            <a:endParaRPr lang="en-US" sz="1177" dirty="0"/>
          </a:p>
          <a:p>
            <a:pPr marL="0" indent="0">
              <a:lnSpc>
                <a:spcPct val="106000"/>
              </a:lnSpc>
              <a:buNone/>
            </a:pPr>
            <a:r>
              <a:rPr lang="en-US" sz="1177" i="1" dirty="0">
                <a:solidFill>
                  <a:srgbClr val="7FA6BD"/>
                </a:solidFill>
                <a:latin typeface="Courier New" pitchFamily="34" charset="0"/>
                <a:ea typeface="Courier New" pitchFamily="34" charset="-122"/>
                <a:cs typeface="Courier New" pitchFamily="34" charset="-120"/>
              </a:rPr>
              <a:t>// early return works the same way</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void show(String? name) {</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  if (name == null) return;</a:t>
            </a:r>
            <a:endParaRPr lang="en-US" sz="1177" dirty="0"/>
          </a:p>
          <a:p>
            <a:pPr marL="0" indent="0">
              <a:lnSpc>
                <a:spcPct val="106000"/>
              </a:lnSpc>
              <a:buNone/>
            </a:pPr>
            <a:r>
              <a:rPr lang="en-US" sz="1177" b="1" dirty="0">
                <a:solidFill>
                  <a:srgbClr val="C8EE7E"/>
                </a:solidFill>
                <a:latin typeface="Courier New" pitchFamily="34" charset="0"/>
                <a:ea typeface="Courier New" pitchFamily="34" charset="-122"/>
                <a:cs typeface="Courier New" pitchFamily="34" charset="-120"/>
              </a:rPr>
              <a:t>  print(name.toUpperCase());   // OK from here on</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 </a:t>
            </a:r>
            <a:endParaRPr lang="en-US" sz="1177" dirty="0"/>
          </a:p>
          <a:p>
            <a:pPr marL="0" indent="0">
              <a:lnSpc>
                <a:spcPct val="106000"/>
              </a:lnSpc>
              <a:buNone/>
            </a:pPr>
            <a:r>
              <a:rPr lang="en-US" sz="1177" i="1" dirty="0">
                <a:solidFill>
                  <a:srgbClr val="7FA6BD"/>
                </a:solidFill>
                <a:latin typeface="Courier New" pitchFamily="34" charset="0"/>
                <a:ea typeface="Courier New" pitchFamily="34" charset="-122"/>
                <a:cs typeface="Courier New" pitchFamily="34" charset="-120"/>
              </a:rPr>
              <a:t>// so does an inline guard</a:t>
            </a:r>
            <a:endParaRPr lang="en-US" sz="1177" dirty="0"/>
          </a:p>
          <a:p>
            <a:pPr marL="0" indent="0">
              <a:lnSpc>
                <a:spcPct val="106000"/>
              </a:lnSpc>
              <a:buNone/>
            </a:pPr>
            <a:r>
              <a:rPr lang="en-US" sz="1177" dirty="0">
                <a:solidFill>
                  <a:srgbClr val="EAF2F7"/>
                </a:solidFill>
                <a:latin typeface="Courier New" pitchFamily="34" charset="0"/>
                <a:ea typeface="Courier New" pitchFamily="34" charset="-122"/>
                <a:cs typeface="Courier New" pitchFamily="34" charset="-120"/>
              </a:rPr>
              <a:t>final len = name == null ? 0 : name.length;</a:t>
            </a:r>
            <a:endParaRPr lang="en-US" sz="1177" dirty="0"/>
          </a:p>
        </p:txBody>
      </p:sp>
      <p:sp>
        <p:nvSpPr>
          <p:cNvPr id="10" name="Shape 8"/>
          <p:cNvSpPr/>
          <p:nvPr/>
        </p:nvSpPr>
        <p:spPr>
          <a:xfrm>
            <a:off x="7269480" y="1828800"/>
            <a:ext cx="4361688" cy="1554480"/>
          </a:xfrm>
          <a:prstGeom prst="roundRect">
            <a:avLst>
              <a:gd name="adj" fmla="val 2941"/>
            </a:avLst>
          </a:prstGeom>
          <a:solidFill>
            <a:srgbClr val="E4F1F2"/>
          </a:solidFill>
          <a:ln/>
        </p:spPr>
        <p:txBody>
          <a:bodyPr/>
          <a:lstStyle/>
          <a:p>
            <a:endParaRPr lang="en-CA"/>
          </a:p>
        </p:txBody>
      </p:sp>
      <p:sp>
        <p:nvSpPr>
          <p:cNvPr id="11" name="Text 9"/>
          <p:cNvSpPr txBox="1"/>
          <p:nvPr/>
        </p:nvSpPr>
        <p:spPr>
          <a:xfrm>
            <a:off x="7470648" y="1993392"/>
            <a:ext cx="395935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Type promotion</a:t>
            </a:r>
            <a:endParaRPr lang="en-US" sz="1600" dirty="0"/>
          </a:p>
        </p:txBody>
      </p:sp>
      <p:sp>
        <p:nvSpPr>
          <p:cNvPr id="12" name="Text 10"/>
          <p:cNvSpPr txBox="1"/>
          <p:nvPr/>
        </p:nvSpPr>
        <p:spPr>
          <a:xfrm>
            <a:off x="7470648" y="2395728"/>
            <a:ext cx="3959352" cy="768096"/>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Inside a branch where null has been ruled out, Dart treats the variable as the non-nullable type. You don't write a cast — it just happens.</a:t>
            </a:r>
            <a:endParaRPr lang="en-US" sz="1250" dirty="0"/>
          </a:p>
        </p:txBody>
      </p:sp>
      <p:sp>
        <p:nvSpPr>
          <p:cNvPr id="13" name="Shape 11"/>
          <p:cNvSpPr/>
          <p:nvPr/>
        </p:nvSpPr>
        <p:spPr>
          <a:xfrm>
            <a:off x="7269480" y="3520440"/>
            <a:ext cx="4361688" cy="1554480"/>
          </a:xfrm>
          <a:prstGeom prst="roundRect">
            <a:avLst>
              <a:gd name="adj" fmla="val 2941"/>
            </a:avLst>
          </a:prstGeom>
          <a:solidFill>
            <a:srgbClr val="FDF3E3"/>
          </a:solidFill>
          <a:ln w="12700">
            <a:solidFill>
              <a:srgbClr val="E0A64B"/>
            </a:solidFill>
            <a:prstDash val="solid"/>
          </a:ln>
        </p:spPr>
        <p:txBody>
          <a:bodyPr/>
          <a:lstStyle/>
          <a:p>
            <a:endParaRPr lang="en-CA"/>
          </a:p>
        </p:txBody>
      </p:sp>
      <p:sp>
        <p:nvSpPr>
          <p:cNvPr id="14" name="Text 12"/>
          <p:cNvSpPr txBox="1"/>
          <p:nvPr/>
        </p:nvSpPr>
        <p:spPr>
          <a:xfrm>
            <a:off x="7470648" y="3685032"/>
            <a:ext cx="3959352" cy="329184"/>
          </a:xfrm>
          <a:prstGeom prst="rect">
            <a:avLst/>
          </a:prstGeom>
          <a:noFill/>
          <a:ln/>
        </p:spPr>
        <p:txBody>
          <a:bodyPr wrap="square" lIns="0" tIns="0" rIns="0" bIns="0" rtlCol="0" anchor="ctr"/>
          <a:lstStyle/>
          <a:p>
            <a:pPr marL="0" indent="0">
              <a:buNone/>
            </a:pPr>
            <a:r>
              <a:rPr lang="en-US" sz="1600" b="1" dirty="0">
                <a:solidFill>
                  <a:srgbClr val="7A5312"/>
                </a:solidFill>
                <a:latin typeface="Calibri" pitchFamily="34" charset="0"/>
                <a:ea typeface="Calibri" pitchFamily="34" charset="-122"/>
                <a:cs typeface="Calibri" pitchFamily="34" charset="-120"/>
              </a:rPr>
              <a:t>Promotion has limits</a:t>
            </a:r>
            <a:endParaRPr lang="en-US" sz="1600" dirty="0"/>
          </a:p>
        </p:txBody>
      </p:sp>
      <p:sp>
        <p:nvSpPr>
          <p:cNvPr id="15" name="Text 13"/>
          <p:cNvSpPr txBox="1"/>
          <p:nvPr/>
        </p:nvSpPr>
        <p:spPr>
          <a:xfrm>
            <a:off x="7470648" y="4087368"/>
            <a:ext cx="3959352" cy="768096"/>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Local variables promote. Class fields and top-level variables do not — another thread or another method could change them between the check and the use. Copy a field into a local first.</a:t>
            </a:r>
            <a:endParaRPr lang="en-US" sz="1250" dirty="0"/>
          </a:p>
        </p:txBody>
      </p:sp>
      <p:sp>
        <p:nvSpPr>
          <p:cNvPr id="16" name="Shape 14"/>
          <p:cNvSpPr/>
          <p:nvPr/>
        </p:nvSpPr>
        <p:spPr>
          <a:xfrm>
            <a:off x="566928" y="5212080"/>
            <a:ext cx="11064240" cy="658368"/>
          </a:xfrm>
          <a:prstGeom prst="roundRect">
            <a:avLst>
              <a:gd name="adj" fmla="val 833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7" name="Text 15"/>
          <p:cNvSpPr txBox="1"/>
          <p:nvPr/>
        </p:nvSpPr>
        <p:spPr>
          <a:xfrm>
            <a:off x="768096" y="5340096"/>
            <a:ext cx="10698480" cy="420624"/>
          </a:xfrm>
          <a:prstGeom prst="rect">
            <a:avLst/>
          </a:prstGeom>
          <a:noFill/>
          <a:ln/>
        </p:spPr>
        <p:txBody>
          <a:bodyPr wrap="square" lIns="0" tIns="0" rIns="0" bIns="0" rtlCol="0" anchor="t"/>
          <a:lstStyle/>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field doesn't promote → copy to a local:   final n = this.name;  if (n != null) print(n.length);</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TOOL 2 OF 5</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Supply a fallback: ?? and ??=</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31</a:t>
            </a:r>
            <a:endParaRPr lang="en-US" sz="950" dirty="0"/>
          </a:p>
        </p:txBody>
      </p:sp>
      <p:sp>
        <p:nvSpPr>
          <p:cNvPr id="6" name="Shape 4"/>
          <p:cNvSpPr/>
          <p:nvPr/>
        </p:nvSpPr>
        <p:spPr>
          <a:xfrm>
            <a:off x="566928" y="1417320"/>
            <a:ext cx="5806440" cy="2286000"/>
          </a:xfrm>
          <a:prstGeom prst="roundRect">
            <a:avLst>
              <a:gd name="adj" fmla="val 24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517904"/>
            <a:ext cx="54041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 — "OR ELSE USE THIS"</a:t>
            </a:r>
            <a:endParaRPr lang="en-US" sz="1050" dirty="0"/>
          </a:p>
        </p:txBody>
      </p:sp>
      <p:sp>
        <p:nvSpPr>
          <p:cNvPr id="8" name="Text 6"/>
          <p:cNvSpPr txBox="1"/>
          <p:nvPr/>
        </p:nvSpPr>
        <p:spPr>
          <a:xfrm>
            <a:off x="768096" y="1819656"/>
            <a:ext cx="5440680" cy="1773936"/>
          </a:xfrm>
          <a:prstGeom prst="rect">
            <a:avLst/>
          </a:prstGeom>
          <a:noFill/>
          <a:ln/>
        </p:spPr>
        <p:txBody>
          <a:bodyPr wrap="square" lIns="0" tIns="0" rIns="0" bIns="0" rtlCol="0" anchor="t"/>
          <a:lstStyle/>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String? input;</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 </a:t>
            </a:r>
            <a:endParaRPr lang="en-US" sz="1175" dirty="0"/>
          </a:p>
          <a:p>
            <a:pPr marL="0" indent="0">
              <a:lnSpc>
                <a:spcPct val="106000"/>
              </a:lnSpc>
              <a:buNone/>
            </a:pPr>
            <a:r>
              <a:rPr lang="en-US" sz="1175" b="1" dirty="0">
                <a:solidFill>
                  <a:srgbClr val="C8EE7E"/>
                </a:solidFill>
                <a:latin typeface="Courier New" pitchFamily="34" charset="0"/>
                <a:ea typeface="Courier New" pitchFamily="34" charset="-122"/>
                <a:cs typeface="Courier New" pitchFamily="34" charset="-120"/>
              </a:rPr>
              <a:t>final name = input ?? 'Guest';   // 'Guest'</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 </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int? mark;</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final display = mark ?? 0;       // 0</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 </a:t>
            </a:r>
            <a:endParaRPr lang="en-US" sz="1175" dirty="0"/>
          </a:p>
          <a:p>
            <a:pPr marL="0" indent="0">
              <a:lnSpc>
                <a:spcPct val="106000"/>
              </a:lnSpc>
              <a:buNone/>
            </a:pPr>
            <a:r>
              <a:rPr lang="en-US" sz="1175" i="1" dirty="0">
                <a:solidFill>
                  <a:srgbClr val="7FA6BD"/>
                </a:solidFill>
                <a:latin typeface="Courier New" pitchFamily="34" charset="0"/>
                <a:ea typeface="Courier New" pitchFamily="34" charset="-122"/>
                <a:cs typeface="Courier New" pitchFamily="34" charset="-120"/>
              </a:rPr>
              <a:t>// chains left to right, first non-null wins</a:t>
            </a:r>
            <a:endParaRPr lang="en-US" sz="1175" dirty="0"/>
          </a:p>
          <a:p>
            <a:pPr marL="0" indent="0">
              <a:lnSpc>
                <a:spcPct val="106000"/>
              </a:lnSpc>
              <a:buNone/>
            </a:pPr>
            <a:r>
              <a:rPr lang="en-US" sz="1175" dirty="0">
                <a:solidFill>
                  <a:srgbClr val="EAF2F7"/>
                </a:solidFill>
                <a:latin typeface="Courier New" pitchFamily="34" charset="0"/>
                <a:ea typeface="Courier New" pitchFamily="34" charset="-122"/>
                <a:cs typeface="Courier New" pitchFamily="34" charset="-120"/>
              </a:rPr>
              <a:t>final city = home ?? work ?? 'unknown';</a:t>
            </a:r>
            <a:endParaRPr lang="en-US" sz="1175" dirty="0"/>
          </a:p>
        </p:txBody>
      </p:sp>
      <p:sp>
        <p:nvSpPr>
          <p:cNvPr id="9" name="Shape 7"/>
          <p:cNvSpPr/>
          <p:nvPr/>
        </p:nvSpPr>
        <p:spPr>
          <a:xfrm>
            <a:off x="6537960" y="1417320"/>
            <a:ext cx="5093208" cy="2286000"/>
          </a:xfrm>
          <a:prstGeom prst="roundRect">
            <a:avLst>
              <a:gd name="adj" fmla="val 24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0" name="Text 8"/>
          <p:cNvSpPr txBox="1"/>
          <p:nvPr/>
        </p:nvSpPr>
        <p:spPr>
          <a:xfrm>
            <a:off x="6739128" y="1517904"/>
            <a:ext cx="4690872"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 — "SET IT IF IT'S STILL NULL"</a:t>
            </a:r>
            <a:endParaRPr lang="en-US" sz="1050" dirty="0"/>
          </a:p>
        </p:txBody>
      </p:sp>
      <p:sp>
        <p:nvSpPr>
          <p:cNvPr id="11" name="Text 9"/>
          <p:cNvSpPr txBox="1"/>
          <p:nvPr/>
        </p:nvSpPr>
        <p:spPr>
          <a:xfrm>
            <a:off x="6739128" y="1819656"/>
            <a:ext cx="4727448" cy="1773936"/>
          </a:xfrm>
          <a:prstGeom prst="rect">
            <a:avLst/>
          </a:prstGeom>
          <a:noFill/>
          <a:ln/>
        </p:spPr>
        <p:txBody>
          <a:bodyPr wrap="square" lIns="0" tIns="0" rIns="0" bIns="0" rtlCol="0" anchor="t"/>
          <a:lstStyle/>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String? cache;</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a:t>
            </a:r>
            <a:endParaRPr lang="en-US" sz="1300" dirty="0"/>
          </a:p>
          <a:p>
            <a:pPr marL="0" indent="0">
              <a:lnSpc>
                <a:spcPct val="106000"/>
              </a:lnSpc>
              <a:buNone/>
            </a:pPr>
            <a:r>
              <a:rPr lang="en-US" sz="1300" b="1" dirty="0">
                <a:solidFill>
                  <a:srgbClr val="C8EE7E"/>
                </a:solidFill>
                <a:latin typeface="Courier New" pitchFamily="34" charset="0"/>
                <a:ea typeface="Courier New" pitchFamily="34" charset="-122"/>
                <a:cs typeface="Courier New" pitchFamily="34" charset="-120"/>
              </a:rPr>
              <a:t>cache ??= expensiveLookup();</a:t>
            </a:r>
            <a:endParaRPr lang="en-US" sz="1300" dirty="0"/>
          </a:p>
          <a:p>
            <a:pPr marL="0" indent="0">
              <a:lnSpc>
                <a:spcPct val="106000"/>
              </a:lnSpc>
              <a:buNone/>
            </a:pPr>
            <a:r>
              <a:rPr lang="en-US" sz="1300" i="1" dirty="0">
                <a:solidFill>
                  <a:srgbClr val="7FA6BD"/>
                </a:solidFill>
                <a:latin typeface="Courier New" pitchFamily="34" charset="0"/>
                <a:ea typeface="Courier New" pitchFamily="34" charset="-122"/>
                <a:cs typeface="Courier New" pitchFamily="34" charset="-120"/>
              </a:rPr>
              <a:t>// runs the lookup only the first time</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 </a:t>
            </a:r>
            <a:endParaRPr lang="en-US" sz="1300" dirty="0"/>
          </a:p>
          <a:p>
            <a:pPr marL="0" indent="0">
              <a:lnSpc>
                <a:spcPct val="106000"/>
              </a:lnSpc>
              <a:buNone/>
            </a:pPr>
            <a:r>
              <a:rPr lang="en-US" sz="1300" dirty="0">
                <a:solidFill>
                  <a:srgbClr val="EAF2F7"/>
                </a:solidFill>
                <a:latin typeface="Courier New" pitchFamily="34" charset="0"/>
                <a:ea typeface="Courier New" pitchFamily="34" charset="-122"/>
                <a:cs typeface="Courier New" pitchFamily="34" charset="-120"/>
              </a:rPr>
              <a:t>cache ??= expensiveLookup();</a:t>
            </a:r>
            <a:endParaRPr lang="en-US" sz="1300" dirty="0"/>
          </a:p>
          <a:p>
            <a:pPr marL="0" indent="0">
              <a:lnSpc>
                <a:spcPct val="106000"/>
              </a:lnSpc>
              <a:buNone/>
            </a:pPr>
            <a:r>
              <a:rPr lang="en-US" sz="1300" i="1" dirty="0">
                <a:solidFill>
                  <a:srgbClr val="7FA6BD"/>
                </a:solidFill>
                <a:latin typeface="Courier New" pitchFamily="34" charset="0"/>
                <a:ea typeface="Courier New" pitchFamily="34" charset="-122"/>
                <a:cs typeface="Courier New" pitchFamily="34" charset="-120"/>
              </a:rPr>
              <a:t>// second call does nothing at all</a:t>
            </a:r>
            <a:endParaRPr lang="en-US" sz="1300" dirty="0"/>
          </a:p>
        </p:txBody>
      </p:sp>
      <p:sp>
        <p:nvSpPr>
          <p:cNvPr id="12" name="Shape 10"/>
          <p:cNvSpPr/>
          <p:nvPr/>
        </p:nvSpPr>
        <p:spPr>
          <a:xfrm>
            <a:off x="566928" y="3840480"/>
            <a:ext cx="5806440" cy="1965960"/>
          </a:xfrm>
          <a:prstGeom prst="roundRect">
            <a:avLst>
              <a:gd name="adj" fmla="val 2326"/>
            </a:avLst>
          </a:prstGeom>
          <a:solidFill>
            <a:srgbClr val="E4F1F2"/>
          </a:solidFill>
          <a:ln/>
        </p:spPr>
        <p:txBody>
          <a:bodyPr/>
          <a:lstStyle/>
          <a:p>
            <a:endParaRPr lang="en-CA"/>
          </a:p>
        </p:txBody>
      </p:sp>
      <p:sp>
        <p:nvSpPr>
          <p:cNvPr id="13" name="Text 11"/>
          <p:cNvSpPr txBox="1"/>
          <p:nvPr/>
        </p:nvSpPr>
        <p:spPr>
          <a:xfrm>
            <a:off x="768096" y="4005072"/>
            <a:ext cx="5404104"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Why ?? is usually the best answer</a:t>
            </a:r>
            <a:endParaRPr lang="en-US" sz="1600" dirty="0"/>
          </a:p>
        </p:txBody>
      </p:sp>
      <p:sp>
        <p:nvSpPr>
          <p:cNvPr id="14" name="Text 12"/>
          <p:cNvSpPr txBox="1"/>
          <p:nvPr/>
        </p:nvSpPr>
        <p:spPr>
          <a:xfrm>
            <a:off x="786384" y="4425696"/>
            <a:ext cx="5367528" cy="117957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It never crashes — there is always a value on the other side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It documents your intent: "if this is missing, here is what I want instead"</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The result type is non-nullable, so everything downstream gets easier</a:t>
            </a:r>
            <a:endParaRPr lang="en-US" sz="1250" dirty="0"/>
          </a:p>
        </p:txBody>
      </p:sp>
      <p:sp>
        <p:nvSpPr>
          <p:cNvPr id="15" name="Shape 13"/>
          <p:cNvSpPr/>
          <p:nvPr/>
        </p:nvSpPr>
        <p:spPr>
          <a:xfrm>
            <a:off x="6537960" y="3840480"/>
            <a:ext cx="5093208" cy="1965960"/>
          </a:xfrm>
          <a:prstGeom prst="roundRect">
            <a:avLst>
              <a:gd name="adj" fmla="val 2326"/>
            </a:avLst>
          </a:prstGeom>
          <a:solidFill>
            <a:srgbClr val="FDF3E3"/>
          </a:solidFill>
          <a:ln w="12700">
            <a:solidFill>
              <a:srgbClr val="E0A64B"/>
            </a:solidFill>
            <a:prstDash val="solid"/>
          </a:ln>
        </p:spPr>
        <p:txBody>
          <a:bodyPr/>
          <a:lstStyle/>
          <a:p>
            <a:endParaRPr lang="en-CA"/>
          </a:p>
        </p:txBody>
      </p:sp>
      <p:sp>
        <p:nvSpPr>
          <p:cNvPr id="16" name="Text 14"/>
          <p:cNvSpPr txBox="1"/>
          <p:nvPr/>
        </p:nvSpPr>
        <p:spPr>
          <a:xfrm>
            <a:off x="6739128" y="4005072"/>
            <a:ext cx="4690872" cy="329184"/>
          </a:xfrm>
          <a:prstGeom prst="rect">
            <a:avLst/>
          </a:prstGeom>
          <a:noFill/>
          <a:ln/>
        </p:spPr>
        <p:txBody>
          <a:bodyPr wrap="square" lIns="0" tIns="0" rIns="0" bIns="0" rtlCol="0" anchor="ctr"/>
          <a:lstStyle/>
          <a:p>
            <a:pPr marL="0" indent="0">
              <a:buNone/>
            </a:pPr>
            <a:r>
              <a:rPr lang="en-US" sz="1600" b="1" dirty="0">
                <a:solidFill>
                  <a:srgbClr val="7A5312"/>
                </a:solidFill>
                <a:latin typeface="Calibri" pitchFamily="34" charset="0"/>
                <a:ea typeface="Calibri" pitchFamily="34" charset="-122"/>
                <a:cs typeface="Calibri" pitchFamily="34" charset="-120"/>
              </a:rPr>
              <a:t>Careful: ?? is not ||</a:t>
            </a:r>
            <a:endParaRPr lang="en-US" sz="1600" dirty="0"/>
          </a:p>
        </p:txBody>
      </p:sp>
      <p:sp>
        <p:nvSpPr>
          <p:cNvPr id="17" name="Text 15"/>
          <p:cNvSpPr txBox="1"/>
          <p:nvPr/>
        </p:nvSpPr>
        <p:spPr>
          <a:xfrm>
            <a:off x="6739128" y="4407408"/>
            <a:ext cx="4690872" cy="1179576"/>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 only reacts to null. It does not react to 0, to false, or to an empty string. count ?? 10 gives you 0 when count is 0 — because 0 is a perfectly good value. If you also want to reject empties, say so: (s == null || s.isEmpty) ? 'n/a' : s.</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TOOL 3 OF 5</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Call it only if it's there: ?.</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32</a:t>
            </a:r>
            <a:endParaRPr lang="en-US" sz="950" dirty="0"/>
          </a:p>
        </p:txBody>
      </p:sp>
      <p:sp>
        <p:nvSpPr>
          <p:cNvPr id="6" name="Shape 4"/>
          <p:cNvSpPr/>
          <p:nvPr/>
        </p:nvSpPr>
        <p:spPr>
          <a:xfrm>
            <a:off x="566928" y="1417320"/>
            <a:ext cx="6537960" cy="3017520"/>
          </a:xfrm>
          <a:prstGeom prst="roundRect">
            <a:avLst>
              <a:gd name="adj" fmla="val 1818"/>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517904"/>
            <a:ext cx="61356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NULL-AWARE ACCESS</a:t>
            </a:r>
            <a:endParaRPr lang="en-US" sz="1050" dirty="0"/>
          </a:p>
        </p:txBody>
      </p:sp>
      <p:sp>
        <p:nvSpPr>
          <p:cNvPr id="8" name="Text 6"/>
          <p:cNvSpPr txBox="1"/>
          <p:nvPr/>
        </p:nvSpPr>
        <p:spPr>
          <a:xfrm>
            <a:off x="768096" y="1819656"/>
            <a:ext cx="6172200" cy="2505456"/>
          </a:xfrm>
          <a:prstGeom prst="rect">
            <a:avLst/>
          </a:prstGeom>
          <a:noFill/>
          <a:ln/>
        </p:spPr>
        <p:txBody>
          <a:bodyPr wrap="square" lIns="0" tIns="0" rIns="0" bIns="0" rtlCol="0" anchor="t"/>
          <a:lstStyle/>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String? name;</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print(name?.length);      // null — no crash</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print(name.length);       // COMPILE ERROR</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name = 'Ana';</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print(name?.length);      // 3</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a:t>
            </a:r>
            <a:endParaRPr lang="en-US" sz="1077" dirty="0"/>
          </a:p>
          <a:p>
            <a:pPr marL="0" indent="0">
              <a:lnSpc>
                <a:spcPct val="106000"/>
              </a:lnSpc>
              <a:buNone/>
            </a:pPr>
            <a:r>
              <a:rPr lang="en-US" sz="1077" i="1" dirty="0">
                <a:solidFill>
                  <a:srgbClr val="7FA6BD"/>
                </a:solidFill>
                <a:latin typeface="Courier New" pitchFamily="34" charset="0"/>
                <a:ea typeface="Courier New" pitchFamily="34" charset="-122"/>
                <a:cs typeface="Courier New" pitchFamily="34" charset="-120"/>
              </a:rPr>
              <a:t>// combine with ?? for a guaranteed value</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final len = name?.length ?? 0;</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a:t>
            </a:r>
            <a:endParaRPr lang="en-US" sz="1077" dirty="0"/>
          </a:p>
          <a:p>
            <a:pPr marL="0" indent="0">
              <a:lnSpc>
                <a:spcPct val="106000"/>
              </a:lnSpc>
              <a:buNone/>
            </a:pPr>
            <a:r>
              <a:rPr lang="en-US" sz="1077" i="1" dirty="0">
                <a:solidFill>
                  <a:srgbClr val="7FA6BD"/>
                </a:solidFill>
                <a:latin typeface="Courier New" pitchFamily="34" charset="0"/>
                <a:ea typeface="Courier New" pitchFamily="34" charset="-122"/>
                <a:cs typeface="Courier New" pitchFamily="34" charset="-120"/>
              </a:rPr>
              <a:t>// chains short-circuit: if student is null,</a:t>
            </a:r>
            <a:endParaRPr lang="en-US" sz="1077" dirty="0"/>
          </a:p>
          <a:p>
            <a:pPr marL="0" indent="0">
              <a:lnSpc>
                <a:spcPct val="106000"/>
              </a:lnSpc>
              <a:buNone/>
            </a:pPr>
            <a:r>
              <a:rPr lang="en-US" sz="1077" i="1" dirty="0">
                <a:solidFill>
                  <a:srgbClr val="7FA6BD"/>
                </a:solidFill>
                <a:latin typeface="Courier New" pitchFamily="34" charset="0"/>
                <a:ea typeface="Courier New" pitchFamily="34" charset="-122"/>
                <a:cs typeface="Courier New" pitchFamily="34" charset="-120"/>
              </a:rPr>
              <a:t>// nothing after the ?. is evaluated at all</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final city = student?.address?.city ?? 'n/a';</a:t>
            </a:r>
            <a:endParaRPr lang="en-US" sz="1077" dirty="0"/>
          </a:p>
        </p:txBody>
      </p:sp>
      <p:sp>
        <p:nvSpPr>
          <p:cNvPr id="9" name="Shape 7"/>
          <p:cNvSpPr/>
          <p:nvPr/>
        </p:nvSpPr>
        <p:spPr>
          <a:xfrm>
            <a:off x="7269480" y="1417320"/>
            <a:ext cx="4361688" cy="1417320"/>
          </a:xfrm>
          <a:prstGeom prst="roundRect">
            <a:avLst>
              <a:gd name="adj" fmla="val 3226"/>
            </a:avLst>
          </a:prstGeom>
          <a:solidFill>
            <a:srgbClr val="E4F1F2"/>
          </a:solidFill>
          <a:ln/>
        </p:spPr>
        <p:txBody>
          <a:bodyPr/>
          <a:lstStyle/>
          <a:p>
            <a:endParaRPr lang="en-CA"/>
          </a:p>
        </p:txBody>
      </p:sp>
      <p:sp>
        <p:nvSpPr>
          <p:cNvPr id="10" name="Text 8"/>
          <p:cNvSpPr txBox="1"/>
          <p:nvPr/>
        </p:nvSpPr>
        <p:spPr>
          <a:xfrm>
            <a:off x="7470648" y="1581912"/>
            <a:ext cx="395935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What ?. returns</a:t>
            </a:r>
            <a:endParaRPr lang="en-US" sz="1600" dirty="0"/>
          </a:p>
        </p:txBody>
      </p:sp>
      <p:sp>
        <p:nvSpPr>
          <p:cNvPr id="11" name="Text 9"/>
          <p:cNvSpPr txBox="1"/>
          <p:nvPr/>
        </p:nvSpPr>
        <p:spPr>
          <a:xfrm>
            <a:off x="7470648" y="1984248"/>
            <a:ext cx="3959352" cy="630936"/>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A nullable result. name?.length is int?, not int — because if name was null, there was no length to give you.</a:t>
            </a:r>
            <a:endParaRPr lang="en-US" sz="1250" dirty="0"/>
          </a:p>
        </p:txBody>
      </p:sp>
      <p:sp>
        <p:nvSpPr>
          <p:cNvPr id="12" name="Shape 10"/>
          <p:cNvSpPr/>
          <p:nvPr/>
        </p:nvSpPr>
        <p:spPr>
          <a:xfrm>
            <a:off x="7269480" y="2971800"/>
            <a:ext cx="4361688" cy="1463040"/>
          </a:xfrm>
          <a:prstGeom prst="roundRect">
            <a:avLst>
              <a:gd name="adj" fmla="val 3125"/>
            </a:avLst>
          </a:prstGeom>
          <a:solidFill>
            <a:srgbClr val="F2F6F8"/>
          </a:solidFill>
          <a:ln/>
        </p:spPr>
        <p:txBody>
          <a:bodyPr/>
          <a:lstStyle/>
          <a:p>
            <a:endParaRPr lang="en-CA"/>
          </a:p>
        </p:txBody>
      </p:sp>
      <p:sp>
        <p:nvSpPr>
          <p:cNvPr id="13" name="Text 11"/>
          <p:cNvSpPr txBox="1"/>
          <p:nvPr/>
        </p:nvSpPr>
        <p:spPr>
          <a:xfrm>
            <a:off x="7470648" y="3136392"/>
            <a:ext cx="3959352" cy="329184"/>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The idiomatic pair</a:t>
            </a:r>
            <a:endParaRPr lang="en-US" sz="1600" dirty="0"/>
          </a:p>
        </p:txBody>
      </p:sp>
      <p:sp>
        <p:nvSpPr>
          <p:cNvPr id="14" name="Text 12"/>
          <p:cNvSpPr txBox="1"/>
          <p:nvPr/>
        </p:nvSpPr>
        <p:spPr>
          <a:xfrm>
            <a:off x="7470648" y="3538728"/>
            <a:ext cx="3959352" cy="676656"/>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 gets you safely to the value; ?? supplies the fallback. Together they give a non-nullable answer with no crash and no exclamation mark in sight.</a:t>
            </a:r>
            <a:endParaRPr lang="en-US" sz="1250" dirty="0"/>
          </a:p>
        </p:txBody>
      </p:sp>
      <p:sp>
        <p:nvSpPr>
          <p:cNvPr id="15" name="Shape 13"/>
          <p:cNvSpPr/>
          <p:nvPr/>
        </p:nvSpPr>
        <p:spPr>
          <a:xfrm>
            <a:off x="566928" y="4617720"/>
            <a:ext cx="11064240" cy="1188720"/>
          </a:xfrm>
          <a:prstGeom prst="roundRect">
            <a:avLst>
              <a:gd name="adj" fmla="val 3846"/>
            </a:avLst>
          </a:prstGeom>
          <a:solidFill>
            <a:srgbClr val="E4F1F2"/>
          </a:solidFill>
          <a:ln w="12700">
            <a:solidFill>
              <a:srgbClr val="0E9AA3"/>
            </a:solidFill>
            <a:prstDash val="solid"/>
          </a:ln>
        </p:spPr>
        <p:txBody>
          <a:bodyPr/>
          <a:lstStyle/>
          <a:p>
            <a:endParaRPr lang="en-CA"/>
          </a:p>
        </p:txBody>
      </p:sp>
      <p:sp>
        <p:nvSpPr>
          <p:cNvPr id="16" name="Text 14"/>
          <p:cNvSpPr txBox="1"/>
          <p:nvPr/>
        </p:nvSpPr>
        <p:spPr>
          <a:xfrm>
            <a:off x="786384" y="473659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READ IT ALOUD LIKE THIS</a:t>
            </a:r>
            <a:endParaRPr lang="en-US" sz="1050" dirty="0"/>
          </a:p>
        </p:txBody>
      </p:sp>
      <p:sp>
        <p:nvSpPr>
          <p:cNvPr id="17" name="Text 15"/>
          <p:cNvSpPr txBox="1"/>
          <p:nvPr/>
        </p:nvSpPr>
        <p:spPr>
          <a:xfrm>
            <a:off x="786384" y="4983480"/>
            <a:ext cx="10625328" cy="71323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student?.address?.city ?? 'n/a'   →   "If there's a student, and that student has an address, give me its city; otherwise give me the text n/a."  Every ? is a place the chain is allowed to stop early.</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TOOLS 4 &amp; 5 OF 5</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 and late — promises you make to the compiler</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Both of these say "trust me". Both crash at runtime if you were wrong.</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33</a:t>
            </a:r>
            <a:endParaRPr lang="en-US" sz="950" dirty="0"/>
          </a:p>
        </p:txBody>
      </p:sp>
      <p:sp>
        <p:nvSpPr>
          <p:cNvPr id="7" name="Shape 5"/>
          <p:cNvSpPr/>
          <p:nvPr/>
        </p:nvSpPr>
        <p:spPr>
          <a:xfrm>
            <a:off x="566928" y="1828800"/>
            <a:ext cx="5532120" cy="2240280"/>
          </a:xfrm>
          <a:prstGeom prst="roundRect">
            <a:avLst>
              <a:gd name="adj" fmla="val 2449"/>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51297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 — THE BANG (ASSERT NOT NULL)</a:t>
            </a:r>
            <a:endParaRPr lang="en-US" sz="1050" dirty="0"/>
          </a:p>
        </p:txBody>
      </p:sp>
      <p:sp>
        <p:nvSpPr>
          <p:cNvPr id="9" name="Text 7"/>
          <p:cNvSpPr txBox="1"/>
          <p:nvPr/>
        </p:nvSpPr>
        <p:spPr>
          <a:xfrm>
            <a:off x="768096" y="2231136"/>
            <a:ext cx="5166360" cy="1728216"/>
          </a:xfrm>
          <a:prstGeom prst="rect">
            <a:avLst/>
          </a:prstGeom>
          <a:noFill/>
          <a:ln/>
        </p:spPr>
        <p:txBody>
          <a:bodyPr wrap="square" lIns="0" tIns="0" rIns="0" bIns="0" rtlCol="0" anchor="t"/>
          <a:lstStyle/>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int? mark = fetchMark();</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print(mark! + 1);   // 'I know it isn't null'</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Unhandled exception:</a:t>
            </a:r>
            <a:endParaRPr lang="en-US" sz="1250" dirty="0"/>
          </a:p>
          <a:p>
            <a:pPr marL="0" indent="0">
              <a:lnSpc>
                <a:spcPct val="106000"/>
              </a:lnSpc>
              <a:buNone/>
            </a:pPr>
            <a:r>
              <a:rPr lang="en-US" sz="1250" i="1" dirty="0">
                <a:solidFill>
                  <a:srgbClr val="A8D65C"/>
                </a:solidFill>
                <a:latin typeface="Courier New" pitchFamily="34" charset="0"/>
                <a:ea typeface="Courier New" pitchFamily="34" charset="-122"/>
                <a:cs typeface="Courier New" pitchFamily="34" charset="-120"/>
              </a:rPr>
              <a:t>Null check operator used on a null value</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...if you were wrong. This is a crash,</a:t>
            </a:r>
            <a:endParaRPr lang="en-US" sz="1250" dirty="0"/>
          </a:p>
          <a:p>
            <a:pPr marL="0" indent="0">
              <a:lnSpc>
                <a:spcPct val="106000"/>
              </a:lnSpc>
              <a:buNone/>
            </a:pPr>
            <a:r>
              <a:rPr lang="en-US" sz="1250" i="1" dirty="0">
                <a:solidFill>
                  <a:srgbClr val="7FA6BD"/>
                </a:solidFill>
                <a:latin typeface="Courier New" pitchFamily="34" charset="0"/>
                <a:ea typeface="Courier New" pitchFamily="34" charset="-122"/>
                <a:cs typeface="Courier New" pitchFamily="34" charset="-120"/>
              </a:rPr>
              <a:t>// not a compile error. You opted out.</a:t>
            </a:r>
            <a:endParaRPr lang="en-US" sz="1250" dirty="0"/>
          </a:p>
        </p:txBody>
      </p:sp>
      <p:sp>
        <p:nvSpPr>
          <p:cNvPr id="10" name="Shape 8"/>
          <p:cNvSpPr/>
          <p:nvPr/>
        </p:nvSpPr>
        <p:spPr>
          <a:xfrm>
            <a:off x="6281928" y="1828800"/>
            <a:ext cx="5349240" cy="2240280"/>
          </a:xfrm>
          <a:prstGeom prst="roundRect">
            <a:avLst>
              <a:gd name="adj" fmla="val 2449"/>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6483096" y="1929384"/>
            <a:ext cx="4946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late — "NOT YET, BUT BEFORE YOU READ IT"</a:t>
            </a:r>
            <a:endParaRPr lang="en-US" sz="1050" dirty="0"/>
          </a:p>
        </p:txBody>
      </p:sp>
      <p:sp>
        <p:nvSpPr>
          <p:cNvPr id="12" name="Text 10"/>
          <p:cNvSpPr txBox="1"/>
          <p:nvPr/>
        </p:nvSpPr>
        <p:spPr>
          <a:xfrm>
            <a:off x="6483096" y="2231136"/>
            <a:ext cx="4983480" cy="1728216"/>
          </a:xfrm>
          <a:prstGeom prst="rect">
            <a:avLst/>
          </a:prstGeom>
          <a:noFill/>
          <a:ln/>
        </p:spPr>
        <p:txBody>
          <a:bodyPr wrap="square" lIns="0" tIns="0" rIns="0" bIns="0" rtlCol="0" anchor="t"/>
          <a:lstStyle/>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late String greeting;    // no value yet</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void setup()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greeting = 'Hello';    // assigned later</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 </a:t>
            </a:r>
            <a:endParaRPr lang="en-US" sz="1250" dirty="0"/>
          </a:p>
          <a:p>
            <a:pPr marL="0" indent="0">
              <a:lnSpc>
                <a:spcPct val="106000"/>
              </a:lnSpc>
              <a:buNone/>
            </a:pPr>
            <a:r>
              <a:rPr lang="en-US" sz="1250" dirty="0">
                <a:solidFill>
                  <a:srgbClr val="EAF2F7"/>
                </a:solidFill>
                <a:latin typeface="Courier New" pitchFamily="34" charset="0"/>
                <a:ea typeface="Courier New" pitchFamily="34" charset="-122"/>
                <a:cs typeface="Courier New" pitchFamily="34" charset="-120"/>
              </a:rPr>
              <a:t>print(greeting);   // fine AFTER setup()</a:t>
            </a:r>
            <a:endParaRPr lang="en-US" sz="1250" dirty="0"/>
          </a:p>
          <a:p>
            <a:pPr marL="0" indent="0">
              <a:lnSpc>
                <a:spcPct val="106000"/>
              </a:lnSpc>
              <a:buNone/>
            </a:pPr>
            <a:r>
              <a:rPr lang="en-US" sz="1250" b="1" dirty="0">
                <a:solidFill>
                  <a:srgbClr val="C8EE7E"/>
                </a:solidFill>
                <a:latin typeface="Courier New" pitchFamily="34" charset="0"/>
                <a:ea typeface="Courier New" pitchFamily="34" charset="-122"/>
                <a:cs typeface="Courier New" pitchFamily="34" charset="-120"/>
              </a:rPr>
              <a:t>// before setup(): LateInitializationError</a:t>
            </a:r>
            <a:endParaRPr lang="en-US" sz="1250" dirty="0"/>
          </a:p>
        </p:txBody>
      </p:sp>
      <p:sp>
        <p:nvSpPr>
          <p:cNvPr id="13" name="Shape 11"/>
          <p:cNvSpPr/>
          <p:nvPr/>
        </p:nvSpPr>
        <p:spPr>
          <a:xfrm>
            <a:off x="566928" y="4206240"/>
            <a:ext cx="5532120" cy="1600200"/>
          </a:xfrm>
          <a:prstGeom prst="roundRect">
            <a:avLst>
              <a:gd name="adj" fmla="val 2857"/>
            </a:avLst>
          </a:prstGeom>
          <a:solidFill>
            <a:srgbClr val="FDF3E3"/>
          </a:solidFill>
          <a:ln w="12700">
            <a:solidFill>
              <a:srgbClr val="E0A64B"/>
            </a:solidFill>
            <a:prstDash val="solid"/>
          </a:ln>
        </p:spPr>
        <p:txBody>
          <a:bodyPr/>
          <a:lstStyle/>
          <a:p>
            <a:endParaRPr lang="en-CA"/>
          </a:p>
        </p:txBody>
      </p:sp>
      <p:sp>
        <p:nvSpPr>
          <p:cNvPr id="14" name="Text 12"/>
          <p:cNvSpPr txBox="1"/>
          <p:nvPr/>
        </p:nvSpPr>
        <p:spPr>
          <a:xfrm>
            <a:off x="768096" y="4370832"/>
            <a:ext cx="5129784" cy="310896"/>
          </a:xfrm>
          <a:prstGeom prst="rect">
            <a:avLst/>
          </a:prstGeom>
          <a:noFill/>
          <a:ln/>
        </p:spPr>
        <p:txBody>
          <a:bodyPr wrap="square" lIns="0" tIns="0" rIns="0" bIns="0" rtlCol="0" anchor="ctr"/>
          <a:lstStyle/>
          <a:p>
            <a:pPr marL="0" indent="0">
              <a:buNone/>
            </a:pPr>
            <a:r>
              <a:rPr lang="en-US" sz="1500" b="1" dirty="0">
                <a:solidFill>
                  <a:srgbClr val="7A5312"/>
                </a:solidFill>
                <a:latin typeface="Calibri" pitchFamily="34" charset="0"/>
                <a:ea typeface="Calibri" pitchFamily="34" charset="-122"/>
                <a:cs typeface="Calibri" pitchFamily="34" charset="-120"/>
              </a:rPr>
              <a:t>When ! is acceptable</a:t>
            </a:r>
            <a:endParaRPr lang="en-US" sz="1500" dirty="0"/>
          </a:p>
        </p:txBody>
      </p:sp>
      <p:sp>
        <p:nvSpPr>
          <p:cNvPr id="15" name="Text 13"/>
          <p:cNvSpPr txBox="1"/>
          <p:nvPr/>
        </p:nvSpPr>
        <p:spPr>
          <a:xfrm>
            <a:off x="768096" y="4754880"/>
            <a:ext cx="5129784" cy="832104"/>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Rarely. Only when you can point at the line that guarantees it — and even then a check or a ?? is usually clearer. In this course, every ! in your submission needs a comment explaining why it's safe.</a:t>
            </a:r>
            <a:endParaRPr lang="en-US" sz="1250" dirty="0"/>
          </a:p>
        </p:txBody>
      </p:sp>
      <p:sp>
        <p:nvSpPr>
          <p:cNvPr id="16" name="Shape 14"/>
          <p:cNvSpPr/>
          <p:nvPr/>
        </p:nvSpPr>
        <p:spPr>
          <a:xfrm>
            <a:off x="6281928" y="4206240"/>
            <a:ext cx="5349240" cy="1600200"/>
          </a:xfrm>
          <a:prstGeom prst="roundRect">
            <a:avLst>
              <a:gd name="adj" fmla="val 2857"/>
            </a:avLst>
          </a:prstGeom>
          <a:solidFill>
            <a:srgbClr val="E4F1F2"/>
          </a:solidFill>
          <a:ln/>
        </p:spPr>
        <p:txBody>
          <a:bodyPr/>
          <a:lstStyle/>
          <a:p>
            <a:endParaRPr lang="en-CA"/>
          </a:p>
        </p:txBody>
      </p:sp>
      <p:sp>
        <p:nvSpPr>
          <p:cNvPr id="17" name="Text 15"/>
          <p:cNvSpPr txBox="1"/>
          <p:nvPr/>
        </p:nvSpPr>
        <p:spPr>
          <a:xfrm>
            <a:off x="6483096" y="4370832"/>
            <a:ext cx="4946904" cy="310896"/>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When late is genuinely right</a:t>
            </a:r>
            <a:endParaRPr lang="en-US" sz="1500" dirty="0"/>
          </a:p>
        </p:txBody>
      </p:sp>
      <p:sp>
        <p:nvSpPr>
          <p:cNvPr id="18" name="Text 16"/>
          <p:cNvSpPr txBox="1"/>
          <p:nvPr/>
        </p:nvSpPr>
        <p:spPr>
          <a:xfrm>
            <a:off x="6483096" y="4754880"/>
            <a:ext cx="4946904" cy="832104"/>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A field that can't be set in the constructor but is definitely set before use — Flutter's initState() pattern is the classic case. It buys you a non-nullable type without a fake starting value.</a:t>
            </a:r>
            <a:endParaRPr lang="en-US" sz="12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WHERE THE ? GOES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List&lt;int?&gt; vs List&lt;int&gt;? — position matters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This is a favourite exam question because the two are not remotely the same thing.</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34</a:t>
            </a:r>
            <a:endParaRPr lang="en-US" sz="950" dirty="0"/>
          </a:p>
        </p:txBody>
      </p:sp>
      <p:sp>
        <p:nvSpPr>
          <p:cNvPr id="7" name="Shape 5"/>
          <p:cNvSpPr/>
          <p:nvPr/>
        </p:nvSpPr>
        <p:spPr>
          <a:xfrm>
            <a:off x="566928" y="1874520"/>
            <a:ext cx="3566160" cy="2011680"/>
          </a:xfrm>
          <a:prstGeom prst="roundRect">
            <a:avLst>
              <a:gd name="adj" fmla="val 2273"/>
            </a:avLst>
          </a:prstGeom>
          <a:solidFill>
            <a:srgbClr val="F2F6F8"/>
          </a:solidFill>
          <a:ln/>
        </p:spPr>
        <p:txBody>
          <a:bodyPr/>
          <a:lstStyle/>
          <a:p>
            <a:endParaRPr lang="en-CA"/>
          </a:p>
        </p:txBody>
      </p:sp>
      <p:sp>
        <p:nvSpPr>
          <p:cNvPr id="8" name="Text 6"/>
          <p:cNvSpPr txBox="1"/>
          <p:nvPr/>
        </p:nvSpPr>
        <p:spPr>
          <a:xfrm>
            <a:off x="768096" y="2039112"/>
            <a:ext cx="3163824" cy="365760"/>
          </a:xfrm>
          <a:prstGeom prst="rect">
            <a:avLst/>
          </a:prstGeom>
          <a:noFill/>
          <a:ln/>
        </p:spPr>
        <p:txBody>
          <a:bodyPr wrap="square" lIns="0" tIns="0" rIns="0" bIns="0" rtlCol="0" anchor="ctr"/>
          <a:lstStyle/>
          <a:p>
            <a:pPr marL="0" indent="0">
              <a:buNone/>
            </a:pPr>
            <a:r>
              <a:rPr lang="en-US" sz="1700" b="1" dirty="0">
                <a:solidFill>
                  <a:srgbClr val="0A2540"/>
                </a:solidFill>
                <a:latin typeface="Courier New" pitchFamily="34" charset="0"/>
                <a:ea typeface="Courier New" pitchFamily="34" charset="-122"/>
                <a:cs typeface="Courier New" pitchFamily="34" charset="-120"/>
              </a:rPr>
              <a:t>List&lt;int?&gt;</a:t>
            </a:r>
            <a:endParaRPr lang="en-US" sz="1700" dirty="0"/>
          </a:p>
        </p:txBody>
      </p:sp>
      <p:sp>
        <p:nvSpPr>
          <p:cNvPr id="9" name="Text 7"/>
          <p:cNvSpPr txBox="1"/>
          <p:nvPr/>
        </p:nvSpPr>
        <p:spPr>
          <a:xfrm>
            <a:off x="768096" y="2478024"/>
            <a:ext cx="3163824" cy="1188720"/>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The list definitely exists. Any element inside it might be null.</a:t>
            </a:r>
            <a:endParaRPr lang="en-US" sz="1250" dirty="0"/>
          </a:p>
          <a:p>
            <a:pPr marL="0" indent="0">
              <a:lnSpc>
                <a:spcPct val="110000"/>
              </a:lnSpc>
              <a:buNone/>
            </a:pP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[1, null, 3] — valid.</a:t>
            </a:r>
            <a:endParaRPr lang="en-US" sz="1250" dirty="0"/>
          </a:p>
          <a:p>
            <a:pPr marL="0" indent="0">
              <a:lnSpc>
                <a:spcPct val="110000"/>
              </a:lnSpc>
              <a:buNone/>
            </a:pP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You must null-check each element before using it.</a:t>
            </a:r>
            <a:endParaRPr lang="en-US" sz="1250" dirty="0"/>
          </a:p>
        </p:txBody>
      </p:sp>
      <p:sp>
        <p:nvSpPr>
          <p:cNvPr id="10" name="Shape 8"/>
          <p:cNvSpPr/>
          <p:nvPr/>
        </p:nvSpPr>
        <p:spPr>
          <a:xfrm>
            <a:off x="4315968" y="1874520"/>
            <a:ext cx="3566160" cy="2011680"/>
          </a:xfrm>
          <a:prstGeom prst="roundRect">
            <a:avLst>
              <a:gd name="adj" fmla="val 2273"/>
            </a:avLst>
          </a:prstGeom>
          <a:solidFill>
            <a:srgbClr val="E4F1F2"/>
          </a:solidFill>
          <a:ln/>
        </p:spPr>
        <p:txBody>
          <a:bodyPr/>
          <a:lstStyle/>
          <a:p>
            <a:endParaRPr lang="en-CA"/>
          </a:p>
        </p:txBody>
      </p:sp>
      <p:sp>
        <p:nvSpPr>
          <p:cNvPr id="11" name="Text 9"/>
          <p:cNvSpPr txBox="1"/>
          <p:nvPr/>
        </p:nvSpPr>
        <p:spPr>
          <a:xfrm>
            <a:off x="4517136" y="2039112"/>
            <a:ext cx="3163824" cy="365760"/>
          </a:xfrm>
          <a:prstGeom prst="rect">
            <a:avLst/>
          </a:prstGeom>
          <a:noFill/>
          <a:ln/>
        </p:spPr>
        <p:txBody>
          <a:bodyPr wrap="square" lIns="0" tIns="0" rIns="0" bIns="0" rtlCol="0" anchor="ctr"/>
          <a:lstStyle/>
          <a:p>
            <a:pPr marL="0" indent="0">
              <a:buNone/>
            </a:pPr>
            <a:r>
              <a:rPr lang="en-US" sz="1700" b="1" dirty="0">
                <a:solidFill>
                  <a:srgbClr val="0A2540"/>
                </a:solidFill>
                <a:latin typeface="Courier New" pitchFamily="34" charset="0"/>
                <a:ea typeface="Courier New" pitchFamily="34" charset="-122"/>
                <a:cs typeface="Courier New" pitchFamily="34" charset="-120"/>
              </a:rPr>
              <a:t>List&lt;int&gt;?</a:t>
            </a:r>
            <a:endParaRPr lang="en-US" sz="1700" dirty="0"/>
          </a:p>
        </p:txBody>
      </p:sp>
      <p:sp>
        <p:nvSpPr>
          <p:cNvPr id="12" name="Text 10"/>
          <p:cNvSpPr txBox="1"/>
          <p:nvPr/>
        </p:nvSpPr>
        <p:spPr>
          <a:xfrm>
            <a:off x="4517136" y="2478024"/>
            <a:ext cx="3163824" cy="1188720"/>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The list itself might be null. If it does exist, every element is a real int.</a:t>
            </a:r>
            <a:endParaRPr lang="en-US" sz="1250" dirty="0"/>
          </a:p>
          <a:p>
            <a:pPr marL="0" indent="0">
              <a:lnSpc>
                <a:spcPct val="110000"/>
              </a:lnSpc>
              <a:buNone/>
            </a:pP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null — valid.</a:t>
            </a: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[1, 2, 3] — valid.</a:t>
            </a:r>
            <a:endParaRPr lang="en-US" sz="1250" dirty="0"/>
          </a:p>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[1, null] — not valid.</a:t>
            </a:r>
            <a:endParaRPr lang="en-US" sz="1250" dirty="0"/>
          </a:p>
        </p:txBody>
      </p:sp>
      <p:sp>
        <p:nvSpPr>
          <p:cNvPr id="13" name="Shape 11"/>
          <p:cNvSpPr/>
          <p:nvPr/>
        </p:nvSpPr>
        <p:spPr>
          <a:xfrm>
            <a:off x="8065008" y="1874520"/>
            <a:ext cx="3566160" cy="2011680"/>
          </a:xfrm>
          <a:prstGeom prst="roundRect">
            <a:avLst>
              <a:gd name="adj" fmla="val 2273"/>
            </a:avLst>
          </a:prstGeom>
          <a:solidFill>
            <a:srgbClr val="FDF3E3"/>
          </a:solidFill>
          <a:ln w="12700">
            <a:solidFill>
              <a:srgbClr val="E0A64B"/>
            </a:solidFill>
            <a:prstDash val="solid"/>
          </a:ln>
        </p:spPr>
        <p:txBody>
          <a:bodyPr/>
          <a:lstStyle/>
          <a:p>
            <a:endParaRPr lang="en-CA"/>
          </a:p>
        </p:txBody>
      </p:sp>
      <p:sp>
        <p:nvSpPr>
          <p:cNvPr id="14" name="Text 12"/>
          <p:cNvSpPr txBox="1"/>
          <p:nvPr/>
        </p:nvSpPr>
        <p:spPr>
          <a:xfrm>
            <a:off x="8266176" y="2039112"/>
            <a:ext cx="3163824" cy="365760"/>
          </a:xfrm>
          <a:prstGeom prst="rect">
            <a:avLst/>
          </a:prstGeom>
          <a:noFill/>
          <a:ln/>
        </p:spPr>
        <p:txBody>
          <a:bodyPr wrap="square" lIns="0" tIns="0" rIns="0" bIns="0" rtlCol="0" anchor="ctr"/>
          <a:lstStyle/>
          <a:p>
            <a:pPr marL="0" indent="0">
              <a:buNone/>
            </a:pPr>
            <a:r>
              <a:rPr lang="en-US" sz="1700" b="1" dirty="0">
                <a:solidFill>
                  <a:srgbClr val="7A5312"/>
                </a:solidFill>
                <a:latin typeface="Courier New" pitchFamily="34" charset="0"/>
                <a:ea typeface="Courier New" pitchFamily="34" charset="-122"/>
                <a:cs typeface="Courier New" pitchFamily="34" charset="-120"/>
              </a:rPr>
              <a:t>List&lt;int?&gt;?</a:t>
            </a:r>
            <a:endParaRPr lang="en-US" sz="1700" dirty="0"/>
          </a:p>
        </p:txBody>
      </p:sp>
      <p:sp>
        <p:nvSpPr>
          <p:cNvPr id="15" name="Text 13"/>
          <p:cNvSpPr txBox="1"/>
          <p:nvPr/>
        </p:nvSpPr>
        <p:spPr>
          <a:xfrm>
            <a:off x="8266176" y="2478024"/>
            <a:ext cx="3163824" cy="1188720"/>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Both. The list may be null, and its elements may be null.</a:t>
            </a:r>
            <a:endParaRPr lang="en-US" sz="1250" dirty="0"/>
          </a:p>
          <a:p>
            <a:pPr marL="0" indent="0">
              <a:lnSpc>
                <a:spcPct val="110000"/>
              </a:lnSpc>
              <a:buNone/>
            </a:pPr>
            <a:endParaRPr lang="en-US" sz="1250" dirty="0"/>
          </a:p>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Legal, occasionally necessary, usually a sign your data model needs a rethink.</a:t>
            </a:r>
            <a:endParaRPr lang="en-US" sz="1250" dirty="0"/>
          </a:p>
        </p:txBody>
      </p:sp>
      <p:sp>
        <p:nvSpPr>
          <p:cNvPr id="16" name="Shape 14"/>
          <p:cNvSpPr/>
          <p:nvPr/>
        </p:nvSpPr>
        <p:spPr>
          <a:xfrm>
            <a:off x="566928" y="4069080"/>
            <a:ext cx="6766560" cy="1783080"/>
          </a:xfrm>
          <a:prstGeom prst="roundRect">
            <a:avLst>
              <a:gd name="adj" fmla="val 307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7" name="Text 15"/>
          <p:cNvSpPr txBox="1"/>
          <p:nvPr/>
        </p:nvSpPr>
        <p:spPr>
          <a:xfrm>
            <a:off x="768096" y="4169664"/>
            <a:ext cx="63642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USING EACH ONE SAFELY</a:t>
            </a:r>
            <a:endParaRPr lang="en-US" sz="1050" dirty="0"/>
          </a:p>
        </p:txBody>
      </p:sp>
      <p:sp>
        <p:nvSpPr>
          <p:cNvPr id="18" name="Text 16"/>
          <p:cNvSpPr txBox="1"/>
          <p:nvPr/>
        </p:nvSpPr>
        <p:spPr>
          <a:xfrm>
            <a:off x="768096" y="4471416"/>
            <a:ext cx="6400800" cy="1271016"/>
          </a:xfrm>
          <a:prstGeom prst="rect">
            <a:avLst/>
          </a:prstGeom>
          <a:noFill/>
          <a:ln/>
        </p:spPr>
        <p:txBody>
          <a:bodyPr wrap="square" lIns="0" tIns="0" rIns="0" bIns="0" rtlCol="0" anchor="t"/>
          <a:lstStyle/>
          <a:p>
            <a:pPr marL="0" indent="0">
              <a:lnSpc>
                <a:spcPct val="106000"/>
              </a:lnSpc>
              <a:buNone/>
            </a:pPr>
            <a:r>
              <a:rPr lang="en-US" sz="1155" dirty="0">
                <a:solidFill>
                  <a:srgbClr val="EAF2F7"/>
                </a:solidFill>
                <a:latin typeface="Courier New" pitchFamily="34" charset="0"/>
                <a:ea typeface="Courier New" pitchFamily="34" charset="-122"/>
                <a:cs typeface="Courier New" pitchFamily="34" charset="-120"/>
              </a:rPr>
              <a:t>List&lt;int?&gt; withGaps = [1, null, 3];</a:t>
            </a:r>
            <a:endParaRPr lang="en-US" sz="1155" dirty="0"/>
          </a:p>
          <a:p>
            <a:pPr marL="0" indent="0">
              <a:lnSpc>
                <a:spcPct val="106000"/>
              </a:lnSpc>
              <a:buNone/>
            </a:pPr>
            <a:r>
              <a:rPr lang="en-US" sz="1155" b="1" dirty="0">
                <a:solidFill>
                  <a:srgbClr val="C8EE7E"/>
                </a:solidFill>
                <a:latin typeface="Courier New" pitchFamily="34" charset="0"/>
                <a:ea typeface="Courier New" pitchFamily="34" charset="-122"/>
                <a:cs typeface="Courier New" pitchFamily="34" charset="-120"/>
              </a:rPr>
              <a:t>final total = withGaps.whereType&lt;int&gt;().reduce((a, b) =&gt; a + b);  // 4</a:t>
            </a:r>
            <a:endParaRPr lang="en-US" sz="1155" dirty="0"/>
          </a:p>
          <a:p>
            <a:pPr marL="0" indent="0">
              <a:lnSpc>
                <a:spcPct val="106000"/>
              </a:lnSpc>
              <a:buNone/>
            </a:pPr>
            <a:r>
              <a:rPr lang="en-US" sz="1155" dirty="0">
                <a:solidFill>
                  <a:srgbClr val="EAF2F7"/>
                </a:solidFill>
                <a:latin typeface="Courier New" pitchFamily="34" charset="0"/>
                <a:ea typeface="Courier New" pitchFamily="34" charset="-122"/>
                <a:cs typeface="Courier New" pitchFamily="34" charset="-120"/>
              </a:rPr>
              <a:t> </a:t>
            </a:r>
            <a:endParaRPr lang="en-US" sz="1155" dirty="0"/>
          </a:p>
          <a:p>
            <a:pPr marL="0" indent="0">
              <a:lnSpc>
                <a:spcPct val="106000"/>
              </a:lnSpc>
              <a:buNone/>
            </a:pPr>
            <a:r>
              <a:rPr lang="en-US" sz="1155" dirty="0">
                <a:solidFill>
                  <a:srgbClr val="EAF2F7"/>
                </a:solidFill>
                <a:latin typeface="Courier New" pitchFamily="34" charset="0"/>
                <a:ea typeface="Courier New" pitchFamily="34" charset="-122"/>
                <a:cs typeface="Courier New" pitchFamily="34" charset="-120"/>
              </a:rPr>
              <a:t>List&lt;int&gt;? maybeList;</a:t>
            </a:r>
            <a:endParaRPr lang="en-US" sz="1155" dirty="0"/>
          </a:p>
          <a:p>
            <a:pPr marL="0" indent="0">
              <a:lnSpc>
                <a:spcPct val="106000"/>
              </a:lnSpc>
              <a:buNone/>
            </a:pPr>
            <a:r>
              <a:rPr lang="en-US" sz="1155" b="1" dirty="0">
                <a:solidFill>
                  <a:srgbClr val="C8EE7E"/>
                </a:solidFill>
                <a:latin typeface="Courier New" pitchFamily="34" charset="0"/>
                <a:ea typeface="Courier New" pitchFamily="34" charset="-122"/>
                <a:cs typeface="Courier New" pitchFamily="34" charset="-120"/>
              </a:rPr>
              <a:t>final count = maybeList?.length ?? 0;                             // 0</a:t>
            </a:r>
            <a:endParaRPr lang="en-US" sz="1155" dirty="0"/>
          </a:p>
          <a:p>
            <a:pPr marL="0" indent="0">
              <a:lnSpc>
                <a:spcPct val="106000"/>
              </a:lnSpc>
              <a:buNone/>
            </a:pPr>
            <a:r>
              <a:rPr lang="en-US" sz="1155" dirty="0">
                <a:solidFill>
                  <a:srgbClr val="EAF2F7"/>
                </a:solidFill>
                <a:latin typeface="Courier New" pitchFamily="34" charset="0"/>
                <a:ea typeface="Courier New" pitchFamily="34" charset="-122"/>
                <a:cs typeface="Courier New" pitchFamily="34" charset="-120"/>
              </a:rPr>
              <a:t>for (final n in maybeList ?? const []) { /* safe, runs zero times */ }</a:t>
            </a:r>
            <a:endParaRPr lang="en-US" sz="1155" dirty="0"/>
          </a:p>
        </p:txBody>
      </p:sp>
      <p:sp>
        <p:nvSpPr>
          <p:cNvPr id="19" name="Shape 17"/>
          <p:cNvSpPr/>
          <p:nvPr/>
        </p:nvSpPr>
        <p:spPr>
          <a:xfrm>
            <a:off x="7543800" y="4069080"/>
            <a:ext cx="4087368" cy="1783080"/>
          </a:xfrm>
          <a:prstGeom prst="roundRect">
            <a:avLst>
              <a:gd name="adj" fmla="val 2564"/>
            </a:avLst>
          </a:prstGeom>
          <a:solidFill>
            <a:srgbClr val="E4F1F2"/>
          </a:solidFill>
          <a:ln w="12700">
            <a:solidFill>
              <a:srgbClr val="0E9AA3"/>
            </a:solidFill>
            <a:prstDash val="solid"/>
          </a:ln>
        </p:spPr>
        <p:txBody>
          <a:bodyPr/>
          <a:lstStyle/>
          <a:p>
            <a:endParaRPr lang="en-CA"/>
          </a:p>
        </p:txBody>
      </p:sp>
      <p:sp>
        <p:nvSpPr>
          <p:cNvPr id="20" name="Text 18"/>
          <p:cNvSpPr txBox="1"/>
          <p:nvPr/>
        </p:nvSpPr>
        <p:spPr>
          <a:xfrm>
            <a:off x="7763256" y="418795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READING RULE</a:t>
            </a:r>
            <a:endParaRPr lang="en-US" sz="1050" dirty="0"/>
          </a:p>
        </p:txBody>
      </p:sp>
      <p:sp>
        <p:nvSpPr>
          <p:cNvPr id="21" name="Text 19"/>
          <p:cNvSpPr txBox="1"/>
          <p:nvPr/>
        </p:nvSpPr>
        <p:spPr>
          <a:xfrm>
            <a:off x="7763256" y="4434840"/>
            <a:ext cx="3648456" cy="130759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The ? attaches to whatever is immediately to its left. Inside the angle brackets it's about the elements; outside them it's about the list. Read the type from the inside out.</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THE DECODER RING</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Reading the error instead of guessing</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Screenshot this slide. It answers 90% of the null-safety questions I get by email.</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35</a:t>
            </a:r>
            <a:endParaRPr lang="en-US" sz="9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847088"/>
          <a:ext cx="11064240" cy="3255264"/>
        </p:xfrm>
        <a:graphic>
          <a:graphicData uri="http://schemas.openxmlformats.org/drawingml/2006/table">
            <a:tbl>
              <a:tblPr/>
              <a:tblGrid>
                <a:gridCol w="4937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the compiler says</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What it means</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Usual fix</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00767F"/>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The property 'x' can't be unconditionally accessed because the receiver can be null</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You dotted into a maybe-null value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if check, or ?. with ??</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 value of type 'Null' can't be assigned to a variable of type 'int'</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You put null into a non-nullable type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Make the type int?, or supply a real value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The parameter 'name' can't have a value of null because of its type, and no default</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 named parameter needs a decision</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Add required, a default, or make it nullable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Non-nullable instance field 'x' must be initialized</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 field has no value when the object is built</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Initialise in the constructor, default it, or use late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Null check operator used on a null value  (runtime)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Your ! was a lie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Remove the !; check or default instead</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LateInitializationError: Field 'x' has not been initialized  (runtime)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You read a late field too early</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tc>
                  <a:txBody>
                    <a:bodyPr/>
                    <a:lstStyle/>
                    <a:p>
                      <a:pPr marL="0" indent="0">
                        <a:buNone/>
                      </a:pPr>
                      <a:r>
                        <a:rPr lang="en-US" sz="1200" dirty="0">
                          <a:solidFill>
                            <a:srgbClr val="16232E"/>
                          </a:solidFill>
                          <a:latin typeface="Calibri" pitchFamily="34" charset="0"/>
                          <a:ea typeface="Calibri" pitchFamily="34" charset="-122"/>
                          <a:cs typeface="Calibri" pitchFamily="34" charset="-120"/>
                        </a:rPr>
                        <a:t>Assign before first read, or drop late for a nullable type</a:t>
                      </a:r>
                      <a:endParaRPr lang="en-US" sz="1200" dirty="0">
                        <a:latin typeface="Calibri" charset="0"/>
                        <a:ea typeface="Calibri" charset="0"/>
                        <a:cs typeface="Calibri" charset="0"/>
                      </a:endParaRPr>
                    </a:p>
                  </a:txBody>
                  <a:tcPr marT="54864" marB="54864" anchor="ctr">
                    <a:lnL w="6350" cap="flat" cmpd="sng" algn="ctr">
                      <a:solidFill>
                        <a:srgbClr val="D6E1E8"/>
                      </a:solidFill>
                      <a:prstDash val="solid"/>
                      <a:round/>
                      <a:headEnd type="none" w="med" len="med"/>
                      <a:tailEnd type="none" w="med" len="med"/>
                    </a:lnL>
                    <a:lnR w="6350" cap="flat" cmpd="sng" algn="ctr">
                      <a:solidFill>
                        <a:srgbClr val="D6E1E8"/>
                      </a:solidFill>
                      <a:prstDash val="solid"/>
                      <a:round/>
                      <a:headEnd type="none" w="med" len="med"/>
                      <a:tailEnd type="none" w="med" len="med"/>
                    </a:lnR>
                    <a:lnT w="6350" cap="flat" cmpd="sng" algn="ctr">
                      <a:solidFill>
                        <a:srgbClr val="D6E1E8"/>
                      </a:solidFill>
                      <a:prstDash val="solid"/>
                      <a:round/>
                      <a:headEnd type="none" w="med" len="med"/>
                      <a:tailEnd type="none" w="med" len="med"/>
                    </a:lnT>
                    <a:lnB w="6350" cap="flat" cmpd="sng" algn="ctr">
                      <a:solidFill>
                        <a:srgbClr val="D6E1E8"/>
                      </a:solidFill>
                      <a:prstDash val="solid"/>
                      <a:round/>
                      <a:headEnd type="none" w="med" len="med"/>
                      <a:tailEnd type="none" w="med" len="med"/>
                    </a:lnB>
                    <a:solidFill>
                      <a:srgbClr val="F2F6F8"/>
                    </a:solidFill>
                  </a:tcPr>
                </a:tc>
                <a:extLst>
                  <a:ext uri="{0D108BD9-81ED-4DB2-BD59-A6C34878D82A}">
                    <a16:rowId xmlns:a16="http://schemas.microsoft.com/office/drawing/2014/main" val="10006"/>
                  </a:ext>
                </a:extLst>
              </a:tr>
            </a:tbl>
          </a:graphicData>
        </a:graphic>
      </p:graphicFrame>
      <p:sp>
        <p:nvSpPr>
          <p:cNvPr id="8" name="Shape 5"/>
          <p:cNvSpPr/>
          <p:nvPr/>
        </p:nvSpPr>
        <p:spPr>
          <a:xfrm>
            <a:off x="566928" y="5138928"/>
            <a:ext cx="11064240" cy="932688"/>
          </a:xfrm>
          <a:prstGeom prst="roundRect">
            <a:avLst>
              <a:gd name="adj" fmla="val 4902"/>
            </a:avLst>
          </a:prstGeom>
          <a:solidFill>
            <a:srgbClr val="E4F1F2"/>
          </a:solidFill>
          <a:ln w="12700">
            <a:solidFill>
              <a:srgbClr val="0E9AA3"/>
            </a:solidFill>
            <a:prstDash val="solid"/>
          </a:ln>
        </p:spPr>
        <p:txBody>
          <a:bodyPr/>
          <a:lstStyle/>
          <a:p>
            <a:endParaRPr lang="en-CA"/>
          </a:p>
        </p:txBody>
      </p:sp>
      <p:sp>
        <p:nvSpPr>
          <p:cNvPr id="9" name="Text 6"/>
          <p:cNvSpPr txBox="1"/>
          <p:nvPr/>
        </p:nvSpPr>
        <p:spPr>
          <a:xfrm>
            <a:off x="786384" y="5257800"/>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NOTICE</a:t>
            </a:r>
            <a:endParaRPr lang="en-US" sz="1050" dirty="0"/>
          </a:p>
        </p:txBody>
      </p:sp>
      <p:sp>
        <p:nvSpPr>
          <p:cNvPr id="10" name="Text 7"/>
          <p:cNvSpPr txBox="1"/>
          <p:nvPr/>
        </p:nvSpPr>
        <p:spPr>
          <a:xfrm>
            <a:off x="786384" y="5504688"/>
            <a:ext cx="10625328" cy="457200"/>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The top four are compile-time — free, in your editor. The bottom two are runtime — they only happen where you told the compiler to stop helping. That is the whole argument against reaching for ! and late.</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DEMOS 8–10 · WE BUILD THIS TOGETHER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Live build: surviving incomplete data</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Real data has holes. This program handles them without a single ! operator.</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36</a:t>
            </a:r>
            <a:endParaRPr lang="en-US" sz="950" dirty="0"/>
          </a:p>
        </p:txBody>
      </p:sp>
      <p:sp>
        <p:nvSpPr>
          <p:cNvPr id="7" name="Shape 5"/>
          <p:cNvSpPr/>
          <p:nvPr/>
        </p:nvSpPr>
        <p:spPr>
          <a:xfrm>
            <a:off x="566928" y="1755648"/>
            <a:ext cx="6903720" cy="4069080"/>
          </a:xfrm>
          <a:prstGeom prst="roundRect">
            <a:avLst>
              <a:gd name="adj" fmla="val 1348"/>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856232"/>
            <a:ext cx="65013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bin/null_safety.dart</a:t>
            </a:r>
            <a:endParaRPr lang="en-US" sz="1050" dirty="0"/>
          </a:p>
        </p:txBody>
      </p:sp>
      <p:sp>
        <p:nvSpPr>
          <p:cNvPr id="9" name="Text 7"/>
          <p:cNvSpPr txBox="1"/>
          <p:nvPr/>
        </p:nvSpPr>
        <p:spPr>
          <a:xfrm>
            <a:off x="768096" y="2157984"/>
            <a:ext cx="6537960" cy="3557016"/>
          </a:xfrm>
          <a:prstGeom prst="rect">
            <a:avLst/>
          </a:prstGeom>
          <a:noFill/>
          <a:ln/>
        </p:spPr>
        <p:txBody>
          <a:bodyPr wrap="square" lIns="0" tIns="0" rIns="0" bIns="0" rtlCol="0" anchor="t"/>
          <a:lstStyle/>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final names = &lt;String&gt;['Ana', 'Bo', 'Chandra', 'Dev'];</a:t>
            </a:r>
            <a:endParaRPr lang="en-US" sz="1077" dirty="0"/>
          </a:p>
          <a:p>
            <a:pPr marL="0" indent="0">
              <a:lnSpc>
                <a:spcPct val="106000"/>
              </a:lnSpc>
              <a:buNone/>
            </a:pPr>
            <a:r>
              <a:rPr lang="en-US" sz="1077" i="1" dirty="0">
                <a:solidFill>
                  <a:srgbClr val="7FA6BD"/>
                </a:solidFill>
                <a:latin typeface="Courier New" pitchFamily="34" charset="0"/>
                <a:ea typeface="Courier New" pitchFamily="34" charset="-122"/>
                <a:cs typeface="Courier New" pitchFamily="34" charset="-120"/>
              </a:rPr>
              <a:t>// null mark = not submitted yet</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final marks = &lt;int?&gt;[88, null, 74, null];</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String status(String name, int? mark) {</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  if (mark == null) return '$name: not submitted';</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  final verdict = mark &gt;= 50 ? 'pass' : 'fail';</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return '$name: $mark ($verdict)';</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void main() {</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for (var i = 0; i &lt; names.length; i++) {</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print(status(names[i], marks[i]));</a:t>
            </a:r>
            <a:endParaRPr lang="en-US" sz="1077" dirty="0"/>
          </a:p>
          <a:p>
            <a:pPr marL="0" indent="0">
              <a:lnSpc>
                <a:spcPct val="106000"/>
              </a:lnSpc>
              <a:buNone/>
            </a:pPr>
            <a:r>
              <a:rPr lang="en-US" sz="1077" i="1" dirty="0">
                <a:solidFill>
                  <a:srgbClr val="A8D65C"/>
                </a:solidFill>
                <a:latin typeface="Courier New" pitchFamily="34" charset="0"/>
                <a:ea typeface="Courier New" pitchFamily="34" charset="-122"/>
                <a:cs typeface="Courier New" pitchFamily="34" charset="-120"/>
              </a:rPr>
              <a:t>Bo: not submitted</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a:t>
            </a:r>
            <a:endParaRPr lang="en-US" sz="1077" dirty="0"/>
          </a:p>
          <a:p>
            <a:pPr marL="0" indent="0">
              <a:lnSpc>
                <a:spcPct val="106000"/>
              </a:lnSpc>
              <a:buNone/>
            </a:pPr>
            <a:r>
              <a:rPr lang="en-US" sz="1077" i="1" dirty="0">
                <a:solidFill>
                  <a:srgbClr val="7FA6BD"/>
                </a:solidFill>
                <a:latin typeface="Courier New" pitchFamily="34" charset="0"/>
                <a:ea typeface="Courier New" pitchFamily="34" charset="-122"/>
                <a:cs typeface="Courier New" pitchFamily="34" charset="-120"/>
              </a:rPr>
              <a:t>  // average the submitted marks only</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final done = marks.whereType&lt;int&gt;().toList();</a:t>
            </a:r>
            <a:endParaRPr lang="en-US" sz="1077" dirty="0"/>
          </a:p>
          <a:p>
            <a:pPr marL="0" indent="0">
              <a:lnSpc>
                <a:spcPct val="106000"/>
              </a:lnSpc>
              <a:buNone/>
            </a:pPr>
            <a:r>
              <a:rPr lang="en-US" sz="1077" b="1" dirty="0">
                <a:solidFill>
                  <a:srgbClr val="C8EE7E"/>
                </a:solidFill>
                <a:latin typeface="Courier New" pitchFamily="34" charset="0"/>
                <a:ea typeface="Courier New" pitchFamily="34" charset="-122"/>
                <a:cs typeface="Courier New" pitchFamily="34" charset="-120"/>
              </a:rPr>
              <a:t>  final sum = done.fold(0, (a, b) =&gt; a + b);</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final mean = done.isEmpty ? 0 : sum / done.length;</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  print('submitted ${done.length}, mean $mean');</a:t>
            </a:r>
            <a:endParaRPr lang="en-US" sz="1077" dirty="0"/>
          </a:p>
          <a:p>
            <a:pPr marL="0" indent="0">
              <a:lnSpc>
                <a:spcPct val="106000"/>
              </a:lnSpc>
              <a:buNone/>
            </a:pPr>
            <a:r>
              <a:rPr lang="en-US" sz="1077" i="1" dirty="0">
                <a:solidFill>
                  <a:srgbClr val="A8D65C"/>
                </a:solidFill>
                <a:latin typeface="Courier New" pitchFamily="34" charset="0"/>
                <a:ea typeface="Courier New" pitchFamily="34" charset="-122"/>
                <a:cs typeface="Courier New" pitchFamily="34" charset="-120"/>
              </a:rPr>
              <a:t>submitted 2, mean 81.0</a:t>
            </a:r>
            <a:endParaRPr lang="en-US" sz="1077" dirty="0"/>
          </a:p>
          <a:p>
            <a:pPr marL="0" indent="0">
              <a:lnSpc>
                <a:spcPct val="106000"/>
              </a:lnSpc>
              <a:buNone/>
            </a:pPr>
            <a:r>
              <a:rPr lang="en-US" sz="1077" dirty="0">
                <a:solidFill>
                  <a:srgbClr val="EAF2F7"/>
                </a:solidFill>
                <a:latin typeface="Courier New" pitchFamily="34" charset="0"/>
                <a:ea typeface="Courier New" pitchFamily="34" charset="-122"/>
                <a:cs typeface="Courier New" pitchFamily="34" charset="-120"/>
              </a:rPr>
              <a:t>}</a:t>
            </a:r>
            <a:endParaRPr lang="en-US" sz="1077" dirty="0"/>
          </a:p>
        </p:txBody>
      </p:sp>
      <p:sp>
        <p:nvSpPr>
          <p:cNvPr id="10" name="Text 8"/>
          <p:cNvSpPr txBox="1"/>
          <p:nvPr/>
        </p:nvSpPr>
        <p:spPr>
          <a:xfrm>
            <a:off x="7635240" y="1801368"/>
            <a:ext cx="3995928" cy="40233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Watch for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List&lt;int?&gt; models "maybe not submitted" honestly</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The early null check promotes mark to int for the rest of the function</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whereType&lt;int&gt;() strips the nulls with no bang</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fold(0, …) survives an empty list where reduce() would throw</a:t>
            </a:r>
            <a:endParaRPr lang="en-US" sz="1250" dirty="0"/>
          </a:p>
          <a:p>
            <a:pPr marL="457200" lvl="1" indent="-228600">
              <a:lnSpc>
                <a:spcPct val="105000"/>
              </a:lnSpc>
              <a:spcAft>
                <a:spcPts val="400"/>
              </a:spcAft>
              <a:buSzPct val="100000"/>
              <a:buChar char="•"/>
            </a:pPr>
            <a:r>
              <a:rPr lang="en-US" sz="1100" b="1" dirty="0">
                <a:solidFill>
                  <a:srgbClr val="5B7183"/>
                </a:solidFill>
                <a:latin typeface="Calibri" pitchFamily="34" charset="0"/>
                <a:ea typeface="Calibri" pitchFamily="34" charset="-122"/>
                <a:cs typeface="Calibri" pitchFamily="34" charset="-120"/>
              </a:rPr>
              <a:t>Two parallel lists is a smell — block 5 fixes it</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Then break it on purpose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Delete the null check → read the error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Fix it with mark! instead → run with all-null data → crash</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Compare the two fixes out loud</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4 · SUMMARY</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So which tool do I reach for?</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37</a:t>
            </a:r>
            <a:endParaRPr lang="en-US" sz="950" dirty="0"/>
          </a:p>
        </p:txBody>
      </p:sp>
      <p:sp>
        <p:nvSpPr>
          <p:cNvPr id="6" name="Shape 4"/>
          <p:cNvSpPr/>
          <p:nvPr/>
        </p:nvSpPr>
        <p:spPr>
          <a:xfrm>
            <a:off x="566928" y="1536192"/>
            <a:ext cx="420624" cy="420624"/>
          </a:xfrm>
          <a:prstGeom prst="ellipse">
            <a:avLst/>
          </a:prstGeom>
          <a:solidFill>
            <a:srgbClr val="00767F"/>
          </a:solidFill>
          <a:ln/>
        </p:spPr>
        <p:txBody>
          <a:bodyPr/>
          <a:lstStyle/>
          <a:p>
            <a:endParaRPr lang="en-CA"/>
          </a:p>
        </p:txBody>
      </p:sp>
      <p:sp>
        <p:nvSpPr>
          <p:cNvPr id="7" name="Text 5"/>
          <p:cNvSpPr txBox="1"/>
          <p:nvPr/>
        </p:nvSpPr>
        <p:spPr>
          <a:xfrm>
            <a:off x="566928" y="153619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8" name="Text 6"/>
          <p:cNvSpPr txBox="1"/>
          <p:nvPr/>
        </p:nvSpPr>
        <p:spPr>
          <a:xfrm>
            <a:off x="1133856" y="1508760"/>
            <a:ext cx="6382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Can the value genuinely be absent?</a:t>
            </a:r>
            <a:endParaRPr lang="en-US" sz="1500" dirty="0"/>
          </a:p>
        </p:txBody>
      </p:sp>
      <p:sp>
        <p:nvSpPr>
          <p:cNvPr id="9" name="Text 7"/>
          <p:cNvSpPr txBox="1"/>
          <p:nvPr/>
        </p:nvSpPr>
        <p:spPr>
          <a:xfrm>
            <a:off x="1133856" y="1783080"/>
            <a:ext cx="6382512" cy="54864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If no — use a non-nullable type and initialise it properly. Most values are in this bucket. Stop here.</a:t>
            </a:r>
            <a:endParaRPr lang="en-US" sz="1300" dirty="0"/>
          </a:p>
        </p:txBody>
      </p:sp>
      <p:sp>
        <p:nvSpPr>
          <p:cNvPr id="10" name="Shape 8"/>
          <p:cNvSpPr/>
          <p:nvPr/>
        </p:nvSpPr>
        <p:spPr>
          <a:xfrm>
            <a:off x="566928" y="2432304"/>
            <a:ext cx="420624" cy="420624"/>
          </a:xfrm>
          <a:prstGeom prst="ellipse">
            <a:avLst/>
          </a:prstGeom>
          <a:solidFill>
            <a:srgbClr val="00767F"/>
          </a:solidFill>
          <a:ln/>
        </p:spPr>
        <p:txBody>
          <a:bodyPr/>
          <a:lstStyle/>
          <a:p>
            <a:endParaRPr lang="en-CA"/>
          </a:p>
        </p:txBody>
      </p:sp>
      <p:sp>
        <p:nvSpPr>
          <p:cNvPr id="11" name="Text 9"/>
          <p:cNvSpPr txBox="1"/>
          <p:nvPr/>
        </p:nvSpPr>
        <p:spPr>
          <a:xfrm>
            <a:off x="566928" y="2432304"/>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2" name="Text 10"/>
          <p:cNvSpPr txBox="1"/>
          <p:nvPr/>
        </p:nvSpPr>
        <p:spPr>
          <a:xfrm>
            <a:off x="1133856" y="2404872"/>
            <a:ext cx="6382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Is there a sensible fallback?</a:t>
            </a:r>
            <a:endParaRPr lang="en-US" sz="1500" dirty="0"/>
          </a:p>
        </p:txBody>
      </p:sp>
      <p:sp>
        <p:nvSpPr>
          <p:cNvPr id="13" name="Text 11"/>
          <p:cNvSpPr txBox="1"/>
          <p:nvPr/>
        </p:nvSpPr>
        <p:spPr>
          <a:xfrm>
            <a:off x="1133856" y="2679192"/>
            <a:ext cx="6382512" cy="54864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Use ??  (or ?. with ?? if you need to reach into it first). This is the answer most of the time.</a:t>
            </a:r>
            <a:endParaRPr lang="en-US" sz="1300" dirty="0"/>
          </a:p>
        </p:txBody>
      </p:sp>
      <p:sp>
        <p:nvSpPr>
          <p:cNvPr id="14" name="Shape 12"/>
          <p:cNvSpPr/>
          <p:nvPr/>
        </p:nvSpPr>
        <p:spPr>
          <a:xfrm>
            <a:off x="566928" y="3328416"/>
            <a:ext cx="420624" cy="420624"/>
          </a:xfrm>
          <a:prstGeom prst="ellipse">
            <a:avLst/>
          </a:prstGeom>
          <a:solidFill>
            <a:srgbClr val="00767F"/>
          </a:solidFill>
          <a:ln/>
        </p:spPr>
        <p:txBody>
          <a:bodyPr/>
          <a:lstStyle/>
          <a:p>
            <a:endParaRPr lang="en-CA"/>
          </a:p>
        </p:txBody>
      </p:sp>
      <p:sp>
        <p:nvSpPr>
          <p:cNvPr id="15" name="Text 13"/>
          <p:cNvSpPr txBox="1"/>
          <p:nvPr/>
        </p:nvSpPr>
        <p:spPr>
          <a:xfrm>
            <a:off x="566928" y="3328416"/>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6" name="Text 14"/>
          <p:cNvSpPr txBox="1"/>
          <p:nvPr/>
        </p:nvSpPr>
        <p:spPr>
          <a:xfrm>
            <a:off x="1133856" y="3300984"/>
            <a:ext cx="6382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Does the behaviour differ when it's missing?</a:t>
            </a:r>
            <a:endParaRPr lang="en-US" sz="1500" dirty="0"/>
          </a:p>
        </p:txBody>
      </p:sp>
      <p:sp>
        <p:nvSpPr>
          <p:cNvPr id="17" name="Text 15"/>
          <p:cNvSpPr txBox="1"/>
          <p:nvPr/>
        </p:nvSpPr>
        <p:spPr>
          <a:xfrm>
            <a:off x="1133856" y="3575304"/>
            <a:ext cx="6382512" cy="54864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Use an if check or an early return, and let promotion do the rest. Clearest option when the two paths are different.</a:t>
            </a:r>
            <a:endParaRPr lang="en-US" sz="1300" dirty="0"/>
          </a:p>
        </p:txBody>
      </p:sp>
      <p:sp>
        <p:nvSpPr>
          <p:cNvPr id="18" name="Shape 16"/>
          <p:cNvSpPr/>
          <p:nvPr/>
        </p:nvSpPr>
        <p:spPr>
          <a:xfrm>
            <a:off x="566928" y="4224528"/>
            <a:ext cx="420624" cy="420624"/>
          </a:xfrm>
          <a:prstGeom prst="ellipse">
            <a:avLst/>
          </a:prstGeom>
          <a:solidFill>
            <a:srgbClr val="0A2540"/>
          </a:solidFill>
          <a:ln/>
        </p:spPr>
        <p:txBody>
          <a:bodyPr/>
          <a:lstStyle/>
          <a:p>
            <a:endParaRPr lang="en-CA"/>
          </a:p>
        </p:txBody>
      </p:sp>
      <p:sp>
        <p:nvSpPr>
          <p:cNvPr id="19" name="Text 17"/>
          <p:cNvSpPr txBox="1"/>
          <p:nvPr/>
        </p:nvSpPr>
        <p:spPr>
          <a:xfrm>
            <a:off x="566928" y="4224528"/>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0" name="Text 18"/>
          <p:cNvSpPr txBox="1"/>
          <p:nvPr/>
        </p:nvSpPr>
        <p:spPr>
          <a:xfrm>
            <a:off x="1133856" y="4197096"/>
            <a:ext cx="6382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Set after construction but always before use?</a:t>
            </a:r>
            <a:endParaRPr lang="en-US" sz="1500" dirty="0"/>
          </a:p>
        </p:txBody>
      </p:sp>
      <p:sp>
        <p:nvSpPr>
          <p:cNvPr id="21" name="Text 19"/>
          <p:cNvSpPr txBox="1"/>
          <p:nvPr/>
        </p:nvSpPr>
        <p:spPr>
          <a:xfrm>
            <a:off x="1133856" y="4471416"/>
            <a:ext cx="6382512" cy="54864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Use late — and only if you can name the method that sets it.</a:t>
            </a:r>
            <a:endParaRPr lang="en-US" sz="1300" dirty="0"/>
          </a:p>
        </p:txBody>
      </p:sp>
      <p:sp>
        <p:nvSpPr>
          <p:cNvPr id="22" name="Shape 20"/>
          <p:cNvSpPr/>
          <p:nvPr/>
        </p:nvSpPr>
        <p:spPr>
          <a:xfrm>
            <a:off x="566928" y="5120640"/>
            <a:ext cx="420624" cy="420624"/>
          </a:xfrm>
          <a:prstGeom prst="ellipse">
            <a:avLst/>
          </a:prstGeom>
          <a:solidFill>
            <a:srgbClr val="E0A64B"/>
          </a:solidFill>
          <a:ln/>
        </p:spPr>
        <p:txBody>
          <a:bodyPr/>
          <a:lstStyle/>
          <a:p>
            <a:endParaRPr lang="en-CA"/>
          </a:p>
        </p:txBody>
      </p:sp>
      <p:sp>
        <p:nvSpPr>
          <p:cNvPr id="23" name="Text 21"/>
          <p:cNvSpPr txBox="1"/>
          <p:nvPr/>
        </p:nvSpPr>
        <p:spPr>
          <a:xfrm>
            <a:off x="566928" y="5120640"/>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5</a:t>
            </a:r>
            <a:endParaRPr lang="en-US" sz="1350" dirty="0"/>
          </a:p>
        </p:txBody>
      </p:sp>
      <p:sp>
        <p:nvSpPr>
          <p:cNvPr id="24" name="Text 22"/>
          <p:cNvSpPr txBox="1"/>
          <p:nvPr/>
        </p:nvSpPr>
        <p:spPr>
          <a:xfrm>
            <a:off x="1133856" y="5093208"/>
            <a:ext cx="6382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Certain it's non-null, for a reason you can write down?</a:t>
            </a:r>
            <a:endParaRPr lang="en-US" sz="1500" dirty="0"/>
          </a:p>
        </p:txBody>
      </p:sp>
      <p:sp>
        <p:nvSpPr>
          <p:cNvPr id="25" name="Text 23"/>
          <p:cNvSpPr txBox="1"/>
          <p:nvPr/>
        </p:nvSpPr>
        <p:spPr>
          <a:xfrm>
            <a:off x="1133856" y="5367528"/>
            <a:ext cx="6382512" cy="54864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Only then use !, with a comment saying why. Treat every ! as a small bet against yourself.</a:t>
            </a:r>
            <a:endParaRPr lang="en-US" sz="1300" dirty="0"/>
          </a:p>
        </p:txBody>
      </p:sp>
      <p:sp>
        <p:nvSpPr>
          <p:cNvPr id="26" name="Shape 24"/>
          <p:cNvSpPr/>
          <p:nvPr/>
        </p:nvSpPr>
        <p:spPr>
          <a:xfrm>
            <a:off x="7772400" y="1508760"/>
            <a:ext cx="3858768" cy="2148840"/>
          </a:xfrm>
          <a:prstGeom prst="roundRect">
            <a:avLst>
              <a:gd name="adj" fmla="val 2128"/>
            </a:avLst>
          </a:prstGeom>
          <a:solidFill>
            <a:srgbClr val="E4F1F2"/>
          </a:solidFill>
          <a:ln/>
        </p:spPr>
        <p:txBody>
          <a:bodyPr/>
          <a:lstStyle/>
          <a:p>
            <a:endParaRPr lang="en-CA"/>
          </a:p>
        </p:txBody>
      </p:sp>
      <p:sp>
        <p:nvSpPr>
          <p:cNvPr id="27" name="Text 25"/>
          <p:cNvSpPr txBox="1"/>
          <p:nvPr/>
        </p:nvSpPr>
        <p:spPr>
          <a:xfrm>
            <a:off x="7973568" y="1673352"/>
            <a:ext cx="3456432"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The 30-second version</a:t>
            </a:r>
            <a:endParaRPr lang="en-US" sz="1600" dirty="0"/>
          </a:p>
        </p:txBody>
      </p:sp>
      <p:sp>
        <p:nvSpPr>
          <p:cNvPr id="28" name="Text 26"/>
          <p:cNvSpPr txBox="1"/>
          <p:nvPr/>
        </p:nvSpPr>
        <p:spPr>
          <a:xfrm>
            <a:off x="7991856" y="2112264"/>
            <a:ext cx="3419856" cy="1344168"/>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300" dirty="0">
                <a:solidFill>
                  <a:srgbClr val="16232E"/>
                </a:solidFill>
                <a:latin typeface="Calibri" pitchFamily="34" charset="0"/>
                <a:ea typeface="Calibri" pitchFamily="34" charset="-122"/>
                <a:cs typeface="Calibri" pitchFamily="34" charset="-120"/>
              </a:rPr>
              <a:t>Prefer non-nullable</a:t>
            </a:r>
            <a:endParaRPr lang="en-US" sz="1300" dirty="0"/>
          </a:p>
          <a:p>
            <a:pPr marL="342900" indent="-342900">
              <a:lnSpc>
                <a:spcPct val="105000"/>
              </a:lnSpc>
              <a:spcAft>
                <a:spcPts val="500"/>
              </a:spcAft>
              <a:buSzPct val="100000"/>
              <a:buChar char="▪"/>
            </a:pPr>
            <a:r>
              <a:rPr lang="en-US" sz="1300" dirty="0">
                <a:solidFill>
                  <a:srgbClr val="16232E"/>
                </a:solidFill>
                <a:latin typeface="Calibri" pitchFamily="34" charset="0"/>
                <a:ea typeface="Calibri" pitchFamily="34" charset="-122"/>
                <a:cs typeface="Calibri" pitchFamily="34" charset="-120"/>
              </a:rPr>
              <a:t>Then ??</a:t>
            </a:r>
            <a:endParaRPr lang="en-US" sz="1300" dirty="0"/>
          </a:p>
          <a:p>
            <a:pPr marL="342900" indent="-342900">
              <a:lnSpc>
                <a:spcPct val="105000"/>
              </a:lnSpc>
              <a:spcAft>
                <a:spcPts val="500"/>
              </a:spcAft>
              <a:buSzPct val="100000"/>
              <a:buChar char="▪"/>
            </a:pPr>
            <a:r>
              <a:rPr lang="en-US" sz="1300" dirty="0">
                <a:solidFill>
                  <a:srgbClr val="16232E"/>
                </a:solidFill>
                <a:latin typeface="Calibri" pitchFamily="34" charset="0"/>
                <a:ea typeface="Calibri" pitchFamily="34" charset="-122"/>
                <a:cs typeface="Calibri" pitchFamily="34" charset="-120"/>
              </a:rPr>
              <a:t>Then an if check</a:t>
            </a:r>
            <a:endParaRPr lang="en-US" sz="1300" dirty="0"/>
          </a:p>
          <a:p>
            <a:pPr marL="342900" indent="-342900">
              <a:lnSpc>
                <a:spcPct val="105000"/>
              </a:lnSpc>
              <a:spcAft>
                <a:spcPts val="500"/>
              </a:spcAft>
              <a:buSzPct val="100000"/>
              <a:buChar char="▪"/>
            </a:pPr>
            <a:r>
              <a:rPr lang="en-US" sz="1300" dirty="0">
                <a:solidFill>
                  <a:srgbClr val="16232E"/>
                </a:solidFill>
                <a:latin typeface="Calibri" pitchFamily="34" charset="0"/>
                <a:ea typeface="Calibri" pitchFamily="34" charset="-122"/>
                <a:cs typeface="Calibri" pitchFamily="34" charset="-120"/>
              </a:rPr>
              <a:t>late only with a reason</a:t>
            </a:r>
            <a:endParaRPr lang="en-US" sz="1300" dirty="0"/>
          </a:p>
          <a:p>
            <a:pPr marL="342900" indent="-342900">
              <a:lnSpc>
                <a:spcPct val="105000"/>
              </a:lnSpc>
              <a:spcAft>
                <a:spcPts val="500"/>
              </a:spcAft>
              <a:buSzPct val="100000"/>
              <a:buChar char="▪"/>
            </a:pPr>
            <a:r>
              <a:rPr lang="en-US" sz="1300" dirty="0">
                <a:solidFill>
                  <a:srgbClr val="16232E"/>
                </a:solidFill>
                <a:latin typeface="Calibri" pitchFamily="34" charset="0"/>
                <a:ea typeface="Calibri" pitchFamily="34" charset="-122"/>
                <a:cs typeface="Calibri" pitchFamily="34" charset="-120"/>
              </a:rPr>
              <a:t>! almost never</a:t>
            </a:r>
            <a:endParaRPr lang="en-US" sz="1300" dirty="0"/>
          </a:p>
        </p:txBody>
      </p:sp>
      <p:sp>
        <p:nvSpPr>
          <p:cNvPr id="29" name="Shape 27"/>
          <p:cNvSpPr/>
          <p:nvPr/>
        </p:nvSpPr>
        <p:spPr>
          <a:xfrm>
            <a:off x="7772400" y="3794760"/>
            <a:ext cx="3858768" cy="2194560"/>
          </a:xfrm>
          <a:prstGeom prst="roundRect">
            <a:avLst>
              <a:gd name="adj" fmla="val 2083"/>
            </a:avLst>
          </a:prstGeom>
          <a:solidFill>
            <a:srgbClr val="E4F1F2"/>
          </a:solidFill>
          <a:ln w="12700">
            <a:solidFill>
              <a:srgbClr val="0E9AA3"/>
            </a:solidFill>
            <a:prstDash val="solid"/>
          </a:ln>
        </p:spPr>
        <p:txBody>
          <a:bodyPr/>
          <a:lstStyle/>
          <a:p>
            <a:endParaRPr lang="en-CA"/>
          </a:p>
        </p:txBody>
      </p:sp>
      <p:sp>
        <p:nvSpPr>
          <p:cNvPr id="30" name="Text 28"/>
          <p:cNvSpPr txBox="1"/>
          <p:nvPr/>
        </p:nvSpPr>
        <p:spPr>
          <a:xfrm>
            <a:off x="7991856" y="391363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SAY IT BACK TO ME</a:t>
            </a:r>
            <a:endParaRPr lang="en-US" sz="1050" dirty="0"/>
          </a:p>
        </p:txBody>
      </p:sp>
      <p:sp>
        <p:nvSpPr>
          <p:cNvPr id="31" name="Text 29"/>
          <p:cNvSpPr txBox="1"/>
          <p:nvPr/>
        </p:nvSpPr>
        <p:spPr>
          <a:xfrm>
            <a:off x="7991856" y="4160520"/>
            <a:ext cx="3419856" cy="1719072"/>
          </a:xfrm>
          <a:prstGeom prst="rect">
            <a:avLst/>
          </a:prstGeom>
          <a:noFill/>
          <a:ln/>
        </p:spPr>
        <p:txBody>
          <a:bodyPr wrap="square" lIns="0" tIns="0" rIns="0" bIns="0" rtlCol="0" anchor="t"/>
          <a:lstStyle/>
          <a:p>
            <a:pPr marL="0" indent="0">
              <a:lnSpc>
                <a:spcPct val="112000"/>
              </a:lnSpc>
              <a:buNone/>
            </a:pPr>
            <a:r>
              <a:rPr lang="en-US" sz="1300" dirty="0">
                <a:solidFill>
                  <a:srgbClr val="0A2540"/>
                </a:solidFill>
                <a:latin typeface="Calibri" pitchFamily="34" charset="0"/>
                <a:ea typeface="Calibri" pitchFamily="34" charset="-122"/>
                <a:cs typeface="Calibri" pitchFamily="34" charset="-120"/>
              </a:rPr>
              <a:t>In your own words: what does sound null safety guarantee, and what does it ask of you in exchange? That question is on the quiz, and I want the answer in sentences — not syntax.</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60120" y="2084832"/>
            <a:ext cx="1371600" cy="1371600"/>
          </a:xfrm>
          <a:prstGeom prst="ellipse">
            <a:avLst/>
          </a:prstGeom>
          <a:solidFill>
            <a:srgbClr val="00767F"/>
          </a:solidFill>
          <a:ln w="19050">
            <a:solidFill>
              <a:srgbClr val="A8D65C"/>
            </a:solidFill>
            <a:prstDash val="solid"/>
          </a:ln>
        </p:spPr>
        <p:txBody>
          <a:bodyPr/>
          <a:lstStyle/>
          <a:p>
            <a:endParaRPr lang="en-CA"/>
          </a:p>
        </p:txBody>
      </p:sp>
      <p:sp>
        <p:nvSpPr>
          <p:cNvPr id="3" name="Text 1"/>
          <p:cNvSpPr txBox="1"/>
          <p:nvPr/>
        </p:nvSpPr>
        <p:spPr>
          <a:xfrm>
            <a:off x="960120" y="2084832"/>
            <a:ext cx="1371600" cy="1371600"/>
          </a:xfrm>
          <a:prstGeom prst="rect">
            <a:avLst/>
          </a:prstGeom>
          <a:noFill/>
          <a:ln/>
        </p:spPr>
        <p:txBody>
          <a:bodyPr wrap="square" lIns="0" tIns="0" rIns="0" bIns="0" rtlCol="0" anchor="ctr"/>
          <a:lstStyle/>
          <a:p>
            <a:pPr marL="0" indent="0" algn="ctr">
              <a:buNone/>
            </a:pPr>
            <a:r>
              <a:rPr lang="en-US" sz="4000" b="1" dirty="0">
                <a:solidFill>
                  <a:srgbClr val="FFFFFF"/>
                </a:solidFill>
                <a:latin typeface="Calibri" pitchFamily="34" charset="0"/>
                <a:ea typeface="Calibri" pitchFamily="34" charset="-122"/>
                <a:cs typeface="Calibri" pitchFamily="34" charset="-120"/>
              </a:rPr>
              <a:t>5</a:t>
            </a:r>
            <a:endParaRPr lang="en-US" sz="4000" dirty="0"/>
          </a:p>
        </p:txBody>
      </p:sp>
      <p:sp>
        <p:nvSpPr>
          <p:cNvPr id="4" name="Text 2"/>
          <p:cNvSpPr txBox="1"/>
          <p:nvPr/>
        </p:nvSpPr>
        <p:spPr>
          <a:xfrm>
            <a:off x="2743200" y="1993392"/>
            <a:ext cx="8595360" cy="777240"/>
          </a:xfrm>
          <a:prstGeom prst="rect">
            <a:avLst/>
          </a:prstGeom>
          <a:noFill/>
          <a:ln/>
        </p:spPr>
        <p:txBody>
          <a:bodyPr wrap="square" lIns="0" tIns="0" rIns="0" bIns="0" rtlCol="0" anchor="ctr"/>
          <a:lstStyle/>
          <a:p>
            <a:pPr marL="0" indent="0">
              <a:buNone/>
            </a:pPr>
            <a:r>
              <a:rPr lang="en-US" sz="4000" b="1" dirty="0">
                <a:solidFill>
                  <a:srgbClr val="FFFFFF"/>
                </a:solidFill>
                <a:latin typeface="Calibri" pitchFamily="34" charset="0"/>
                <a:ea typeface="Calibri" pitchFamily="34" charset="-122"/>
                <a:cs typeface="Calibri" pitchFamily="34" charset="-120"/>
              </a:rPr>
              <a:t>Simple user-defined objects</a:t>
            </a:r>
            <a:endParaRPr lang="en-US" sz="4000" dirty="0"/>
          </a:p>
        </p:txBody>
      </p:sp>
      <p:sp>
        <p:nvSpPr>
          <p:cNvPr id="5" name="Text 3"/>
          <p:cNvSpPr txBox="1"/>
          <p:nvPr/>
        </p:nvSpPr>
        <p:spPr>
          <a:xfrm>
            <a:off x="2788920" y="2788920"/>
            <a:ext cx="8138160" cy="822960"/>
          </a:xfrm>
          <a:prstGeom prst="rect">
            <a:avLst/>
          </a:prstGeom>
          <a:noFill/>
          <a:ln/>
        </p:spPr>
        <p:txBody>
          <a:bodyPr wrap="square" lIns="0" tIns="0" rIns="0" bIns="0" rtlCol="0" anchor="ctr"/>
          <a:lstStyle/>
          <a:p>
            <a:pPr marL="0" indent="0">
              <a:lnSpc>
                <a:spcPct val="115000"/>
              </a:lnSpc>
              <a:buNone/>
            </a:pPr>
            <a:r>
              <a:rPr lang="en-US" sz="1600" dirty="0">
                <a:solidFill>
                  <a:srgbClr val="E4F1F2"/>
                </a:solidFill>
                <a:latin typeface="Calibri" pitchFamily="34" charset="0"/>
                <a:ea typeface="Calibri" pitchFamily="34" charset="-122"/>
                <a:cs typeface="Calibri" pitchFamily="34" charset="-120"/>
              </a:rPr>
              <a:t>Giving your data a shape — and a name you invented.</a:t>
            </a:r>
            <a:endParaRPr lang="en-US" sz="1600" dirty="0"/>
          </a:p>
        </p:txBody>
      </p:sp>
      <p:sp>
        <p:nvSpPr>
          <p:cNvPr id="6" name="Text 4"/>
          <p:cNvSpPr txBox="1"/>
          <p:nvPr/>
        </p:nvSpPr>
        <p:spPr>
          <a:xfrm>
            <a:off x="2788920" y="3703320"/>
            <a:ext cx="8138160" cy="1371600"/>
          </a:xfrm>
          <a:prstGeom prst="rect">
            <a:avLst/>
          </a:prstGeom>
          <a:noFill/>
          <a:ln/>
        </p:spPr>
        <p:txBody>
          <a:bodyPr wrap="square" lIns="0" tIns="0" rIns="0" bIns="0" rtlCol="0" anchor="ctr"/>
          <a:lstStyle/>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Why two parallel lists is a bug waiting to happen</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Fields, constructors, methods — the minimum viable class</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Constructor shorthand, named parameters, required</a:t>
            </a:r>
            <a:endParaRPr lang="en-US" sz="1450" dirty="0"/>
          </a:p>
          <a:p>
            <a:pPr marL="342900" indent="-342900">
              <a:spcAft>
                <a:spcPts val="600"/>
              </a:spcAft>
              <a:buSzPct val="100000"/>
              <a:buChar char="▪"/>
            </a:pPr>
            <a:r>
              <a:rPr lang="en-US" sz="1450" dirty="0">
                <a:solidFill>
                  <a:srgbClr val="FFFFFF"/>
                </a:solidFill>
                <a:latin typeface="Calibri" pitchFamily="34" charset="0"/>
                <a:ea typeface="Calibri" pitchFamily="34" charset="-122"/>
                <a:cs typeface="Calibri" pitchFamily="34" charset="-120"/>
              </a:rPr>
              <a:t>Getters, toString(), and Lists of your own type</a:t>
            </a:r>
            <a:endParaRPr lang="en-US" sz="1450" dirty="0"/>
          </a:p>
        </p:txBody>
      </p:sp>
      <p:sp>
        <p:nvSpPr>
          <p:cNvPr id="7" name="Text 5"/>
          <p:cNvSpPr txBox="1"/>
          <p:nvPr/>
        </p:nvSpPr>
        <p:spPr>
          <a:xfrm>
            <a:off x="960120" y="3749040"/>
            <a:ext cx="1463040" cy="320040"/>
          </a:xfrm>
          <a:prstGeom prst="rect">
            <a:avLst/>
          </a:prstGeom>
          <a:noFill/>
          <a:ln/>
        </p:spPr>
        <p:txBody>
          <a:bodyPr wrap="square" lIns="0" tIns="0" rIns="0" bIns="0" rtlCol="0" anchor="ctr"/>
          <a:lstStyle/>
          <a:p>
            <a:pPr marL="0" indent="0" algn="ctr">
              <a:buNone/>
            </a:pPr>
            <a:r>
              <a:rPr lang="en-US" sz="1200" b="1" dirty="0">
                <a:solidFill>
                  <a:srgbClr val="A8D65C"/>
                </a:solidFill>
                <a:latin typeface="Calibri" pitchFamily="34" charset="0"/>
                <a:ea typeface="Calibri" pitchFamily="34" charset="-122"/>
                <a:cs typeface="Calibri" pitchFamily="34" charset="-120"/>
              </a:rPr>
              <a:t>20 min</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5 · MOTIVATION</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The problem with parallel lists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Remember the null-safety demo? Here's what was quietly wrong with it.</a:t>
            </a:r>
            <a:endParaRPr lang="en-US" sz="1450" dirty="0"/>
          </a:p>
        </p:txBody>
      </p:sp>
      <p:sp>
        <p:nvSpPr>
          <p:cNvPr id="5" name="Text 3"/>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1:32 – 1:52</a:t>
            </a:r>
            <a:endParaRPr lang="en-US" sz="1100" dirty="0"/>
          </a:p>
        </p:txBody>
      </p:sp>
      <p:sp>
        <p:nvSpPr>
          <p:cNvPr id="6" name="Text 4"/>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7" name="Text 5"/>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39</a:t>
            </a:r>
            <a:endParaRPr lang="en-US" sz="950" dirty="0"/>
          </a:p>
        </p:txBody>
      </p:sp>
      <p:sp>
        <p:nvSpPr>
          <p:cNvPr id="8" name="Shape 6"/>
          <p:cNvSpPr/>
          <p:nvPr/>
        </p:nvSpPr>
        <p:spPr>
          <a:xfrm>
            <a:off x="566928" y="1828800"/>
            <a:ext cx="5532120" cy="2331720"/>
          </a:xfrm>
          <a:prstGeom prst="roundRect">
            <a:avLst>
              <a:gd name="adj" fmla="val 23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9" name="Text 7"/>
          <p:cNvSpPr txBox="1"/>
          <p:nvPr/>
        </p:nvSpPr>
        <p:spPr>
          <a:xfrm>
            <a:off x="768096" y="1929384"/>
            <a:ext cx="51297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BEFORE — TWO LISTS, ONE PRAYER</a:t>
            </a:r>
            <a:endParaRPr lang="en-US" sz="1050" dirty="0"/>
          </a:p>
        </p:txBody>
      </p:sp>
      <p:sp>
        <p:nvSpPr>
          <p:cNvPr id="10" name="Text 8"/>
          <p:cNvSpPr txBox="1"/>
          <p:nvPr/>
        </p:nvSpPr>
        <p:spPr>
          <a:xfrm>
            <a:off x="768096" y="2231136"/>
            <a:ext cx="5166360" cy="1819656"/>
          </a:xfrm>
          <a:prstGeom prst="rect">
            <a:avLst/>
          </a:prstGeom>
          <a:noFill/>
          <a:ln/>
        </p:spPr>
        <p:txBody>
          <a:bodyPr wrap="square" lIns="0" tIns="0" rIns="0" bIns="0" rtlCol="0" anchor="t"/>
          <a:lstStyle/>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final names = ['Ana', 'Bo', 'Chandra'];</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final marks = [88, 74, 91];</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 </a:t>
            </a:r>
            <a:endParaRPr lang="en-US" sz="1206" dirty="0"/>
          </a:p>
          <a:p>
            <a:pPr marL="0" indent="0">
              <a:lnSpc>
                <a:spcPct val="106000"/>
              </a:lnSpc>
              <a:buNone/>
            </a:pPr>
            <a:r>
              <a:rPr lang="en-US" sz="1206" b="1" dirty="0">
                <a:solidFill>
                  <a:srgbClr val="C8EE7E"/>
                </a:solidFill>
                <a:latin typeface="Courier New" pitchFamily="34" charset="0"/>
                <a:ea typeface="Courier New" pitchFamily="34" charset="-122"/>
                <a:cs typeface="Courier New" pitchFamily="34" charset="-120"/>
              </a:rPr>
              <a:t>marks.sort();   // names and marks now</a:t>
            </a:r>
            <a:endParaRPr lang="en-US" sz="1206" dirty="0"/>
          </a:p>
          <a:p>
            <a:pPr marL="0" indent="0">
              <a:lnSpc>
                <a:spcPct val="106000"/>
              </a:lnSpc>
              <a:buNone/>
            </a:pPr>
            <a:r>
              <a:rPr lang="en-US" sz="1206" b="1" dirty="0">
                <a:solidFill>
                  <a:srgbClr val="C8EE7E"/>
                </a:solidFill>
                <a:latin typeface="Courier New" pitchFamily="34" charset="0"/>
                <a:ea typeface="Courier New" pitchFamily="34" charset="-122"/>
                <a:cs typeface="Courier New" pitchFamily="34" charset="-120"/>
              </a:rPr>
              <a:t>                // point at different people</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 </a:t>
            </a:r>
            <a:endParaRPr lang="en-US" sz="1206" dirty="0"/>
          </a:p>
          <a:p>
            <a:pPr marL="0" indent="0">
              <a:lnSpc>
                <a:spcPct val="106000"/>
              </a:lnSpc>
              <a:buNone/>
            </a:pPr>
            <a:r>
              <a:rPr lang="en-US" sz="1206" i="1" dirty="0">
                <a:solidFill>
                  <a:srgbClr val="7FA6BD"/>
                </a:solidFill>
                <a:latin typeface="Courier New" pitchFamily="34" charset="0"/>
                <a:ea typeface="Courier New" pitchFamily="34" charset="-122"/>
                <a:cs typeface="Courier New" pitchFamily="34" charset="-120"/>
              </a:rPr>
              <a:t>// Nothing in the type system says these</a:t>
            </a:r>
            <a:endParaRPr lang="en-US" sz="1206" dirty="0"/>
          </a:p>
          <a:p>
            <a:pPr marL="0" indent="0">
              <a:lnSpc>
                <a:spcPct val="106000"/>
              </a:lnSpc>
              <a:buNone/>
            </a:pPr>
            <a:r>
              <a:rPr lang="en-US" sz="1206" i="1" dirty="0">
                <a:solidFill>
                  <a:srgbClr val="7FA6BD"/>
                </a:solidFill>
                <a:latin typeface="Courier New" pitchFamily="34" charset="0"/>
                <a:ea typeface="Courier New" pitchFamily="34" charset="-122"/>
                <a:cs typeface="Courier New" pitchFamily="34" charset="-120"/>
              </a:rPr>
              <a:t>// two lists have anything to do with</a:t>
            </a:r>
            <a:endParaRPr lang="en-US" sz="1206" dirty="0"/>
          </a:p>
          <a:p>
            <a:pPr marL="0" indent="0">
              <a:lnSpc>
                <a:spcPct val="106000"/>
              </a:lnSpc>
              <a:buNone/>
            </a:pPr>
            <a:r>
              <a:rPr lang="en-US" sz="1206" i="1" dirty="0">
                <a:solidFill>
                  <a:srgbClr val="7FA6BD"/>
                </a:solidFill>
                <a:latin typeface="Courier New" pitchFamily="34" charset="0"/>
                <a:ea typeface="Courier New" pitchFamily="34" charset="-122"/>
                <a:cs typeface="Courier New" pitchFamily="34" charset="-120"/>
              </a:rPr>
              <a:t>// each other. Nothing can warn you.</a:t>
            </a:r>
            <a:endParaRPr lang="en-US" sz="1206" dirty="0"/>
          </a:p>
        </p:txBody>
      </p:sp>
      <p:sp>
        <p:nvSpPr>
          <p:cNvPr id="11" name="Shape 9"/>
          <p:cNvSpPr/>
          <p:nvPr/>
        </p:nvSpPr>
        <p:spPr>
          <a:xfrm>
            <a:off x="6281928" y="1828800"/>
            <a:ext cx="5349240" cy="2331720"/>
          </a:xfrm>
          <a:prstGeom prst="roundRect">
            <a:avLst>
              <a:gd name="adj" fmla="val 23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2" name="Text 10"/>
          <p:cNvSpPr txBox="1"/>
          <p:nvPr/>
        </p:nvSpPr>
        <p:spPr>
          <a:xfrm>
            <a:off x="6483096" y="1929384"/>
            <a:ext cx="4946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AFTER — ONE LIST OF ONE TYPE</a:t>
            </a:r>
            <a:endParaRPr lang="en-US" sz="1050" dirty="0"/>
          </a:p>
        </p:txBody>
      </p:sp>
      <p:sp>
        <p:nvSpPr>
          <p:cNvPr id="13" name="Text 11"/>
          <p:cNvSpPr txBox="1"/>
          <p:nvPr/>
        </p:nvSpPr>
        <p:spPr>
          <a:xfrm>
            <a:off x="6483096" y="2231136"/>
            <a:ext cx="4983480" cy="1819656"/>
          </a:xfrm>
          <a:prstGeom prst="rect">
            <a:avLst/>
          </a:prstGeom>
          <a:noFill/>
          <a:ln/>
        </p:spPr>
        <p:txBody>
          <a:bodyPr wrap="square" lIns="0" tIns="0" rIns="0" bIns="0" rtlCol="0" anchor="t"/>
          <a:lstStyle/>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final students = [</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  Student(name: 'Ana', mark: 88),</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  Student(name: 'Bo', mark: 74),</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a:t>
            </a:r>
            <a:endParaRPr lang="en-US" sz="1206" dirty="0"/>
          </a:p>
          <a:p>
            <a:pPr marL="0" indent="0">
              <a:lnSpc>
                <a:spcPct val="106000"/>
              </a:lnSpc>
              <a:buNone/>
            </a:pPr>
            <a:r>
              <a:rPr lang="en-US" sz="1206" dirty="0">
                <a:solidFill>
                  <a:srgbClr val="EAF2F7"/>
                </a:solidFill>
                <a:latin typeface="Courier New" pitchFamily="34" charset="0"/>
                <a:ea typeface="Courier New" pitchFamily="34" charset="-122"/>
                <a:cs typeface="Courier New" pitchFamily="34" charset="-120"/>
              </a:rPr>
              <a:t> </a:t>
            </a:r>
            <a:endParaRPr lang="en-US" sz="1206" dirty="0"/>
          </a:p>
          <a:p>
            <a:pPr marL="0" indent="0">
              <a:lnSpc>
                <a:spcPct val="106000"/>
              </a:lnSpc>
              <a:buNone/>
            </a:pPr>
            <a:r>
              <a:rPr lang="en-US" sz="1206" b="1" dirty="0">
                <a:solidFill>
                  <a:srgbClr val="C8EE7E"/>
                </a:solidFill>
                <a:latin typeface="Courier New" pitchFamily="34" charset="0"/>
                <a:ea typeface="Courier New" pitchFamily="34" charset="-122"/>
                <a:cs typeface="Courier New" pitchFamily="34" charset="-120"/>
              </a:rPr>
              <a:t>students.sort(</a:t>
            </a:r>
            <a:endParaRPr lang="en-US" sz="1206" dirty="0"/>
          </a:p>
          <a:p>
            <a:pPr marL="0" indent="0">
              <a:lnSpc>
                <a:spcPct val="106000"/>
              </a:lnSpc>
              <a:buNone/>
            </a:pPr>
            <a:r>
              <a:rPr lang="en-US" sz="1206" b="1" dirty="0">
                <a:solidFill>
                  <a:srgbClr val="C8EE7E"/>
                </a:solidFill>
                <a:latin typeface="Courier New" pitchFamily="34" charset="0"/>
                <a:ea typeface="Courier New" pitchFamily="34" charset="-122"/>
                <a:cs typeface="Courier New" pitchFamily="34" charset="-120"/>
              </a:rPr>
              <a:t>  (a, b) =&gt; b.mark.compareTo(a.mark));</a:t>
            </a:r>
            <a:endParaRPr lang="en-US" sz="1206" dirty="0"/>
          </a:p>
          <a:p>
            <a:pPr marL="0" indent="0">
              <a:lnSpc>
                <a:spcPct val="106000"/>
              </a:lnSpc>
              <a:buNone/>
            </a:pPr>
            <a:r>
              <a:rPr lang="en-US" sz="1206" i="1" dirty="0">
                <a:solidFill>
                  <a:srgbClr val="7FA6BD"/>
                </a:solidFill>
                <a:latin typeface="Courier New" pitchFamily="34" charset="0"/>
                <a:ea typeface="Courier New" pitchFamily="34" charset="-122"/>
                <a:cs typeface="Courier New" pitchFamily="34" charset="-120"/>
              </a:rPr>
              <a:t>// the name travels WITH the mark.</a:t>
            </a:r>
            <a:endParaRPr lang="en-US" sz="1206" dirty="0"/>
          </a:p>
          <a:p>
            <a:pPr marL="0" indent="0">
              <a:lnSpc>
                <a:spcPct val="106000"/>
              </a:lnSpc>
              <a:buNone/>
            </a:pPr>
            <a:r>
              <a:rPr lang="en-US" sz="1206" i="1" dirty="0">
                <a:solidFill>
                  <a:srgbClr val="7FA6BD"/>
                </a:solidFill>
                <a:latin typeface="Courier New" pitchFamily="34" charset="0"/>
                <a:ea typeface="Courier New" pitchFamily="34" charset="-122"/>
                <a:cs typeface="Courier New" pitchFamily="34" charset="-120"/>
              </a:rPr>
              <a:t>// It cannot come apart.</a:t>
            </a:r>
            <a:endParaRPr lang="en-US" sz="1206" dirty="0"/>
          </a:p>
        </p:txBody>
      </p:sp>
      <p:sp>
        <p:nvSpPr>
          <p:cNvPr id="14" name="Text 12"/>
          <p:cNvSpPr txBox="1"/>
          <p:nvPr/>
        </p:nvSpPr>
        <p:spPr>
          <a:xfrm>
            <a:off x="566928" y="4343400"/>
            <a:ext cx="11064240" cy="1463040"/>
          </a:xfrm>
          <a:prstGeom prst="rect">
            <a:avLst/>
          </a:prstGeom>
          <a:noFill/>
          <a:ln/>
        </p:spPr>
        <p:txBody>
          <a:bodyPr wrap="square" lIns="0" tIns="0" rIns="0" bIns="0" rtlCol="0" anchor="t"/>
          <a:lstStyle/>
          <a:p>
            <a:pPr marL="342900" indent="-342900">
              <a:lnSpc>
                <a:spcPct val="105000"/>
              </a:lnSpc>
              <a:spcAft>
                <a:spcPts val="600"/>
              </a:spcAft>
              <a:buSzPct val="100000"/>
              <a:buChar char="▪"/>
            </a:pPr>
            <a:r>
              <a:rPr lang="en-US" sz="1350" b="1" dirty="0">
                <a:solidFill>
                  <a:srgbClr val="16232E"/>
                </a:solidFill>
                <a:latin typeface="Calibri" pitchFamily="34" charset="0"/>
                <a:ea typeface="Calibri" pitchFamily="34" charset="-122"/>
                <a:cs typeface="Calibri" pitchFamily="34" charset="-120"/>
              </a:rPr>
              <a:t>A class buys you three things:</a:t>
            </a:r>
            <a:endParaRPr lang="en-US" sz="1350" dirty="0"/>
          </a:p>
          <a:p>
            <a:pPr marL="457200" lvl="1" indent="-228600">
              <a:lnSpc>
                <a:spcPct val="105000"/>
              </a:lnSpc>
              <a:spcAft>
                <a:spcPts val="600"/>
              </a:spcAft>
              <a:buSzPct val="100000"/>
              <a:buChar char="•"/>
            </a:pPr>
            <a:r>
              <a:rPr lang="en-US" sz="1200" dirty="0">
                <a:solidFill>
                  <a:srgbClr val="5B7183"/>
                </a:solidFill>
                <a:latin typeface="Calibri" pitchFamily="34" charset="0"/>
                <a:ea typeface="Calibri" pitchFamily="34" charset="-122"/>
                <a:cs typeface="Calibri" pitchFamily="34" charset="-120"/>
              </a:rPr>
              <a:t>Cohesion — related values move together and can't be separated by accident</a:t>
            </a:r>
            <a:endParaRPr lang="en-US" sz="1350" dirty="0"/>
          </a:p>
          <a:p>
            <a:pPr marL="457200" lvl="1" indent="-228600">
              <a:lnSpc>
                <a:spcPct val="105000"/>
              </a:lnSpc>
              <a:spcAft>
                <a:spcPts val="600"/>
              </a:spcAft>
              <a:buSzPct val="100000"/>
              <a:buChar char="•"/>
            </a:pPr>
            <a:r>
              <a:rPr lang="en-US" sz="1200" dirty="0">
                <a:solidFill>
                  <a:srgbClr val="5B7183"/>
                </a:solidFill>
                <a:latin typeface="Calibri" pitchFamily="34" charset="0"/>
                <a:ea typeface="Calibri" pitchFamily="34" charset="-122"/>
                <a:cs typeface="Calibri" pitchFamily="34" charset="-120"/>
              </a:rPr>
              <a:t>A vocabulary — you write Student, not "index 3 of the other list"</a:t>
            </a:r>
            <a:endParaRPr lang="en-US" sz="1350" dirty="0"/>
          </a:p>
          <a:p>
            <a:pPr marL="457200" lvl="1" indent="-228600">
              <a:lnSpc>
                <a:spcPct val="105000"/>
              </a:lnSpc>
              <a:spcAft>
                <a:spcPts val="600"/>
              </a:spcAft>
              <a:buSzPct val="100000"/>
              <a:buChar char="•"/>
            </a:pPr>
            <a:r>
              <a:rPr lang="en-US" sz="1200" dirty="0">
                <a:solidFill>
                  <a:srgbClr val="5B7183"/>
                </a:solidFill>
                <a:latin typeface="Calibri" pitchFamily="34" charset="0"/>
                <a:ea typeface="Calibri" pitchFamily="34" charset="-122"/>
                <a:cs typeface="Calibri" pitchFamily="34" charset="-120"/>
              </a:rPr>
              <a:t>A home for behaviour — isPassing belongs on the student, not loose in main()</a:t>
            </a:r>
            <a:endParaRPr lang="en-US" sz="13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5 · ANATOMY</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The minimum viable class</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40</a:t>
            </a:r>
            <a:endParaRPr lang="en-US" sz="950" dirty="0"/>
          </a:p>
        </p:txBody>
      </p:sp>
      <p:sp>
        <p:nvSpPr>
          <p:cNvPr id="6" name="Shape 4"/>
          <p:cNvSpPr/>
          <p:nvPr/>
        </p:nvSpPr>
        <p:spPr>
          <a:xfrm>
            <a:off x="566928" y="1371600"/>
            <a:ext cx="6492240" cy="4480560"/>
          </a:xfrm>
          <a:prstGeom prst="roundRect">
            <a:avLst>
              <a:gd name="adj" fmla="val 1224"/>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472184"/>
            <a:ext cx="608990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class Student</a:t>
            </a:r>
            <a:endParaRPr lang="en-US" sz="1050" dirty="0"/>
          </a:p>
        </p:txBody>
      </p:sp>
      <p:sp>
        <p:nvSpPr>
          <p:cNvPr id="8" name="Text 6"/>
          <p:cNvSpPr txBox="1"/>
          <p:nvPr/>
        </p:nvSpPr>
        <p:spPr>
          <a:xfrm>
            <a:off x="768096" y="1773936"/>
            <a:ext cx="6126480" cy="3968496"/>
          </a:xfrm>
          <a:prstGeom prst="rect">
            <a:avLst/>
          </a:prstGeom>
          <a:noFill/>
          <a:ln/>
        </p:spPr>
        <p:txBody>
          <a:bodyPr wrap="square" lIns="0" tIns="0" rIns="0" bIns="0" rtlCol="0" anchor="t"/>
          <a:lstStyle/>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class Student {</a:t>
            </a:r>
            <a:endParaRPr lang="en-US" sz="1204" dirty="0"/>
          </a:p>
          <a:p>
            <a:pPr marL="0" indent="0">
              <a:lnSpc>
                <a:spcPct val="106000"/>
              </a:lnSpc>
              <a:buNone/>
            </a:pPr>
            <a:r>
              <a:rPr lang="en-US" sz="1204" i="1" dirty="0">
                <a:solidFill>
                  <a:srgbClr val="7FA6BD"/>
                </a:solidFill>
                <a:latin typeface="Courier New" pitchFamily="34" charset="0"/>
                <a:ea typeface="Courier New" pitchFamily="34" charset="-122"/>
                <a:cs typeface="Courier New" pitchFamily="34" charset="-120"/>
              </a:rPr>
              <a:t>  // 1 · FIELDS — the data each one holds</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final String name;</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int mark;</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a:t>
            </a:r>
            <a:endParaRPr lang="en-US" sz="1204" dirty="0"/>
          </a:p>
          <a:p>
            <a:pPr marL="0" indent="0">
              <a:lnSpc>
                <a:spcPct val="106000"/>
              </a:lnSpc>
              <a:buNone/>
            </a:pPr>
            <a:r>
              <a:rPr lang="en-US" sz="1204" i="1" dirty="0">
                <a:solidFill>
                  <a:srgbClr val="7FA6BD"/>
                </a:solidFill>
                <a:latin typeface="Courier New" pitchFamily="34" charset="0"/>
                <a:ea typeface="Courier New" pitchFamily="34" charset="-122"/>
                <a:cs typeface="Courier New" pitchFamily="34" charset="-120"/>
              </a:rPr>
              <a:t>  // 2 · CONSTRUCTOR — how one gets built</a:t>
            </a:r>
            <a:endParaRPr lang="en-US" sz="1204" dirty="0"/>
          </a:p>
          <a:p>
            <a:pPr marL="0" indent="0">
              <a:lnSpc>
                <a:spcPct val="106000"/>
              </a:lnSpc>
              <a:buNone/>
            </a:pPr>
            <a:r>
              <a:rPr lang="en-US" sz="1204" b="1" dirty="0">
                <a:solidFill>
                  <a:srgbClr val="C8EE7E"/>
                </a:solidFill>
                <a:latin typeface="Courier New" pitchFamily="34" charset="0"/>
                <a:ea typeface="Courier New" pitchFamily="34" charset="-122"/>
                <a:cs typeface="Courier New" pitchFamily="34" charset="-120"/>
              </a:rPr>
              <a:t>  Student({required this.name, this.mark = 0});</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a:t>
            </a:r>
            <a:endParaRPr lang="en-US" sz="1204" dirty="0"/>
          </a:p>
          <a:p>
            <a:pPr marL="0" indent="0">
              <a:lnSpc>
                <a:spcPct val="106000"/>
              </a:lnSpc>
              <a:buNone/>
            </a:pPr>
            <a:r>
              <a:rPr lang="en-US" sz="1204" i="1" dirty="0">
                <a:solidFill>
                  <a:srgbClr val="7FA6BD"/>
                </a:solidFill>
                <a:latin typeface="Courier New" pitchFamily="34" charset="0"/>
                <a:ea typeface="Courier New" pitchFamily="34" charset="-122"/>
                <a:cs typeface="Courier New" pitchFamily="34" charset="-120"/>
              </a:rPr>
              <a:t>  // 3 · GETTER — computed, not stored</a:t>
            </a:r>
            <a:endParaRPr lang="en-US" sz="1204" dirty="0"/>
          </a:p>
          <a:p>
            <a:pPr marL="0" indent="0">
              <a:lnSpc>
                <a:spcPct val="106000"/>
              </a:lnSpc>
              <a:buNone/>
            </a:pPr>
            <a:r>
              <a:rPr lang="en-US" sz="1204" b="1" dirty="0">
                <a:solidFill>
                  <a:srgbClr val="C8EE7E"/>
                </a:solidFill>
                <a:latin typeface="Courier New" pitchFamily="34" charset="0"/>
                <a:ea typeface="Courier New" pitchFamily="34" charset="-122"/>
                <a:cs typeface="Courier New" pitchFamily="34" charset="-120"/>
              </a:rPr>
              <a:t>  bool get isPassing =&gt; mark &gt;= 50;</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a:t>
            </a:r>
            <a:endParaRPr lang="en-US" sz="1204" dirty="0"/>
          </a:p>
          <a:p>
            <a:pPr marL="0" indent="0">
              <a:lnSpc>
                <a:spcPct val="106000"/>
              </a:lnSpc>
              <a:buNone/>
            </a:pPr>
            <a:r>
              <a:rPr lang="en-US" sz="1204" i="1" dirty="0">
                <a:solidFill>
                  <a:srgbClr val="7FA6BD"/>
                </a:solidFill>
                <a:latin typeface="Courier New" pitchFamily="34" charset="0"/>
                <a:ea typeface="Courier New" pitchFamily="34" charset="-122"/>
                <a:cs typeface="Courier New" pitchFamily="34" charset="-120"/>
              </a:rPr>
              <a:t>  // 4 · METHOD — behaviour that belongs here</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void curve(int points) {</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mark = (mark + points).clamp(0, 100);</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a:t>
            </a:r>
            <a:endParaRPr lang="en-US" sz="1204" dirty="0"/>
          </a:p>
          <a:p>
            <a:pPr marL="0" indent="0">
              <a:lnSpc>
                <a:spcPct val="106000"/>
              </a:lnSpc>
              <a:buNone/>
            </a:pPr>
            <a:r>
              <a:rPr lang="en-US" sz="1204" i="1" dirty="0">
                <a:solidFill>
                  <a:srgbClr val="7FA6BD"/>
                </a:solidFill>
                <a:latin typeface="Courier New" pitchFamily="34" charset="0"/>
                <a:ea typeface="Courier New" pitchFamily="34" charset="-122"/>
                <a:cs typeface="Courier New" pitchFamily="34" charset="-120"/>
              </a:rPr>
              <a:t>  // 5 · toString — how it prints</a:t>
            </a:r>
            <a:endParaRPr lang="en-US" sz="1204" dirty="0"/>
          </a:p>
          <a:p>
            <a:pPr marL="0" indent="0">
              <a:lnSpc>
                <a:spcPct val="106000"/>
              </a:lnSpc>
              <a:buNone/>
            </a:pPr>
            <a:r>
              <a:rPr lang="en-US" sz="1204" b="1" dirty="0">
                <a:solidFill>
                  <a:srgbClr val="C8EE7E"/>
                </a:solidFill>
                <a:latin typeface="Courier New" pitchFamily="34" charset="0"/>
                <a:ea typeface="Courier New" pitchFamily="34" charset="-122"/>
                <a:cs typeface="Courier New" pitchFamily="34" charset="-120"/>
              </a:rPr>
              <a:t>  @override</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  String toString() =&gt; '$name ($mark)';</a:t>
            </a:r>
            <a:endParaRPr lang="en-US" sz="1204" dirty="0"/>
          </a:p>
          <a:p>
            <a:pPr marL="0" indent="0">
              <a:lnSpc>
                <a:spcPct val="106000"/>
              </a:lnSpc>
              <a:buNone/>
            </a:pPr>
            <a:r>
              <a:rPr lang="en-US" sz="1204" dirty="0">
                <a:solidFill>
                  <a:srgbClr val="EAF2F7"/>
                </a:solidFill>
                <a:latin typeface="Courier New" pitchFamily="34" charset="0"/>
                <a:ea typeface="Courier New" pitchFamily="34" charset="-122"/>
                <a:cs typeface="Courier New" pitchFamily="34" charset="-120"/>
              </a:rPr>
              <a:t>}</a:t>
            </a:r>
            <a:endParaRPr lang="en-US" sz="1204" dirty="0"/>
          </a:p>
        </p:txBody>
      </p:sp>
      <p:sp>
        <p:nvSpPr>
          <p:cNvPr id="9" name="Shape 7"/>
          <p:cNvSpPr/>
          <p:nvPr/>
        </p:nvSpPr>
        <p:spPr>
          <a:xfrm>
            <a:off x="7223760" y="1371600"/>
            <a:ext cx="4407408" cy="2194560"/>
          </a:xfrm>
          <a:prstGeom prst="roundRect">
            <a:avLst>
              <a:gd name="adj" fmla="val 2083"/>
            </a:avLst>
          </a:prstGeom>
          <a:solidFill>
            <a:srgbClr val="E4F1F2"/>
          </a:solidFill>
          <a:ln/>
        </p:spPr>
        <p:txBody>
          <a:bodyPr/>
          <a:lstStyle/>
          <a:p>
            <a:endParaRPr lang="en-CA"/>
          </a:p>
        </p:txBody>
      </p:sp>
      <p:sp>
        <p:nvSpPr>
          <p:cNvPr id="10" name="Text 8"/>
          <p:cNvSpPr txBox="1"/>
          <p:nvPr/>
        </p:nvSpPr>
        <p:spPr>
          <a:xfrm>
            <a:off x="7424928" y="1536192"/>
            <a:ext cx="4005072" cy="310896"/>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Using it</a:t>
            </a:r>
            <a:endParaRPr lang="en-US" sz="1600" dirty="0"/>
          </a:p>
        </p:txBody>
      </p:sp>
      <p:sp>
        <p:nvSpPr>
          <p:cNvPr id="11" name="Text 9"/>
          <p:cNvSpPr txBox="1"/>
          <p:nvPr/>
        </p:nvSpPr>
        <p:spPr>
          <a:xfrm>
            <a:off x="7424928" y="1938528"/>
            <a:ext cx="4005072" cy="1426464"/>
          </a:xfrm>
          <a:prstGeom prst="rect">
            <a:avLst/>
          </a:prstGeom>
          <a:noFill/>
          <a:ln/>
        </p:spPr>
        <p:txBody>
          <a:bodyPr wrap="square" lIns="0" tIns="0" rIns="0" bIns="0" rtlCol="0" anchor="ctr"/>
          <a:lstStyle/>
          <a:p>
            <a:pPr marL="0" indent="0">
              <a:lnSpc>
                <a:spcPct val="115000"/>
              </a:lnSpc>
              <a:buNone/>
            </a:pPr>
            <a:r>
              <a:rPr lang="en-US" sz="1150" dirty="0">
                <a:solidFill>
                  <a:srgbClr val="05192E"/>
                </a:solidFill>
                <a:latin typeface="Courier New" pitchFamily="34" charset="0"/>
                <a:ea typeface="Courier New" pitchFamily="34" charset="-122"/>
                <a:cs typeface="Courier New" pitchFamily="34" charset="-120"/>
              </a:rPr>
              <a:t>final s = Student(name: 'Ana', mark: 88);</a:t>
            </a:r>
            <a:endParaRPr lang="en-US" sz="1150" dirty="0"/>
          </a:p>
          <a:p>
            <a:pPr marL="0" indent="0">
              <a:lnSpc>
                <a:spcPct val="115000"/>
              </a:lnSpc>
              <a:buNone/>
            </a:pPr>
            <a:endParaRPr lang="en-US" sz="1150" dirty="0"/>
          </a:p>
          <a:p>
            <a:pPr marL="0" indent="0">
              <a:lnSpc>
                <a:spcPct val="115000"/>
              </a:lnSpc>
              <a:buNone/>
            </a:pPr>
            <a:r>
              <a:rPr lang="en-US" sz="1150" dirty="0">
                <a:solidFill>
                  <a:srgbClr val="05192E"/>
                </a:solidFill>
                <a:latin typeface="Courier New" pitchFamily="34" charset="0"/>
                <a:ea typeface="Courier New" pitchFamily="34" charset="-122"/>
                <a:cs typeface="Courier New" pitchFamily="34" charset="-120"/>
              </a:rPr>
              <a:t>print(s.name);        // Ana</a:t>
            </a:r>
            <a:endParaRPr lang="en-US" sz="1150" dirty="0"/>
          </a:p>
          <a:p>
            <a:pPr marL="0" indent="0">
              <a:lnSpc>
                <a:spcPct val="115000"/>
              </a:lnSpc>
              <a:buNone/>
            </a:pPr>
            <a:r>
              <a:rPr lang="en-US" sz="1150" dirty="0">
                <a:solidFill>
                  <a:srgbClr val="05192E"/>
                </a:solidFill>
                <a:latin typeface="Courier New" pitchFamily="34" charset="0"/>
                <a:ea typeface="Courier New" pitchFamily="34" charset="-122"/>
                <a:cs typeface="Courier New" pitchFamily="34" charset="-120"/>
              </a:rPr>
              <a:t>print(s.isPassing);   // true</a:t>
            </a:r>
            <a:endParaRPr lang="en-US" sz="1150" dirty="0"/>
          </a:p>
          <a:p>
            <a:pPr marL="0" indent="0">
              <a:lnSpc>
                <a:spcPct val="115000"/>
              </a:lnSpc>
              <a:buNone/>
            </a:pPr>
            <a:r>
              <a:rPr lang="en-US" sz="1150" dirty="0">
                <a:solidFill>
                  <a:srgbClr val="05192E"/>
                </a:solidFill>
                <a:latin typeface="Courier New" pitchFamily="34" charset="0"/>
                <a:ea typeface="Courier New" pitchFamily="34" charset="-122"/>
                <a:cs typeface="Courier New" pitchFamily="34" charset="-120"/>
              </a:rPr>
              <a:t>s.curve(5);</a:t>
            </a:r>
            <a:endParaRPr lang="en-US" sz="1150" dirty="0"/>
          </a:p>
          <a:p>
            <a:pPr marL="0" indent="0">
              <a:lnSpc>
                <a:spcPct val="115000"/>
              </a:lnSpc>
              <a:buNone/>
            </a:pPr>
            <a:r>
              <a:rPr lang="en-US" sz="1150" dirty="0">
                <a:solidFill>
                  <a:srgbClr val="05192E"/>
                </a:solidFill>
                <a:latin typeface="Courier New" pitchFamily="34" charset="0"/>
                <a:ea typeface="Courier New" pitchFamily="34" charset="-122"/>
                <a:cs typeface="Courier New" pitchFamily="34" charset="-120"/>
              </a:rPr>
              <a:t>print(s);             // Ana (93)</a:t>
            </a:r>
            <a:endParaRPr lang="en-US" sz="1150" dirty="0"/>
          </a:p>
        </p:txBody>
      </p:sp>
      <p:sp>
        <p:nvSpPr>
          <p:cNvPr id="12" name="Text 10"/>
          <p:cNvSpPr txBox="1"/>
          <p:nvPr/>
        </p:nvSpPr>
        <p:spPr>
          <a:xfrm>
            <a:off x="7223760" y="3703320"/>
            <a:ext cx="4407408" cy="210312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Class name in UpperCamelCase</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Student, not student or STUDENT.</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new is optional and unused in Dart</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Just call the class like a function.</a:t>
            </a:r>
            <a:endParaRPr lang="en-US" sz="1300" dirty="0"/>
          </a:p>
          <a:p>
            <a:pPr marL="342900" indent="-342900">
              <a:lnSpc>
                <a:spcPct val="105000"/>
              </a:lnSpc>
              <a:spcAft>
                <a:spcPts val="400"/>
              </a:spcAft>
              <a:buSzPct val="100000"/>
              <a:buChar char="▪"/>
            </a:pPr>
            <a:r>
              <a:rPr lang="en-US" sz="1300" b="1" dirty="0">
                <a:solidFill>
                  <a:srgbClr val="16232E"/>
                </a:solidFill>
                <a:latin typeface="Calibri" pitchFamily="34" charset="0"/>
                <a:ea typeface="Calibri" pitchFamily="34" charset="-122"/>
                <a:cs typeface="Calibri" pitchFamily="34" charset="-120"/>
              </a:rPr>
              <a:t>No getters/setters boilerplate</a:t>
            </a:r>
            <a:endParaRPr lang="en-US" sz="1300" dirty="0"/>
          </a:p>
          <a:p>
            <a:pPr marL="457200" lvl="1" indent="-228600">
              <a:lnSpc>
                <a:spcPct val="105000"/>
              </a:lnSpc>
              <a:spcAft>
                <a:spcPts val="400"/>
              </a:spcAft>
              <a:buSzPct val="100000"/>
              <a:buChar char="•"/>
            </a:pPr>
            <a:r>
              <a:rPr lang="en-US" sz="1150" dirty="0">
                <a:solidFill>
                  <a:srgbClr val="5B7183"/>
                </a:solidFill>
                <a:latin typeface="Calibri" pitchFamily="34" charset="0"/>
                <a:ea typeface="Calibri" pitchFamily="34" charset="-122"/>
                <a:cs typeface="Calibri" pitchFamily="34" charset="-120"/>
              </a:rPr>
              <a:t>Public fields are fine. Add a getter only when the value is computed.</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5 · CONSTRUCTORS</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Constructors: shorthand, named parameters, required</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This is where blocks 2 and 4 pay off — it's the same parameter rules and the same null rules.</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41</a:t>
            </a:r>
            <a:endParaRPr lang="en-US" sz="950" dirty="0"/>
          </a:p>
        </p:txBody>
      </p:sp>
      <p:sp>
        <p:nvSpPr>
          <p:cNvPr id="7" name="Shape 5"/>
          <p:cNvSpPr/>
          <p:nvPr/>
        </p:nvSpPr>
        <p:spPr>
          <a:xfrm>
            <a:off x="566928" y="1828800"/>
            <a:ext cx="5623560" cy="2148840"/>
          </a:xfrm>
          <a:prstGeom prst="roundRect">
            <a:avLst>
              <a:gd name="adj" fmla="val 25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929384"/>
            <a:ext cx="52212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LONG WAY, THEN THE DART WAY</a:t>
            </a:r>
            <a:endParaRPr lang="en-US" sz="1050" dirty="0"/>
          </a:p>
        </p:txBody>
      </p:sp>
      <p:sp>
        <p:nvSpPr>
          <p:cNvPr id="9" name="Text 7"/>
          <p:cNvSpPr txBox="1"/>
          <p:nvPr/>
        </p:nvSpPr>
        <p:spPr>
          <a:xfrm>
            <a:off x="768096" y="2231136"/>
            <a:ext cx="5257800" cy="1636776"/>
          </a:xfrm>
          <a:prstGeom prst="rect">
            <a:avLst/>
          </a:prstGeom>
          <a:noFill/>
          <a:ln/>
        </p:spPr>
        <p:txBody>
          <a:bodyPr wrap="square" lIns="0" tIns="0" rIns="0" bIns="0" rtlCol="0" anchor="t"/>
          <a:lstStyle/>
          <a:p>
            <a:pPr marL="0" indent="0">
              <a:lnSpc>
                <a:spcPct val="106000"/>
              </a:lnSpc>
              <a:buNone/>
            </a:pPr>
            <a:r>
              <a:rPr lang="en-US" sz="1081" i="1" dirty="0">
                <a:solidFill>
                  <a:srgbClr val="7FA6BD"/>
                </a:solidFill>
                <a:latin typeface="Courier New" pitchFamily="34" charset="0"/>
                <a:ea typeface="Courier New" pitchFamily="34" charset="-122"/>
                <a:cs typeface="Courier New" pitchFamily="34" charset="-120"/>
              </a:rPr>
              <a:t>// verbose — you'd write this in Java</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class Point {</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double x, y;</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Point(double x, double y) {</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this.x = x;  this.y = y;</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a:t>
            </a:r>
            <a:endParaRPr lang="en-US" sz="1081" dirty="0"/>
          </a:p>
          <a:p>
            <a:pPr marL="0" indent="0">
              <a:lnSpc>
                <a:spcPct val="106000"/>
              </a:lnSpc>
              <a:buNone/>
            </a:pPr>
            <a:r>
              <a:rPr lang="en-US" sz="1081" i="1" dirty="0">
                <a:solidFill>
                  <a:srgbClr val="7FA6BD"/>
                </a:solidFill>
                <a:latin typeface="Courier New" pitchFamily="34" charset="0"/>
                <a:ea typeface="Courier New" pitchFamily="34" charset="-122"/>
                <a:cs typeface="Courier New" pitchFamily="34" charset="-120"/>
              </a:rPr>
              <a:t>// Dart shorthand — identical, one line</a:t>
            </a:r>
            <a:endParaRPr lang="en-US" sz="1081" dirty="0"/>
          </a:p>
          <a:p>
            <a:pPr marL="0" indent="0">
              <a:lnSpc>
                <a:spcPct val="106000"/>
              </a:lnSpc>
              <a:buNone/>
            </a:pPr>
            <a:r>
              <a:rPr lang="en-US" sz="1081" b="1" dirty="0">
                <a:solidFill>
                  <a:srgbClr val="C8EE7E"/>
                </a:solidFill>
                <a:latin typeface="Courier New" pitchFamily="34" charset="0"/>
                <a:ea typeface="Courier New" pitchFamily="34" charset="-122"/>
                <a:cs typeface="Courier New" pitchFamily="34" charset="-120"/>
              </a:rPr>
              <a:t>class Point { double x, y; Point(this.x, this.y); }</a:t>
            </a:r>
            <a:endParaRPr lang="en-US" sz="1081" dirty="0"/>
          </a:p>
        </p:txBody>
      </p:sp>
      <p:sp>
        <p:nvSpPr>
          <p:cNvPr id="10" name="Shape 8"/>
          <p:cNvSpPr/>
          <p:nvPr/>
        </p:nvSpPr>
        <p:spPr>
          <a:xfrm>
            <a:off x="6373368" y="1828800"/>
            <a:ext cx="5257800" cy="2148840"/>
          </a:xfrm>
          <a:prstGeom prst="roundRect">
            <a:avLst>
              <a:gd name="adj" fmla="val 2553"/>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1" name="Text 9"/>
          <p:cNvSpPr txBox="1"/>
          <p:nvPr/>
        </p:nvSpPr>
        <p:spPr>
          <a:xfrm>
            <a:off x="6574536" y="1929384"/>
            <a:ext cx="485546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NAMED CONSTRUCTORS</a:t>
            </a:r>
            <a:endParaRPr lang="en-US" sz="1050" dirty="0"/>
          </a:p>
        </p:txBody>
      </p:sp>
      <p:sp>
        <p:nvSpPr>
          <p:cNvPr id="12" name="Text 10"/>
          <p:cNvSpPr txBox="1"/>
          <p:nvPr/>
        </p:nvSpPr>
        <p:spPr>
          <a:xfrm>
            <a:off x="6574536" y="2231136"/>
            <a:ext cx="4892040" cy="1636776"/>
          </a:xfrm>
          <a:prstGeom prst="rect">
            <a:avLst/>
          </a:prstGeom>
          <a:noFill/>
          <a:ln/>
        </p:spPr>
        <p:txBody>
          <a:bodyPr wrap="square" lIns="0" tIns="0" rIns="0" bIns="0" rtlCol="0" anchor="t"/>
          <a:lstStyle/>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class Point {</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final double x, y;</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Point(this.x, this.y);</a:t>
            </a:r>
            <a:endParaRPr lang="en-US" sz="1081" dirty="0"/>
          </a:p>
          <a:p>
            <a:pPr marL="0" indent="0">
              <a:lnSpc>
                <a:spcPct val="106000"/>
              </a:lnSpc>
              <a:buNone/>
            </a:pPr>
            <a:r>
              <a:rPr lang="en-US" sz="1081" b="1" dirty="0">
                <a:solidFill>
                  <a:srgbClr val="C8EE7E"/>
                </a:solidFill>
                <a:latin typeface="Courier New" pitchFamily="34" charset="0"/>
                <a:ea typeface="Courier New" pitchFamily="34" charset="-122"/>
                <a:cs typeface="Courier New" pitchFamily="34" charset="-120"/>
              </a:rPr>
              <a:t>  Point.origin() : x = 0, y = 0;</a:t>
            </a:r>
            <a:endParaRPr lang="en-US" sz="1081" dirty="0"/>
          </a:p>
          <a:p>
            <a:pPr marL="0" indent="0">
              <a:lnSpc>
                <a:spcPct val="106000"/>
              </a:lnSpc>
              <a:buNone/>
            </a:pPr>
            <a:r>
              <a:rPr lang="en-US" sz="1081" b="1" dirty="0">
                <a:solidFill>
                  <a:srgbClr val="C8EE7E"/>
                </a:solidFill>
                <a:latin typeface="Courier New" pitchFamily="34" charset="0"/>
                <a:ea typeface="Courier New" pitchFamily="34" charset="-122"/>
                <a:cs typeface="Courier New" pitchFamily="34" charset="-120"/>
              </a:rPr>
              <a:t>  Point.square(double n) : x = n, y = n;</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 </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final b = Point.origin();      // (0, 0)</a:t>
            </a:r>
            <a:endParaRPr lang="en-US" sz="1081" dirty="0"/>
          </a:p>
          <a:p>
            <a:pPr marL="0" indent="0">
              <a:lnSpc>
                <a:spcPct val="106000"/>
              </a:lnSpc>
              <a:buNone/>
            </a:pPr>
            <a:r>
              <a:rPr lang="en-US" sz="1081" dirty="0">
                <a:solidFill>
                  <a:srgbClr val="EAF2F7"/>
                </a:solidFill>
                <a:latin typeface="Courier New" pitchFamily="34" charset="0"/>
                <a:ea typeface="Courier New" pitchFamily="34" charset="-122"/>
                <a:cs typeface="Courier New" pitchFamily="34" charset="-120"/>
              </a:rPr>
              <a:t>final c = Point.square(2);     // (2, 2)</a:t>
            </a:r>
            <a:endParaRPr lang="en-US" sz="1081" dirty="0"/>
          </a:p>
        </p:txBody>
      </p:sp>
      <p:sp>
        <p:nvSpPr>
          <p:cNvPr id="13" name="Shape 11"/>
          <p:cNvSpPr/>
          <p:nvPr/>
        </p:nvSpPr>
        <p:spPr>
          <a:xfrm>
            <a:off x="566928" y="4114800"/>
            <a:ext cx="3657600" cy="1737360"/>
          </a:xfrm>
          <a:prstGeom prst="roundRect">
            <a:avLst>
              <a:gd name="adj" fmla="val 2632"/>
            </a:avLst>
          </a:prstGeom>
          <a:solidFill>
            <a:srgbClr val="E4F1F2"/>
          </a:solidFill>
          <a:ln/>
        </p:spPr>
        <p:txBody>
          <a:bodyPr/>
          <a:lstStyle/>
          <a:p>
            <a:endParaRPr lang="en-CA"/>
          </a:p>
        </p:txBody>
      </p:sp>
      <p:sp>
        <p:nvSpPr>
          <p:cNvPr id="14" name="Text 12"/>
          <p:cNvSpPr txBox="1"/>
          <p:nvPr/>
        </p:nvSpPr>
        <p:spPr>
          <a:xfrm>
            <a:off x="768096" y="4279392"/>
            <a:ext cx="3255264" cy="310896"/>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this.x shorthand</a:t>
            </a:r>
            <a:endParaRPr lang="en-US" sz="1500" dirty="0"/>
          </a:p>
        </p:txBody>
      </p:sp>
      <p:sp>
        <p:nvSpPr>
          <p:cNvPr id="15" name="Text 13"/>
          <p:cNvSpPr txBox="1"/>
          <p:nvPr/>
        </p:nvSpPr>
        <p:spPr>
          <a:xfrm>
            <a:off x="768096" y="4663440"/>
            <a:ext cx="3255264" cy="969264"/>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Putting this.field in the parameter list assigns it for you. No body needed — the semicolon ends it.</a:t>
            </a:r>
            <a:endParaRPr lang="en-US" sz="1250" dirty="0"/>
          </a:p>
        </p:txBody>
      </p:sp>
      <p:sp>
        <p:nvSpPr>
          <p:cNvPr id="16" name="Shape 14"/>
          <p:cNvSpPr/>
          <p:nvPr/>
        </p:nvSpPr>
        <p:spPr>
          <a:xfrm>
            <a:off x="4315968" y="4114800"/>
            <a:ext cx="3657600" cy="1737360"/>
          </a:xfrm>
          <a:prstGeom prst="roundRect">
            <a:avLst>
              <a:gd name="adj" fmla="val 2632"/>
            </a:avLst>
          </a:prstGeom>
          <a:solidFill>
            <a:srgbClr val="F2F6F8"/>
          </a:solidFill>
          <a:ln/>
        </p:spPr>
        <p:txBody>
          <a:bodyPr/>
          <a:lstStyle/>
          <a:p>
            <a:endParaRPr lang="en-CA"/>
          </a:p>
        </p:txBody>
      </p:sp>
      <p:sp>
        <p:nvSpPr>
          <p:cNvPr id="17" name="Text 15"/>
          <p:cNvSpPr txBox="1"/>
          <p:nvPr/>
        </p:nvSpPr>
        <p:spPr>
          <a:xfrm>
            <a:off x="4517136" y="4279392"/>
            <a:ext cx="3255264" cy="310896"/>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Named constructors</a:t>
            </a:r>
            <a:endParaRPr lang="en-US" sz="1500" dirty="0"/>
          </a:p>
        </p:txBody>
      </p:sp>
      <p:sp>
        <p:nvSpPr>
          <p:cNvPr id="18" name="Text 16"/>
          <p:cNvSpPr txBox="1"/>
          <p:nvPr/>
        </p:nvSpPr>
        <p:spPr>
          <a:xfrm>
            <a:off x="4517136" y="4663440"/>
            <a:ext cx="3255264" cy="969264"/>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ClassName.something() gives you several ways to build one object, each with a name that says what it is. The : part is the initializer list — it runs before the body.</a:t>
            </a:r>
            <a:endParaRPr lang="en-US" sz="1250" dirty="0"/>
          </a:p>
        </p:txBody>
      </p:sp>
      <p:sp>
        <p:nvSpPr>
          <p:cNvPr id="19" name="Shape 17"/>
          <p:cNvSpPr/>
          <p:nvPr/>
        </p:nvSpPr>
        <p:spPr>
          <a:xfrm>
            <a:off x="8065008" y="4114800"/>
            <a:ext cx="3566160" cy="1737360"/>
          </a:xfrm>
          <a:prstGeom prst="roundRect">
            <a:avLst>
              <a:gd name="adj" fmla="val 2632"/>
            </a:avLst>
          </a:prstGeom>
          <a:solidFill>
            <a:srgbClr val="FDF3E3"/>
          </a:solidFill>
          <a:ln w="12700">
            <a:solidFill>
              <a:srgbClr val="E0A64B"/>
            </a:solidFill>
            <a:prstDash val="solid"/>
          </a:ln>
        </p:spPr>
        <p:txBody>
          <a:bodyPr/>
          <a:lstStyle/>
          <a:p>
            <a:endParaRPr lang="en-CA"/>
          </a:p>
        </p:txBody>
      </p:sp>
      <p:sp>
        <p:nvSpPr>
          <p:cNvPr id="20" name="Text 18"/>
          <p:cNvSpPr txBox="1"/>
          <p:nvPr/>
        </p:nvSpPr>
        <p:spPr>
          <a:xfrm>
            <a:off x="8266176" y="4279392"/>
            <a:ext cx="3163824" cy="310896"/>
          </a:xfrm>
          <a:prstGeom prst="rect">
            <a:avLst/>
          </a:prstGeom>
          <a:noFill/>
          <a:ln/>
        </p:spPr>
        <p:txBody>
          <a:bodyPr wrap="square" lIns="0" tIns="0" rIns="0" bIns="0" rtlCol="0" anchor="ctr"/>
          <a:lstStyle/>
          <a:p>
            <a:pPr marL="0" indent="0">
              <a:buNone/>
            </a:pPr>
            <a:r>
              <a:rPr lang="en-US" sz="1500" b="1" dirty="0">
                <a:solidFill>
                  <a:srgbClr val="7A5312"/>
                </a:solidFill>
                <a:latin typeface="Calibri" pitchFamily="34" charset="0"/>
                <a:ea typeface="Calibri" pitchFamily="34" charset="-122"/>
                <a:cs typeface="Calibri" pitchFamily="34" charset="-120"/>
              </a:rPr>
              <a:t>final fields</a:t>
            </a:r>
            <a:endParaRPr lang="en-US" sz="1500" dirty="0"/>
          </a:p>
        </p:txBody>
      </p:sp>
      <p:sp>
        <p:nvSpPr>
          <p:cNvPr id="21" name="Text 19"/>
          <p:cNvSpPr txBox="1"/>
          <p:nvPr/>
        </p:nvSpPr>
        <p:spPr>
          <a:xfrm>
            <a:off x="8266176" y="4663440"/>
            <a:ext cx="3163824" cy="969264"/>
          </a:xfrm>
          <a:prstGeom prst="rect">
            <a:avLst/>
          </a:prstGeom>
          <a:noFill/>
          <a:ln/>
        </p:spPr>
        <p:txBody>
          <a:bodyPr wrap="square" lIns="0" tIns="0" rIns="0" bIns="0" rtlCol="0" anchor="ctr"/>
          <a:lstStyle/>
          <a:p>
            <a:pPr marL="0" indent="0">
              <a:lnSpc>
                <a:spcPct val="110000"/>
              </a:lnSpc>
              <a:buNone/>
            </a:pPr>
            <a:r>
              <a:rPr lang="en-US" sz="1250" dirty="0">
                <a:solidFill>
                  <a:srgbClr val="7A5312"/>
                </a:solidFill>
                <a:latin typeface="Calibri" pitchFamily="34" charset="0"/>
                <a:ea typeface="Calibri" pitchFamily="34" charset="-122"/>
                <a:cs typeface="Calibri" pitchFamily="34" charset="-120"/>
              </a:rPr>
              <a:t>A final field must be set by the time the constructor finishes — that's why it goes in the parameter list or the initializer list, never in the body.</a:t>
            </a:r>
            <a:endParaRPr lang="en-US" sz="12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5 · WHERE NULL SAFETY BITES HARDEST</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Fields must have a value — every time</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"Non-nullable instance field must be initialized" is the error of week 2. Here are all four legitimate answers.</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42</a:t>
            </a:r>
            <a:endParaRPr lang="en-US" sz="950" dirty="0"/>
          </a:p>
        </p:txBody>
      </p:sp>
      <p:sp>
        <p:nvSpPr>
          <p:cNvPr id="7" name="Shape 5"/>
          <p:cNvSpPr/>
          <p:nvPr/>
        </p:nvSpPr>
        <p:spPr>
          <a:xfrm>
            <a:off x="566928" y="1901952"/>
            <a:ext cx="420624" cy="420624"/>
          </a:xfrm>
          <a:prstGeom prst="ellipse">
            <a:avLst/>
          </a:prstGeom>
          <a:solidFill>
            <a:srgbClr val="00767F"/>
          </a:solidFill>
          <a:ln/>
        </p:spPr>
        <p:txBody>
          <a:bodyPr/>
          <a:lstStyle/>
          <a:p>
            <a:endParaRPr lang="en-CA"/>
          </a:p>
        </p:txBody>
      </p:sp>
      <p:sp>
        <p:nvSpPr>
          <p:cNvPr id="8" name="Text 6"/>
          <p:cNvSpPr txBox="1"/>
          <p:nvPr/>
        </p:nvSpPr>
        <p:spPr>
          <a:xfrm>
            <a:off x="566928" y="190195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txBox="1"/>
          <p:nvPr/>
        </p:nvSpPr>
        <p:spPr>
          <a:xfrm>
            <a:off x="1133856" y="1874520"/>
            <a:ext cx="542239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Require it in the constructor</a:t>
            </a:r>
            <a:endParaRPr lang="en-US" sz="1500" dirty="0"/>
          </a:p>
        </p:txBody>
      </p:sp>
      <p:sp>
        <p:nvSpPr>
          <p:cNvPr id="10" name="Text 8"/>
          <p:cNvSpPr txBox="1"/>
          <p:nvPr/>
        </p:nvSpPr>
        <p:spPr>
          <a:xfrm>
            <a:off x="1133856" y="2148840"/>
            <a:ext cx="542239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final String name;  with  Student({required this.name});  — the caller must supply it. Best default.</a:t>
            </a:r>
            <a:endParaRPr lang="en-US" sz="1300" dirty="0"/>
          </a:p>
        </p:txBody>
      </p:sp>
      <p:sp>
        <p:nvSpPr>
          <p:cNvPr id="11" name="Shape 9"/>
          <p:cNvSpPr/>
          <p:nvPr/>
        </p:nvSpPr>
        <p:spPr>
          <a:xfrm>
            <a:off x="566928" y="2889504"/>
            <a:ext cx="420624" cy="420624"/>
          </a:xfrm>
          <a:prstGeom prst="ellipse">
            <a:avLst/>
          </a:prstGeom>
          <a:solidFill>
            <a:srgbClr val="00767F"/>
          </a:solidFill>
          <a:ln/>
        </p:spPr>
        <p:txBody>
          <a:bodyPr/>
          <a:lstStyle/>
          <a:p>
            <a:endParaRPr lang="en-CA"/>
          </a:p>
        </p:txBody>
      </p:sp>
      <p:sp>
        <p:nvSpPr>
          <p:cNvPr id="12" name="Text 10"/>
          <p:cNvSpPr txBox="1"/>
          <p:nvPr/>
        </p:nvSpPr>
        <p:spPr>
          <a:xfrm>
            <a:off x="566928" y="2889504"/>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3" name="Text 11"/>
          <p:cNvSpPr txBox="1"/>
          <p:nvPr/>
        </p:nvSpPr>
        <p:spPr>
          <a:xfrm>
            <a:off x="1133856" y="2862072"/>
            <a:ext cx="542239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Give it a default</a:t>
            </a:r>
            <a:endParaRPr lang="en-US" sz="1500" dirty="0"/>
          </a:p>
        </p:txBody>
      </p:sp>
      <p:sp>
        <p:nvSpPr>
          <p:cNvPr id="14" name="Text 12"/>
          <p:cNvSpPr txBox="1"/>
          <p:nvPr/>
        </p:nvSpPr>
        <p:spPr>
          <a:xfrm>
            <a:off x="1133856" y="3136392"/>
            <a:ext cx="542239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int mark = 0;  or  Student({this.mark = 0});  — use when zero (or empty, or false) is genuinely meaningful.</a:t>
            </a:r>
            <a:endParaRPr lang="en-US" sz="1300" dirty="0"/>
          </a:p>
        </p:txBody>
      </p:sp>
      <p:sp>
        <p:nvSpPr>
          <p:cNvPr id="15" name="Shape 13"/>
          <p:cNvSpPr/>
          <p:nvPr/>
        </p:nvSpPr>
        <p:spPr>
          <a:xfrm>
            <a:off x="566928" y="3877056"/>
            <a:ext cx="420624" cy="420624"/>
          </a:xfrm>
          <a:prstGeom prst="ellipse">
            <a:avLst/>
          </a:prstGeom>
          <a:solidFill>
            <a:srgbClr val="0A2540"/>
          </a:solidFill>
          <a:ln/>
        </p:spPr>
        <p:txBody>
          <a:bodyPr/>
          <a:lstStyle/>
          <a:p>
            <a:endParaRPr lang="en-CA"/>
          </a:p>
        </p:txBody>
      </p:sp>
      <p:sp>
        <p:nvSpPr>
          <p:cNvPr id="16" name="Text 14"/>
          <p:cNvSpPr txBox="1"/>
          <p:nvPr/>
        </p:nvSpPr>
        <p:spPr>
          <a:xfrm>
            <a:off x="566928" y="3877056"/>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7" name="Text 15"/>
          <p:cNvSpPr txBox="1"/>
          <p:nvPr/>
        </p:nvSpPr>
        <p:spPr>
          <a:xfrm>
            <a:off x="1133856" y="3849624"/>
            <a:ext cx="542239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Make it nullable</a:t>
            </a:r>
            <a:endParaRPr lang="en-US" sz="1500" dirty="0"/>
          </a:p>
        </p:txBody>
      </p:sp>
      <p:sp>
        <p:nvSpPr>
          <p:cNvPr id="18" name="Text 16"/>
          <p:cNvSpPr txBox="1"/>
          <p:nvPr/>
        </p:nvSpPr>
        <p:spPr>
          <a:xfrm>
            <a:off x="1133856" y="4123944"/>
            <a:ext cx="542239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String? nickname;  — use when "absent" is a real state you want to model and handle.</a:t>
            </a:r>
            <a:endParaRPr lang="en-US" sz="1300" dirty="0"/>
          </a:p>
        </p:txBody>
      </p:sp>
      <p:sp>
        <p:nvSpPr>
          <p:cNvPr id="19" name="Shape 17"/>
          <p:cNvSpPr/>
          <p:nvPr/>
        </p:nvSpPr>
        <p:spPr>
          <a:xfrm>
            <a:off x="566928" y="4864608"/>
            <a:ext cx="420624" cy="420624"/>
          </a:xfrm>
          <a:prstGeom prst="ellipse">
            <a:avLst/>
          </a:prstGeom>
          <a:solidFill>
            <a:srgbClr val="E0A64B"/>
          </a:solidFill>
          <a:ln/>
        </p:spPr>
        <p:txBody>
          <a:bodyPr/>
          <a:lstStyle/>
          <a:p>
            <a:endParaRPr lang="en-CA"/>
          </a:p>
        </p:txBody>
      </p:sp>
      <p:sp>
        <p:nvSpPr>
          <p:cNvPr id="20" name="Text 18"/>
          <p:cNvSpPr txBox="1"/>
          <p:nvPr/>
        </p:nvSpPr>
        <p:spPr>
          <a:xfrm>
            <a:off x="566928" y="4864608"/>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1" name="Text 19"/>
          <p:cNvSpPr txBox="1"/>
          <p:nvPr/>
        </p:nvSpPr>
        <p:spPr>
          <a:xfrm>
            <a:off x="1133856" y="4837176"/>
            <a:ext cx="542239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Declare it late</a:t>
            </a:r>
            <a:endParaRPr lang="en-US" sz="1500" dirty="0"/>
          </a:p>
        </p:txBody>
      </p:sp>
      <p:sp>
        <p:nvSpPr>
          <p:cNvPr id="22" name="Text 20"/>
          <p:cNvSpPr txBox="1"/>
          <p:nvPr/>
        </p:nvSpPr>
        <p:spPr>
          <a:xfrm>
            <a:off x="1133856" y="5111496"/>
            <a:ext cx="542239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late String greeting;  — only when something definitely assigns it before any read. You own that promise.</a:t>
            </a:r>
            <a:endParaRPr lang="en-US" sz="1300" dirty="0"/>
          </a:p>
        </p:txBody>
      </p:sp>
      <p:sp>
        <p:nvSpPr>
          <p:cNvPr id="23" name="Shape 21"/>
          <p:cNvSpPr/>
          <p:nvPr/>
        </p:nvSpPr>
        <p:spPr>
          <a:xfrm>
            <a:off x="6812280" y="1874520"/>
            <a:ext cx="4818888" cy="3931920"/>
          </a:xfrm>
          <a:prstGeom prst="roundRect">
            <a:avLst>
              <a:gd name="adj" fmla="val 1395"/>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4" name="Text 22"/>
          <p:cNvSpPr txBox="1"/>
          <p:nvPr/>
        </p:nvSpPr>
        <p:spPr>
          <a:xfrm>
            <a:off x="7013448" y="1975104"/>
            <a:ext cx="4416552"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ALL FOUR IN ONE CLASS</a:t>
            </a:r>
            <a:endParaRPr lang="en-US" sz="1050" dirty="0"/>
          </a:p>
        </p:txBody>
      </p:sp>
      <p:sp>
        <p:nvSpPr>
          <p:cNvPr id="25" name="Text 23"/>
          <p:cNvSpPr txBox="1"/>
          <p:nvPr/>
        </p:nvSpPr>
        <p:spPr>
          <a:xfrm>
            <a:off x="7013448" y="2276856"/>
            <a:ext cx="4453128" cy="3419856"/>
          </a:xfrm>
          <a:prstGeom prst="rect">
            <a:avLst/>
          </a:prstGeom>
          <a:noFill/>
          <a:ln/>
        </p:spPr>
        <p:txBody>
          <a:bodyPr wrap="square" lIns="0" tIns="0" rIns="0" bIns="0" rtlCol="0" anchor="t"/>
          <a:lstStyle/>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class Student {</a:t>
            </a:r>
            <a:endParaRPr lang="en-US" sz="1150" dirty="0"/>
          </a:p>
          <a:p>
            <a:pPr marL="0" indent="0">
              <a:lnSpc>
                <a:spcPct val="106000"/>
              </a:lnSpc>
              <a:buNone/>
            </a:pPr>
            <a:r>
              <a:rPr lang="en-US" sz="1150" b="1" dirty="0">
                <a:solidFill>
                  <a:srgbClr val="C8EE7E"/>
                </a:solidFill>
                <a:latin typeface="Courier New" pitchFamily="34" charset="0"/>
                <a:ea typeface="Courier New" pitchFamily="34" charset="-122"/>
                <a:cs typeface="Courier New" pitchFamily="34" charset="-120"/>
              </a:rPr>
              <a:t>  final String name;        // 1 required</a:t>
            </a:r>
            <a:endParaRPr lang="en-US" sz="1150" dirty="0"/>
          </a:p>
          <a:p>
            <a:pPr marL="0" indent="0">
              <a:lnSpc>
                <a:spcPct val="106000"/>
              </a:lnSpc>
              <a:buNone/>
            </a:pPr>
            <a:r>
              <a:rPr lang="en-US" sz="1150" b="1" dirty="0">
                <a:solidFill>
                  <a:srgbClr val="C8EE7E"/>
                </a:solidFill>
                <a:latin typeface="Courier New" pitchFamily="34" charset="0"/>
                <a:ea typeface="Courier New" pitchFamily="34" charset="-122"/>
                <a:cs typeface="Courier New" pitchFamily="34" charset="-120"/>
              </a:rPr>
              <a:t>  int mark = 0;             // 2 default</a:t>
            </a:r>
            <a:endParaRPr lang="en-US" sz="1150" dirty="0"/>
          </a:p>
          <a:p>
            <a:pPr marL="0" indent="0">
              <a:lnSpc>
                <a:spcPct val="106000"/>
              </a:lnSpc>
              <a:buNone/>
            </a:pPr>
            <a:r>
              <a:rPr lang="en-US" sz="1150" b="1" dirty="0">
                <a:solidFill>
                  <a:srgbClr val="C8EE7E"/>
                </a:solidFill>
                <a:latin typeface="Courier New" pitchFamily="34" charset="0"/>
                <a:ea typeface="Courier New" pitchFamily="34" charset="-122"/>
                <a:cs typeface="Courier New" pitchFamily="34" charset="-120"/>
              </a:rPr>
              <a:t>  String? nickname;         // 3 nullable</a:t>
            </a:r>
            <a:endParaRPr lang="en-US" sz="1150" dirty="0"/>
          </a:p>
          <a:p>
            <a:pPr marL="0" indent="0">
              <a:lnSpc>
                <a:spcPct val="106000"/>
              </a:lnSpc>
              <a:buNone/>
            </a:pPr>
            <a:r>
              <a:rPr lang="en-US" sz="1150" b="1" dirty="0">
                <a:solidFill>
                  <a:srgbClr val="C8EE7E"/>
                </a:solidFill>
                <a:latin typeface="Courier New" pitchFamily="34" charset="0"/>
                <a:ea typeface="Courier New" pitchFamily="34" charset="-122"/>
                <a:cs typeface="Courier New" pitchFamily="34" charset="-120"/>
              </a:rPr>
              <a:t>  late String slug;         // 4 late</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Student({required this.name, this.nickname}) {</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slug = name.toLowerCase();</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String get display =&gt;</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nickname ?? name;     // ?? again</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 </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final a = Student(name: 'Ana');</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print(a.display);           // Ana</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final b = Student(name: 'Bo', nickname: 'Bee');</a:t>
            </a:r>
            <a:endParaRPr lang="en-US" sz="1150" dirty="0"/>
          </a:p>
          <a:p>
            <a:pPr marL="0" indent="0">
              <a:lnSpc>
                <a:spcPct val="106000"/>
              </a:lnSpc>
              <a:buNone/>
            </a:pPr>
            <a:r>
              <a:rPr lang="en-US" sz="1150" dirty="0">
                <a:solidFill>
                  <a:srgbClr val="EAF2F7"/>
                </a:solidFill>
                <a:latin typeface="Courier New" pitchFamily="34" charset="0"/>
                <a:ea typeface="Courier New" pitchFamily="34" charset="-122"/>
                <a:cs typeface="Courier New" pitchFamily="34" charset="-120"/>
              </a:rPr>
              <a:t>print(b.display);           // Bee</a:t>
            </a:r>
            <a:endParaRPr lang="en-US" sz="11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BLOCK 5 · EVERYTHING TOGETHER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A List of your own type</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Functions + Lists + null safety + classes. This slide is the whole session in one screen.</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43</a:t>
            </a:r>
            <a:endParaRPr lang="en-US" sz="950" dirty="0"/>
          </a:p>
        </p:txBody>
      </p:sp>
      <p:sp>
        <p:nvSpPr>
          <p:cNvPr id="7" name="Shape 5"/>
          <p:cNvSpPr/>
          <p:nvPr/>
        </p:nvSpPr>
        <p:spPr>
          <a:xfrm>
            <a:off x="566928" y="1755648"/>
            <a:ext cx="6766560" cy="4069080"/>
          </a:xfrm>
          <a:prstGeom prst="roundRect">
            <a:avLst>
              <a:gd name="adj" fmla="val 1348"/>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8" name="Text 6"/>
          <p:cNvSpPr txBox="1"/>
          <p:nvPr/>
        </p:nvSpPr>
        <p:spPr>
          <a:xfrm>
            <a:off x="768096" y="1856232"/>
            <a:ext cx="63642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List&lt;Student&gt; IN ANGER</a:t>
            </a:r>
            <a:endParaRPr lang="en-US" sz="1050" dirty="0"/>
          </a:p>
        </p:txBody>
      </p:sp>
      <p:sp>
        <p:nvSpPr>
          <p:cNvPr id="9" name="Text 7"/>
          <p:cNvSpPr txBox="1"/>
          <p:nvPr/>
        </p:nvSpPr>
        <p:spPr>
          <a:xfrm>
            <a:off x="768096" y="2157984"/>
            <a:ext cx="6400800" cy="3557016"/>
          </a:xfrm>
          <a:prstGeom prst="rect">
            <a:avLst/>
          </a:prstGeom>
          <a:noFill/>
          <a:ln/>
        </p:spPr>
        <p:txBody>
          <a:bodyPr wrap="square" lIns="0" tIns="0" rIns="0" bIns="0" rtlCol="0" anchor="t"/>
          <a:lstStyle/>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final roster = &lt;Student&gt;[</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  Student(name: 'Ana', mark: 88),</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  Student(name: 'Bo', mark: 45),</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  Student(name: 'Chandra', mark: 74),</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 </a:t>
            </a:r>
            <a:endParaRPr lang="en-US" sz="1197" dirty="0"/>
          </a:p>
          <a:p>
            <a:pPr marL="0" indent="0">
              <a:lnSpc>
                <a:spcPct val="106000"/>
              </a:lnSpc>
              <a:buNone/>
            </a:pPr>
            <a:r>
              <a:rPr lang="en-US" sz="1197" i="1" dirty="0">
                <a:solidFill>
                  <a:srgbClr val="7FA6BD"/>
                </a:solidFill>
                <a:latin typeface="Courier New" pitchFamily="34" charset="0"/>
                <a:ea typeface="Courier New" pitchFamily="34" charset="-122"/>
                <a:cs typeface="Courier New" pitchFamily="34" charset="-120"/>
              </a:rPr>
              <a:t>// filter — where, on YOUR type</a:t>
            </a:r>
            <a:endParaRPr lang="en-US" sz="1197" dirty="0"/>
          </a:p>
          <a:p>
            <a:pPr marL="0" indent="0">
              <a:lnSpc>
                <a:spcPct val="106000"/>
              </a:lnSpc>
              <a:buNone/>
            </a:pPr>
            <a:r>
              <a:rPr lang="en-US" sz="1197" b="1" dirty="0">
                <a:solidFill>
                  <a:srgbClr val="C8EE7E"/>
                </a:solidFill>
                <a:latin typeface="Courier New" pitchFamily="34" charset="0"/>
                <a:ea typeface="Courier New" pitchFamily="34" charset="-122"/>
                <a:cs typeface="Courier New" pitchFamily="34" charset="-120"/>
              </a:rPr>
              <a:t>final passing = roster.where((s) =&gt; s.isPassing);</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print(passing.length);                    // 2</a:t>
            </a:r>
            <a:endParaRPr lang="en-US" sz="1197" dirty="0"/>
          </a:p>
          <a:p>
            <a:pPr marL="0" indent="0">
              <a:lnSpc>
                <a:spcPct val="106000"/>
              </a:lnSpc>
              <a:buNone/>
            </a:pPr>
            <a:r>
              <a:rPr lang="en-US" sz="1197" i="1" dirty="0">
                <a:solidFill>
                  <a:srgbClr val="7FA6BD"/>
                </a:solidFill>
                <a:latin typeface="Courier New" pitchFamily="34" charset="0"/>
                <a:ea typeface="Courier New" pitchFamily="34" charset="-122"/>
                <a:cs typeface="Courier New" pitchFamily="34" charset="-120"/>
              </a:rPr>
              <a:t>// transform — map to a different type</a:t>
            </a:r>
            <a:endParaRPr lang="en-US" sz="1197" dirty="0"/>
          </a:p>
          <a:p>
            <a:pPr marL="0" indent="0">
              <a:lnSpc>
                <a:spcPct val="106000"/>
              </a:lnSpc>
              <a:buNone/>
            </a:pPr>
            <a:r>
              <a:rPr lang="en-US" sz="1197" b="1" dirty="0">
                <a:solidFill>
                  <a:srgbClr val="C8EE7E"/>
                </a:solidFill>
                <a:latin typeface="Courier New" pitchFamily="34" charset="0"/>
                <a:ea typeface="Courier New" pitchFamily="34" charset="-122"/>
                <a:cs typeface="Courier New" pitchFamily="34" charset="-120"/>
              </a:rPr>
              <a:t>final names = roster.map((s) =&gt; s.name).toList();</a:t>
            </a:r>
            <a:endParaRPr lang="en-US" sz="1197" dirty="0"/>
          </a:p>
          <a:p>
            <a:pPr marL="0" indent="0">
              <a:lnSpc>
                <a:spcPct val="106000"/>
              </a:lnSpc>
              <a:buNone/>
            </a:pPr>
            <a:r>
              <a:rPr lang="en-US" sz="1197" i="1" dirty="0">
                <a:solidFill>
                  <a:srgbClr val="A8D65C"/>
                </a:solidFill>
                <a:latin typeface="Courier New" pitchFamily="34" charset="0"/>
                <a:ea typeface="Courier New" pitchFamily="34" charset="-122"/>
                <a:cs typeface="Courier New" pitchFamily="34" charset="-120"/>
              </a:rPr>
              <a:t>[Ana, Bo, Chandra]</a:t>
            </a:r>
            <a:endParaRPr lang="en-US" sz="1197" dirty="0"/>
          </a:p>
          <a:p>
            <a:pPr marL="0" indent="0">
              <a:lnSpc>
                <a:spcPct val="106000"/>
              </a:lnSpc>
              <a:buNone/>
            </a:pPr>
            <a:r>
              <a:rPr lang="en-US" sz="1197" i="1" dirty="0">
                <a:solidFill>
                  <a:srgbClr val="7FA6BD"/>
                </a:solidFill>
                <a:latin typeface="Courier New" pitchFamily="34" charset="0"/>
                <a:ea typeface="Courier New" pitchFamily="34" charset="-122"/>
                <a:cs typeface="Courier New" pitchFamily="34" charset="-120"/>
              </a:rPr>
              <a:t>// aggregate — fold over a field</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final total = roster.fold(0, (sum, s) =&gt; sum + s.mark);</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print('mean ${total / roster.length}');   // 69.0</a:t>
            </a:r>
            <a:endParaRPr lang="en-US" sz="1197" dirty="0"/>
          </a:p>
          <a:p>
            <a:pPr marL="0" indent="0">
              <a:lnSpc>
                <a:spcPct val="106000"/>
              </a:lnSpc>
              <a:buNone/>
            </a:pPr>
            <a:r>
              <a:rPr lang="en-US" sz="1197" i="1" dirty="0">
                <a:solidFill>
                  <a:srgbClr val="7FA6BD"/>
                </a:solidFill>
                <a:latin typeface="Courier New" pitchFamily="34" charset="0"/>
                <a:ea typeface="Courier New" pitchFamily="34" charset="-122"/>
                <a:cs typeface="Courier New" pitchFamily="34" charset="-120"/>
              </a:rPr>
              <a:t>// sort — highest mark first</a:t>
            </a:r>
            <a:endParaRPr lang="en-US" sz="1197" dirty="0"/>
          </a:p>
          <a:p>
            <a:pPr marL="0" indent="0">
              <a:lnSpc>
                <a:spcPct val="106000"/>
              </a:lnSpc>
              <a:buNone/>
            </a:pPr>
            <a:r>
              <a:rPr lang="en-US" sz="1197" dirty="0">
                <a:solidFill>
                  <a:srgbClr val="EAF2F7"/>
                </a:solidFill>
                <a:latin typeface="Courier New" pitchFamily="34" charset="0"/>
                <a:ea typeface="Courier New" pitchFamily="34" charset="-122"/>
                <a:cs typeface="Courier New" pitchFamily="34" charset="-120"/>
              </a:rPr>
              <a:t>roster.sort((a, b) =&gt; b.mark.compareTo(a.mark));</a:t>
            </a:r>
            <a:endParaRPr lang="en-US" sz="1197" dirty="0"/>
          </a:p>
          <a:p>
            <a:pPr marL="0" indent="0">
              <a:lnSpc>
                <a:spcPct val="106000"/>
              </a:lnSpc>
              <a:buNone/>
            </a:pPr>
            <a:r>
              <a:rPr lang="en-US" sz="1197" i="1" dirty="0">
                <a:solidFill>
                  <a:srgbClr val="A8D65C"/>
                </a:solidFill>
                <a:latin typeface="Courier New" pitchFamily="34" charset="0"/>
                <a:ea typeface="Courier New" pitchFamily="34" charset="-122"/>
                <a:cs typeface="Courier New" pitchFamily="34" charset="-120"/>
              </a:rPr>
              <a:t>[Ana (88), Chandra (74), Bo (45)]</a:t>
            </a:r>
            <a:endParaRPr lang="en-US" sz="1197" dirty="0"/>
          </a:p>
        </p:txBody>
      </p:sp>
      <p:sp>
        <p:nvSpPr>
          <p:cNvPr id="10" name="Text 8"/>
          <p:cNvSpPr txBox="1"/>
          <p:nvPr/>
        </p:nvSpPr>
        <p:spPr>
          <a:xfrm>
            <a:off x="7498080" y="1801368"/>
            <a:ext cx="4133088" cy="402336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Nothing new here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where, map, fold and sort behave exactly as they did on List&lt;int&gt; — they just work on your type now</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s.isPassing reads better than a loose function</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The behaviour lives with the data it describes</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sort() takes a comparator</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b.mark.compareTo(a.mark) = descending. Swap a and b for ascending.</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toString() earns its keep</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print(roster) is readable because Student knows how to describe itself</a:t>
            </a:r>
            <a:endParaRPr lang="en-US" sz="12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DEMOS 11–13 · WE BUILD THIS TOGETHER</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Live build: refactor the roster into objects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Same output as the block-3 program — but now nothing can come apart.</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44</a:t>
            </a:r>
            <a:endParaRPr lang="en-US" sz="950" dirty="0"/>
          </a:p>
        </p:txBody>
      </p:sp>
      <p:sp>
        <p:nvSpPr>
          <p:cNvPr id="7" name="Shape 5"/>
          <p:cNvSpPr/>
          <p:nvPr/>
        </p:nvSpPr>
        <p:spPr>
          <a:xfrm>
            <a:off x="566928" y="1856232"/>
            <a:ext cx="420624" cy="420624"/>
          </a:xfrm>
          <a:prstGeom prst="ellipse">
            <a:avLst/>
          </a:prstGeom>
          <a:solidFill>
            <a:srgbClr val="00767F"/>
          </a:solidFill>
          <a:ln/>
        </p:spPr>
        <p:txBody>
          <a:bodyPr/>
          <a:lstStyle/>
          <a:p>
            <a:endParaRPr lang="en-CA"/>
          </a:p>
        </p:txBody>
      </p:sp>
      <p:sp>
        <p:nvSpPr>
          <p:cNvPr id="8" name="Text 6"/>
          <p:cNvSpPr txBox="1"/>
          <p:nvPr/>
        </p:nvSpPr>
        <p:spPr>
          <a:xfrm>
            <a:off x="566928" y="185623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1</a:t>
            </a:r>
            <a:endParaRPr lang="en-US" sz="1350" dirty="0"/>
          </a:p>
        </p:txBody>
      </p:sp>
      <p:sp>
        <p:nvSpPr>
          <p:cNvPr id="9" name="Text 7"/>
          <p:cNvSpPr txBox="1"/>
          <p:nvPr/>
        </p:nvSpPr>
        <p:spPr>
          <a:xfrm>
            <a:off x="1133856" y="1828800"/>
            <a:ext cx="5239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Write the class</a:t>
            </a:r>
            <a:endParaRPr lang="en-US" sz="1500" dirty="0"/>
          </a:p>
        </p:txBody>
      </p:sp>
      <p:sp>
        <p:nvSpPr>
          <p:cNvPr id="10" name="Text 8"/>
          <p:cNvSpPr txBox="1"/>
          <p:nvPr/>
        </p:nvSpPr>
        <p:spPr>
          <a:xfrm>
            <a:off x="1133856" y="2103120"/>
            <a:ext cx="523951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Student with a final name, an int mark defaulting to 0, an isPassing getter, and a toString().</a:t>
            </a:r>
            <a:endParaRPr lang="en-US" sz="1300" dirty="0"/>
          </a:p>
        </p:txBody>
      </p:sp>
      <p:sp>
        <p:nvSpPr>
          <p:cNvPr id="11" name="Shape 9"/>
          <p:cNvSpPr/>
          <p:nvPr/>
        </p:nvSpPr>
        <p:spPr>
          <a:xfrm>
            <a:off x="566928" y="2816352"/>
            <a:ext cx="420624" cy="420624"/>
          </a:xfrm>
          <a:prstGeom prst="ellipse">
            <a:avLst/>
          </a:prstGeom>
          <a:solidFill>
            <a:srgbClr val="00767F"/>
          </a:solidFill>
          <a:ln/>
        </p:spPr>
        <p:txBody>
          <a:bodyPr/>
          <a:lstStyle/>
          <a:p>
            <a:endParaRPr lang="en-CA"/>
          </a:p>
        </p:txBody>
      </p:sp>
      <p:sp>
        <p:nvSpPr>
          <p:cNvPr id="12" name="Text 10"/>
          <p:cNvSpPr txBox="1"/>
          <p:nvPr/>
        </p:nvSpPr>
        <p:spPr>
          <a:xfrm>
            <a:off x="566928" y="281635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2</a:t>
            </a:r>
            <a:endParaRPr lang="en-US" sz="1350" dirty="0"/>
          </a:p>
        </p:txBody>
      </p:sp>
      <p:sp>
        <p:nvSpPr>
          <p:cNvPr id="13" name="Text 11"/>
          <p:cNvSpPr txBox="1"/>
          <p:nvPr/>
        </p:nvSpPr>
        <p:spPr>
          <a:xfrm>
            <a:off x="1133856" y="2788920"/>
            <a:ext cx="5239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Build the roster</a:t>
            </a:r>
            <a:endParaRPr lang="en-US" sz="1500" dirty="0"/>
          </a:p>
        </p:txBody>
      </p:sp>
      <p:sp>
        <p:nvSpPr>
          <p:cNvPr id="14" name="Text 12"/>
          <p:cNvSpPr txBox="1"/>
          <p:nvPr/>
        </p:nvSpPr>
        <p:spPr>
          <a:xfrm>
            <a:off x="1133856" y="3063240"/>
            <a:ext cx="5239512" cy="64008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A List&lt;Student&gt; with five entries. One of them gets mark: 0 so we can talk about "not submitted" again.</a:t>
            </a:r>
            <a:endParaRPr lang="en-US" sz="1300" dirty="0"/>
          </a:p>
        </p:txBody>
      </p:sp>
      <p:sp>
        <p:nvSpPr>
          <p:cNvPr id="15" name="Shape 13"/>
          <p:cNvSpPr/>
          <p:nvPr/>
        </p:nvSpPr>
        <p:spPr>
          <a:xfrm>
            <a:off x="566928" y="3776472"/>
            <a:ext cx="420624" cy="420624"/>
          </a:xfrm>
          <a:prstGeom prst="ellipse">
            <a:avLst/>
          </a:prstGeom>
          <a:solidFill>
            <a:srgbClr val="00767F"/>
          </a:solidFill>
          <a:ln/>
        </p:spPr>
        <p:txBody>
          <a:bodyPr/>
          <a:lstStyle/>
          <a:p>
            <a:endParaRPr lang="en-CA"/>
          </a:p>
        </p:txBody>
      </p:sp>
      <p:sp>
        <p:nvSpPr>
          <p:cNvPr id="16" name="Text 14"/>
          <p:cNvSpPr txBox="1"/>
          <p:nvPr/>
        </p:nvSpPr>
        <p:spPr>
          <a:xfrm>
            <a:off x="566928" y="377647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3</a:t>
            </a:r>
            <a:endParaRPr lang="en-US" sz="1350" dirty="0"/>
          </a:p>
        </p:txBody>
      </p:sp>
      <p:sp>
        <p:nvSpPr>
          <p:cNvPr id="17" name="Text 15"/>
          <p:cNvSpPr txBox="1"/>
          <p:nvPr/>
        </p:nvSpPr>
        <p:spPr>
          <a:xfrm>
            <a:off x="1133856" y="3749040"/>
            <a:ext cx="5239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Answer the same five questions</a:t>
            </a:r>
            <a:endParaRPr lang="en-US" sz="1500" dirty="0"/>
          </a:p>
        </p:txBody>
      </p:sp>
      <p:sp>
        <p:nvSpPr>
          <p:cNvPr id="18" name="Text 16"/>
          <p:cNvSpPr txBox="1"/>
          <p:nvPr/>
        </p:nvSpPr>
        <p:spPr>
          <a:xfrm>
            <a:off x="1133856" y="4023360"/>
            <a:ext cx="5239512" cy="68580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Count, range, mean, who passed, apply a curve — but with where / map / fold over objects this time.</a:t>
            </a:r>
            <a:endParaRPr lang="en-US" sz="1300" dirty="0"/>
          </a:p>
        </p:txBody>
      </p:sp>
      <p:sp>
        <p:nvSpPr>
          <p:cNvPr id="19" name="Shape 17"/>
          <p:cNvSpPr/>
          <p:nvPr/>
        </p:nvSpPr>
        <p:spPr>
          <a:xfrm>
            <a:off x="566928" y="4782312"/>
            <a:ext cx="420624" cy="420624"/>
          </a:xfrm>
          <a:prstGeom prst="ellipse">
            <a:avLst/>
          </a:prstGeom>
          <a:solidFill>
            <a:srgbClr val="00767F"/>
          </a:solidFill>
          <a:ln/>
        </p:spPr>
        <p:txBody>
          <a:bodyPr/>
          <a:lstStyle/>
          <a:p>
            <a:endParaRPr lang="en-CA"/>
          </a:p>
        </p:txBody>
      </p:sp>
      <p:sp>
        <p:nvSpPr>
          <p:cNvPr id="20" name="Text 18"/>
          <p:cNvSpPr txBox="1"/>
          <p:nvPr/>
        </p:nvSpPr>
        <p:spPr>
          <a:xfrm>
            <a:off x="566928" y="4782312"/>
            <a:ext cx="420624" cy="420624"/>
          </a:xfrm>
          <a:prstGeom prst="rect">
            <a:avLst/>
          </a:prstGeom>
          <a:noFill/>
          <a:ln/>
        </p:spPr>
        <p:txBody>
          <a:bodyPr wrap="square" lIns="0" tIns="0" rIns="0" bIns="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4</a:t>
            </a:r>
            <a:endParaRPr lang="en-US" sz="1350" dirty="0"/>
          </a:p>
        </p:txBody>
      </p:sp>
      <p:sp>
        <p:nvSpPr>
          <p:cNvPr id="21" name="Text 19"/>
          <p:cNvSpPr txBox="1"/>
          <p:nvPr/>
        </p:nvSpPr>
        <p:spPr>
          <a:xfrm>
            <a:off x="1133856" y="4754880"/>
            <a:ext cx="5239512" cy="274320"/>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Then break it and compare</a:t>
            </a:r>
            <a:endParaRPr lang="en-US" sz="1500" dirty="0"/>
          </a:p>
        </p:txBody>
      </p:sp>
      <p:sp>
        <p:nvSpPr>
          <p:cNvPr id="22" name="Text 20"/>
          <p:cNvSpPr txBox="1"/>
          <p:nvPr/>
        </p:nvSpPr>
        <p:spPr>
          <a:xfrm>
            <a:off x="1133856" y="5029200"/>
            <a:ext cx="5239512" cy="731520"/>
          </a:xfrm>
          <a:prstGeom prst="rect">
            <a:avLst/>
          </a:prstGeom>
          <a:noFill/>
          <a:ln/>
        </p:spPr>
        <p:txBody>
          <a:bodyPr wrap="square" lIns="0" tIns="0" rIns="0" bIns="0" rtlCol="0" anchor="t"/>
          <a:lstStyle/>
          <a:p>
            <a:pPr marL="0" indent="0">
              <a:lnSpc>
                <a:spcPct val="108000"/>
              </a:lnSpc>
              <a:buNone/>
            </a:pPr>
            <a:r>
              <a:rPr lang="en-US" sz="1300" dirty="0">
                <a:solidFill>
                  <a:srgbClr val="5B7183"/>
                </a:solidFill>
                <a:latin typeface="Calibri" pitchFamily="34" charset="0"/>
                <a:ea typeface="Calibri" pitchFamily="34" charset="-122"/>
                <a:cs typeface="Calibri" pitchFamily="34" charset="-120"/>
              </a:rPr>
              <a:t>Sort the roster and print it. Nothing desynchronises. Contrast with the parallel-list version from earlier.</a:t>
            </a:r>
            <a:endParaRPr lang="en-US" sz="1300" dirty="0"/>
          </a:p>
        </p:txBody>
      </p:sp>
      <p:sp>
        <p:nvSpPr>
          <p:cNvPr id="23" name="Shape 21"/>
          <p:cNvSpPr/>
          <p:nvPr/>
        </p:nvSpPr>
        <p:spPr>
          <a:xfrm>
            <a:off x="6629400" y="1828800"/>
            <a:ext cx="5001768" cy="1874520"/>
          </a:xfrm>
          <a:prstGeom prst="roundRect">
            <a:avLst>
              <a:gd name="adj" fmla="val 2439"/>
            </a:avLst>
          </a:prstGeom>
          <a:solidFill>
            <a:srgbClr val="FDF3E3"/>
          </a:solidFill>
          <a:ln w="12700">
            <a:solidFill>
              <a:srgbClr val="E0A64B"/>
            </a:solidFill>
            <a:prstDash val="solid"/>
          </a:ln>
        </p:spPr>
        <p:txBody>
          <a:bodyPr/>
          <a:lstStyle/>
          <a:p>
            <a:endParaRPr lang="en-CA"/>
          </a:p>
        </p:txBody>
      </p:sp>
      <p:sp>
        <p:nvSpPr>
          <p:cNvPr id="24" name="Text 22"/>
          <p:cNvSpPr txBox="1"/>
          <p:nvPr/>
        </p:nvSpPr>
        <p:spPr>
          <a:xfrm>
            <a:off x="6830568" y="1993392"/>
            <a:ext cx="4599432" cy="329184"/>
          </a:xfrm>
          <a:prstGeom prst="rect">
            <a:avLst/>
          </a:prstGeom>
          <a:noFill/>
          <a:ln/>
        </p:spPr>
        <p:txBody>
          <a:bodyPr wrap="square" lIns="0" tIns="0" rIns="0" bIns="0" rtlCol="0" anchor="ctr"/>
          <a:lstStyle/>
          <a:p>
            <a:pPr marL="0" indent="0">
              <a:buNone/>
            </a:pPr>
            <a:r>
              <a:rPr lang="en-US" sz="1600" b="1" dirty="0">
                <a:solidFill>
                  <a:srgbClr val="7A5312"/>
                </a:solidFill>
                <a:latin typeface="Calibri" pitchFamily="34" charset="0"/>
                <a:ea typeface="Calibri" pitchFamily="34" charset="-122"/>
                <a:cs typeface="Calibri" pitchFamily="34" charset="-120"/>
              </a:rPr>
              <a:t>Three mistakes to expect</a:t>
            </a:r>
            <a:endParaRPr lang="en-US" sz="1600" dirty="0"/>
          </a:p>
        </p:txBody>
      </p:sp>
      <p:sp>
        <p:nvSpPr>
          <p:cNvPr id="25" name="Text 23"/>
          <p:cNvSpPr txBox="1"/>
          <p:nvPr/>
        </p:nvSpPr>
        <p:spPr>
          <a:xfrm>
            <a:off x="6848856" y="2414016"/>
            <a:ext cx="4562856" cy="1088136"/>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Forgetting @override on toString — it still works, the analyzer just nags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Writing new Student(...) — harmless, but not Dart style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Trying to set a final field after construction</a:t>
            </a:r>
            <a:endParaRPr lang="en-US" sz="1250" dirty="0"/>
          </a:p>
        </p:txBody>
      </p:sp>
      <p:sp>
        <p:nvSpPr>
          <p:cNvPr id="26" name="Shape 24"/>
          <p:cNvSpPr/>
          <p:nvPr/>
        </p:nvSpPr>
        <p:spPr>
          <a:xfrm>
            <a:off x="6629400" y="3840480"/>
            <a:ext cx="5001768" cy="1920240"/>
          </a:xfrm>
          <a:prstGeom prst="roundRect">
            <a:avLst>
              <a:gd name="adj" fmla="val 2857"/>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7" name="Text 25"/>
          <p:cNvSpPr txBox="1"/>
          <p:nvPr/>
        </p:nvSpPr>
        <p:spPr>
          <a:xfrm>
            <a:off x="6830568" y="3941064"/>
            <a:ext cx="4599432"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THE SHAPE YOU'RE AIMING FOR</a:t>
            </a:r>
            <a:endParaRPr lang="en-US" sz="1050" dirty="0"/>
          </a:p>
        </p:txBody>
      </p:sp>
      <p:sp>
        <p:nvSpPr>
          <p:cNvPr id="28" name="Text 26"/>
          <p:cNvSpPr txBox="1"/>
          <p:nvPr/>
        </p:nvSpPr>
        <p:spPr>
          <a:xfrm>
            <a:off x="6830568" y="4242816"/>
            <a:ext cx="4636008" cy="1408176"/>
          </a:xfrm>
          <a:prstGeom prst="rect">
            <a:avLst/>
          </a:prstGeom>
          <a:noFill/>
          <a:ln/>
        </p:spPr>
        <p:txBody>
          <a:bodyPr wrap="square" lIns="0" tIns="0" rIns="0" bIns="0" rtlCol="0" anchor="t"/>
          <a:lstStyle/>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class Student {</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final String name;</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int mark;</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Student({required this.name, this.mark = 0});</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bool get isPassing =&gt; mark &gt;= 50;</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@override</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  String toString() =&gt; '$name ($mark)';</a:t>
            </a:r>
            <a:endParaRPr lang="en-US" sz="1041" dirty="0"/>
          </a:p>
          <a:p>
            <a:pPr marL="0" indent="0">
              <a:lnSpc>
                <a:spcPct val="106000"/>
              </a:lnSpc>
              <a:buNone/>
            </a:pPr>
            <a:r>
              <a:rPr lang="en-US" sz="1041" dirty="0">
                <a:solidFill>
                  <a:srgbClr val="EAF2F7"/>
                </a:solidFill>
                <a:latin typeface="Courier New" pitchFamily="34" charset="0"/>
                <a:ea typeface="Courier New" pitchFamily="34" charset="-122"/>
                <a:cs typeface="Courier New" pitchFamily="34" charset="-120"/>
              </a:rPr>
              <a:t>}</a:t>
            </a:r>
            <a:endParaRPr lang="en-US" sz="1041"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CAPSTONE · DEMO 14</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Console grade tracker</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Nothing new — just all four topics standing in the same room.</a:t>
            </a:r>
            <a:endParaRPr lang="en-US" sz="1450" dirty="0"/>
          </a:p>
        </p:txBody>
      </p:sp>
      <p:sp>
        <p:nvSpPr>
          <p:cNvPr id="5" name="Text 3"/>
          <p:cNvSpPr txBox="1"/>
          <p:nvPr/>
        </p:nvSpPr>
        <p:spPr>
          <a:xfrm>
            <a:off x="10253167" y="310896"/>
            <a:ext cx="1371600" cy="256032"/>
          </a:xfrm>
          <a:prstGeom prst="rect">
            <a:avLst/>
          </a:prstGeom>
          <a:noFill/>
          <a:ln/>
        </p:spPr>
        <p:txBody>
          <a:bodyPr wrap="square" lIns="0" tIns="0" rIns="0" bIns="0" rtlCol="0" anchor="ctr"/>
          <a:lstStyle/>
          <a:p>
            <a:pPr marL="0" indent="0" algn="r">
              <a:buNone/>
            </a:pPr>
            <a:r>
              <a:rPr lang="en-US" sz="1100" b="1" dirty="0">
                <a:solidFill>
                  <a:srgbClr val="6F9B2E"/>
                </a:solidFill>
                <a:latin typeface="Calibri" pitchFamily="34" charset="0"/>
                <a:ea typeface="Calibri" pitchFamily="34" charset="-122"/>
                <a:cs typeface="Calibri" pitchFamily="34" charset="-120"/>
              </a:rPr>
              <a:t>1:52 – 2:00</a:t>
            </a:r>
            <a:endParaRPr lang="en-US" sz="1100" dirty="0"/>
          </a:p>
        </p:txBody>
      </p:sp>
      <p:sp>
        <p:nvSpPr>
          <p:cNvPr id="6" name="Text 4"/>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7" name="Text 5"/>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46</a:t>
            </a:r>
            <a:endParaRPr lang="en-US" sz="950" dirty="0"/>
          </a:p>
        </p:txBody>
      </p:sp>
      <p:sp>
        <p:nvSpPr>
          <p:cNvPr id="8" name="Shape 6"/>
          <p:cNvSpPr/>
          <p:nvPr/>
        </p:nvSpPr>
        <p:spPr>
          <a:xfrm>
            <a:off x="566928" y="1828800"/>
            <a:ext cx="3566160" cy="1325880"/>
          </a:xfrm>
          <a:prstGeom prst="roundRect">
            <a:avLst>
              <a:gd name="adj" fmla="val 3448"/>
            </a:avLst>
          </a:prstGeom>
          <a:solidFill>
            <a:srgbClr val="E4F1F2"/>
          </a:solidFill>
          <a:ln/>
        </p:spPr>
        <p:txBody>
          <a:bodyPr/>
          <a:lstStyle/>
          <a:p>
            <a:endParaRPr lang="en-CA"/>
          </a:p>
        </p:txBody>
      </p:sp>
      <p:sp>
        <p:nvSpPr>
          <p:cNvPr id="9" name="Shape 7"/>
          <p:cNvSpPr/>
          <p:nvPr/>
        </p:nvSpPr>
        <p:spPr>
          <a:xfrm>
            <a:off x="749808" y="2011680"/>
            <a:ext cx="384048" cy="384048"/>
          </a:xfrm>
          <a:prstGeom prst="ellipse">
            <a:avLst/>
          </a:prstGeom>
          <a:solidFill>
            <a:srgbClr val="00767F"/>
          </a:solidFill>
          <a:ln/>
        </p:spPr>
        <p:txBody>
          <a:bodyPr/>
          <a:lstStyle/>
          <a:p>
            <a:endParaRPr lang="en-CA"/>
          </a:p>
        </p:txBody>
      </p:sp>
      <p:sp>
        <p:nvSpPr>
          <p:cNvPr id="10" name="Text 8"/>
          <p:cNvSpPr txBox="1"/>
          <p:nvPr/>
        </p:nvSpPr>
        <p:spPr>
          <a:xfrm>
            <a:off x="74980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1252728" y="1993392"/>
            <a:ext cx="2697480"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A type</a:t>
            </a:r>
            <a:endParaRPr lang="en-US" sz="1500" dirty="0"/>
          </a:p>
        </p:txBody>
      </p:sp>
      <p:sp>
        <p:nvSpPr>
          <p:cNvPr id="12" name="Text 10"/>
          <p:cNvSpPr txBox="1"/>
          <p:nvPr/>
        </p:nvSpPr>
        <p:spPr>
          <a:xfrm>
            <a:off x="768096" y="2359152"/>
            <a:ext cx="3163824" cy="57607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Student: final name, int? mark (null = not submitted), isPassing getter, toString().</a:t>
            </a:r>
            <a:endParaRPr lang="en-US" sz="1250" dirty="0"/>
          </a:p>
        </p:txBody>
      </p:sp>
      <p:sp>
        <p:nvSpPr>
          <p:cNvPr id="13" name="Shape 11"/>
          <p:cNvSpPr/>
          <p:nvPr/>
        </p:nvSpPr>
        <p:spPr>
          <a:xfrm>
            <a:off x="4315968" y="1828800"/>
            <a:ext cx="3566160" cy="1325880"/>
          </a:xfrm>
          <a:prstGeom prst="roundRect">
            <a:avLst>
              <a:gd name="adj" fmla="val 3448"/>
            </a:avLst>
          </a:prstGeom>
          <a:solidFill>
            <a:srgbClr val="F2F6F8"/>
          </a:solidFill>
          <a:ln/>
        </p:spPr>
        <p:txBody>
          <a:bodyPr/>
          <a:lstStyle/>
          <a:p>
            <a:endParaRPr lang="en-CA"/>
          </a:p>
        </p:txBody>
      </p:sp>
      <p:sp>
        <p:nvSpPr>
          <p:cNvPr id="14" name="Shape 12"/>
          <p:cNvSpPr/>
          <p:nvPr/>
        </p:nvSpPr>
        <p:spPr>
          <a:xfrm>
            <a:off x="4498848" y="2011680"/>
            <a:ext cx="384048" cy="384048"/>
          </a:xfrm>
          <a:prstGeom prst="ellipse">
            <a:avLst/>
          </a:prstGeom>
          <a:solidFill>
            <a:srgbClr val="00767F"/>
          </a:solidFill>
          <a:ln/>
        </p:spPr>
        <p:txBody>
          <a:bodyPr/>
          <a:lstStyle/>
          <a:p>
            <a:endParaRPr lang="en-CA"/>
          </a:p>
        </p:txBody>
      </p:sp>
      <p:sp>
        <p:nvSpPr>
          <p:cNvPr id="15" name="Text 13"/>
          <p:cNvSpPr txBox="1"/>
          <p:nvPr/>
        </p:nvSpPr>
        <p:spPr>
          <a:xfrm>
            <a:off x="449884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5001768" y="1993392"/>
            <a:ext cx="2697480"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A List</a:t>
            </a:r>
            <a:endParaRPr lang="en-US" sz="1500" dirty="0"/>
          </a:p>
        </p:txBody>
      </p:sp>
      <p:sp>
        <p:nvSpPr>
          <p:cNvPr id="17" name="Text 15"/>
          <p:cNvSpPr txBox="1"/>
          <p:nvPr/>
        </p:nvSpPr>
        <p:spPr>
          <a:xfrm>
            <a:off x="4517136" y="2359152"/>
            <a:ext cx="3163824" cy="57607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List&lt;Student&gt; holding six students, at least two of them unsubmitted.</a:t>
            </a:r>
            <a:endParaRPr lang="en-US" sz="1250" dirty="0"/>
          </a:p>
        </p:txBody>
      </p:sp>
      <p:sp>
        <p:nvSpPr>
          <p:cNvPr id="18" name="Shape 16"/>
          <p:cNvSpPr/>
          <p:nvPr/>
        </p:nvSpPr>
        <p:spPr>
          <a:xfrm>
            <a:off x="8065008" y="1828800"/>
            <a:ext cx="3566160" cy="1325880"/>
          </a:xfrm>
          <a:prstGeom prst="roundRect">
            <a:avLst>
              <a:gd name="adj" fmla="val 3448"/>
            </a:avLst>
          </a:prstGeom>
          <a:solidFill>
            <a:srgbClr val="E4F1F2"/>
          </a:solidFill>
          <a:ln/>
        </p:spPr>
        <p:txBody>
          <a:bodyPr/>
          <a:lstStyle/>
          <a:p>
            <a:endParaRPr lang="en-CA"/>
          </a:p>
        </p:txBody>
      </p:sp>
      <p:sp>
        <p:nvSpPr>
          <p:cNvPr id="19" name="Shape 17"/>
          <p:cNvSpPr/>
          <p:nvPr/>
        </p:nvSpPr>
        <p:spPr>
          <a:xfrm>
            <a:off x="8247888" y="2011680"/>
            <a:ext cx="384048" cy="384048"/>
          </a:xfrm>
          <a:prstGeom prst="ellipse">
            <a:avLst/>
          </a:prstGeom>
          <a:solidFill>
            <a:srgbClr val="00767F"/>
          </a:solidFill>
          <a:ln/>
        </p:spPr>
        <p:txBody>
          <a:bodyPr/>
          <a:lstStyle/>
          <a:p>
            <a:endParaRPr lang="en-CA"/>
          </a:p>
        </p:txBody>
      </p:sp>
      <p:sp>
        <p:nvSpPr>
          <p:cNvPr id="20" name="Text 18"/>
          <p:cNvSpPr txBox="1"/>
          <p:nvPr/>
        </p:nvSpPr>
        <p:spPr>
          <a:xfrm>
            <a:off x="8247888" y="201168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750808" y="1993392"/>
            <a:ext cx="2697480" cy="292608"/>
          </a:xfrm>
          <a:prstGeom prst="rect">
            <a:avLst/>
          </a:prstGeom>
          <a:noFill/>
          <a:ln/>
        </p:spPr>
        <p:txBody>
          <a:bodyPr wrap="square" lIns="0" tIns="0" rIns="0" bIns="0" rtlCol="0" anchor="ctr"/>
          <a:lstStyle/>
          <a:p>
            <a:pPr marL="0" indent="0">
              <a:buNone/>
            </a:pPr>
            <a:r>
              <a:rPr lang="en-US" sz="1500" b="1" dirty="0">
                <a:solidFill>
                  <a:srgbClr val="0A2540"/>
                </a:solidFill>
                <a:latin typeface="Calibri" pitchFamily="34" charset="0"/>
                <a:ea typeface="Calibri" pitchFamily="34" charset="-122"/>
                <a:cs typeface="Calibri" pitchFamily="34" charset="-120"/>
              </a:rPr>
              <a:t>Functions</a:t>
            </a:r>
            <a:endParaRPr lang="en-US" sz="1500" dirty="0"/>
          </a:p>
        </p:txBody>
      </p:sp>
      <p:sp>
        <p:nvSpPr>
          <p:cNvPr id="22" name="Text 20"/>
          <p:cNvSpPr txBox="1"/>
          <p:nvPr/>
        </p:nvSpPr>
        <p:spPr>
          <a:xfrm>
            <a:off x="8266176" y="2359152"/>
            <a:ext cx="3163824" cy="576072"/>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summary(roster), curveAll(roster, {points = 5}), topN(roster, [int n = 3]).</a:t>
            </a:r>
            <a:endParaRPr lang="en-US" sz="1250" dirty="0"/>
          </a:p>
        </p:txBody>
      </p:sp>
      <p:sp>
        <p:nvSpPr>
          <p:cNvPr id="23" name="Shape 21"/>
          <p:cNvSpPr/>
          <p:nvPr/>
        </p:nvSpPr>
        <p:spPr>
          <a:xfrm>
            <a:off x="566928" y="3291840"/>
            <a:ext cx="6766560" cy="2514600"/>
          </a:xfrm>
          <a:prstGeom prst="roundRect">
            <a:avLst>
              <a:gd name="adj" fmla="val 2182"/>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24" name="Text 22"/>
          <p:cNvSpPr txBox="1"/>
          <p:nvPr/>
        </p:nvSpPr>
        <p:spPr>
          <a:xfrm>
            <a:off x="768096" y="3392424"/>
            <a:ext cx="636422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TARGET OUTPUT</a:t>
            </a:r>
            <a:endParaRPr lang="en-US" sz="1050" dirty="0"/>
          </a:p>
        </p:txBody>
      </p:sp>
      <p:sp>
        <p:nvSpPr>
          <p:cNvPr id="25" name="Text 23"/>
          <p:cNvSpPr txBox="1"/>
          <p:nvPr/>
        </p:nvSpPr>
        <p:spPr>
          <a:xfrm>
            <a:off x="768096" y="3694176"/>
            <a:ext cx="6400800" cy="2002536"/>
          </a:xfrm>
          <a:prstGeom prst="rect">
            <a:avLst/>
          </a:prstGeom>
          <a:noFill/>
          <a:ln/>
        </p:spPr>
        <p:txBody>
          <a:bodyPr wrap="square" lIns="0" tIns="0" rIns="0" bIns="0" rtlCol="0" anchor="t"/>
          <a:lstStyle/>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 DMIT 2504 · Week 1 roster ===</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Ana (88) pass</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Bo — not submitted</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Chandra (74) pass</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Dev (45) fail</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Eli — not submitted</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Fen (62) pass</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 </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submitted 4 of 6 · mean 67.3 · passing 3</a:t>
            </a:r>
            <a:endParaRPr lang="en-US" sz="1198" dirty="0"/>
          </a:p>
          <a:p>
            <a:pPr marL="0" indent="0">
              <a:lnSpc>
                <a:spcPct val="106000"/>
              </a:lnSpc>
              <a:buNone/>
            </a:pPr>
            <a:r>
              <a:rPr lang="en-US" sz="1198" i="1" dirty="0">
                <a:solidFill>
                  <a:srgbClr val="A8D65C"/>
                </a:solidFill>
                <a:latin typeface="Courier New" pitchFamily="34" charset="0"/>
                <a:ea typeface="Courier New" pitchFamily="34" charset="-122"/>
                <a:cs typeface="Courier New" pitchFamily="34" charset="-120"/>
              </a:rPr>
              <a:t>top 3: Ana (88), Chandra (74), Fen (62)</a:t>
            </a:r>
            <a:endParaRPr lang="en-US" sz="1198" dirty="0"/>
          </a:p>
        </p:txBody>
      </p:sp>
      <p:sp>
        <p:nvSpPr>
          <p:cNvPr id="26" name="Text 24"/>
          <p:cNvSpPr txBox="1"/>
          <p:nvPr/>
        </p:nvSpPr>
        <p:spPr>
          <a:xfrm>
            <a:off x="7498080" y="3337560"/>
            <a:ext cx="4133088" cy="2468880"/>
          </a:xfrm>
          <a:prstGeom prst="rect">
            <a:avLst/>
          </a:prstGeom>
          <a:noFill/>
          <a:ln/>
        </p:spPr>
        <p:txBody>
          <a:bodyPr wrap="square" lIns="0" tIns="0" rIns="0" bIns="0" rtlCol="0" anchor="t"/>
          <a:lstStyle/>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Constraints (these are the marks)</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No ! operator anywhere in the file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Every function has an explicit return type</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Nothing prints except inside main() and summary()</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Handle the all-unsubmitted case without crashing</a:t>
            </a:r>
            <a:endParaRPr lang="en-US" sz="1250" dirty="0"/>
          </a:p>
          <a:p>
            <a:pPr marL="342900" indent="-342900">
              <a:lnSpc>
                <a:spcPct val="105000"/>
              </a:lnSpc>
              <a:spcAft>
                <a:spcPts val="400"/>
              </a:spcAft>
              <a:buSzPct val="100000"/>
              <a:buChar char="▪"/>
            </a:pPr>
            <a:r>
              <a:rPr lang="en-US" sz="1250" b="1" dirty="0">
                <a:solidFill>
                  <a:srgbClr val="16232E"/>
                </a:solidFill>
                <a:latin typeface="Calibri" pitchFamily="34" charset="0"/>
                <a:ea typeface="Calibri" pitchFamily="34" charset="-122"/>
                <a:cs typeface="Calibri" pitchFamily="34" charset="-120"/>
              </a:rPr>
              <a:t>Stretch</a:t>
            </a:r>
            <a:endParaRPr lang="en-US" sz="1250" dirty="0"/>
          </a:p>
          <a:p>
            <a:pPr marL="457200" lvl="1" indent="-228600">
              <a:lnSpc>
                <a:spcPct val="105000"/>
              </a:lnSpc>
              <a:spcAft>
                <a:spcPts val="400"/>
              </a:spcAft>
              <a:buSzPct val="100000"/>
              <a:buChar char="•"/>
            </a:pPr>
            <a:r>
              <a:rPr lang="en-US" sz="1100" dirty="0">
                <a:solidFill>
                  <a:srgbClr val="5B7183"/>
                </a:solidFill>
                <a:latin typeface="Calibri" pitchFamily="34" charset="0"/>
                <a:ea typeface="Calibri" pitchFamily="34" charset="-122"/>
                <a:cs typeface="Calibri" pitchFamily="34" charset="-120"/>
              </a:rPr>
              <a:t>Read marks from stdin instead of hard-coding them</a:t>
            </a:r>
            <a:endParaRPr lang="en-US" sz="12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LAB TIME · START NOW, FINISH BEFORE NEXT SESSION</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Posted exercises</a:t>
            </a:r>
            <a:endParaRPr lang="en-US" sz="3200" dirty="0"/>
          </a:p>
        </p:txBody>
      </p:sp>
      <p:sp>
        <p:nvSpPr>
          <p:cNvPr id="4" name="Text 2"/>
          <p:cNvSpPr txBox="1"/>
          <p:nvPr/>
        </p:nvSpPr>
        <p:spPr>
          <a:xfrm>
            <a:off x="566928" y="1243584"/>
            <a:ext cx="10881360" cy="457200"/>
          </a:xfrm>
          <a:prstGeom prst="rect">
            <a:avLst/>
          </a:prstGeom>
          <a:noFill/>
          <a:ln/>
        </p:spPr>
        <p:txBody>
          <a:bodyPr wrap="square" lIns="0" tIns="0" rIns="0" bIns="0" rtlCol="0" anchor="ctr"/>
          <a:lstStyle/>
          <a:p>
            <a:pPr marL="0" indent="0">
              <a:lnSpc>
                <a:spcPct val="110000"/>
              </a:lnSpc>
              <a:buNone/>
            </a:pPr>
            <a:r>
              <a:rPr lang="en-US" sz="1450" i="1" dirty="0">
                <a:solidFill>
                  <a:srgbClr val="5B7183"/>
                </a:solidFill>
                <a:latin typeface="Calibri" pitchFamily="34" charset="0"/>
                <a:ea typeface="Calibri" pitchFamily="34" charset="-122"/>
                <a:cs typeface="Calibri" pitchFamily="34" charset="-120"/>
              </a:rPr>
              <a:t>Work in the order given. I'm on the floor for the rest of the session — call me over.</a:t>
            </a:r>
            <a:endParaRPr lang="en-US" sz="1450" dirty="0"/>
          </a:p>
        </p:txBody>
      </p:sp>
      <p:sp>
        <p:nvSpPr>
          <p:cNvPr id="5" name="Text 3"/>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6" name="Text 4"/>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47</a:t>
            </a:r>
            <a:endParaRPr lang="en-US" sz="950" dirty="0"/>
          </a:p>
        </p:txBody>
      </p:sp>
      <p:sp>
        <p:nvSpPr>
          <p:cNvPr id="7" name="Shape 5"/>
          <p:cNvSpPr/>
          <p:nvPr/>
        </p:nvSpPr>
        <p:spPr>
          <a:xfrm>
            <a:off x="566928" y="1828800"/>
            <a:ext cx="3566160" cy="3200400"/>
          </a:xfrm>
          <a:prstGeom prst="roundRect">
            <a:avLst>
              <a:gd name="adj" fmla="val 1429"/>
            </a:avLst>
          </a:prstGeom>
          <a:solidFill>
            <a:srgbClr val="F2F6F8"/>
          </a:solidFill>
          <a:ln/>
        </p:spPr>
        <p:txBody>
          <a:bodyPr/>
          <a:lstStyle/>
          <a:p>
            <a:endParaRPr lang="en-CA"/>
          </a:p>
        </p:txBody>
      </p:sp>
      <p:sp>
        <p:nvSpPr>
          <p:cNvPr id="8" name="Text 6"/>
          <p:cNvSpPr txBox="1"/>
          <p:nvPr/>
        </p:nvSpPr>
        <p:spPr>
          <a:xfrm>
            <a:off x="768096" y="1993392"/>
            <a:ext cx="3163824"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Warm-up</a:t>
            </a:r>
            <a:endParaRPr lang="en-US" sz="1700" dirty="0"/>
          </a:p>
        </p:txBody>
      </p:sp>
      <p:sp>
        <p:nvSpPr>
          <p:cNvPr id="9" name="Text 7"/>
          <p:cNvSpPr txBox="1"/>
          <p:nvPr/>
        </p:nvSpPr>
        <p:spPr>
          <a:xfrm>
            <a:off x="786384" y="2450592"/>
            <a:ext cx="3127248" cy="23774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FizzBuzz, but as a function returning a String</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sumOf(List&lt;int&gt;) using fold — no loop</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Reverse a String without using .reversed</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wordCount(String) → int, splitting on spaces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Convert a List&lt;String&gt; of digits into a List&lt;int&gt;</a:t>
            </a:r>
            <a:endParaRPr lang="en-US" sz="1250" dirty="0"/>
          </a:p>
        </p:txBody>
      </p:sp>
      <p:sp>
        <p:nvSpPr>
          <p:cNvPr id="10" name="Shape 8"/>
          <p:cNvSpPr/>
          <p:nvPr/>
        </p:nvSpPr>
        <p:spPr>
          <a:xfrm>
            <a:off x="4315968" y="1828800"/>
            <a:ext cx="3566160" cy="3200400"/>
          </a:xfrm>
          <a:prstGeom prst="roundRect">
            <a:avLst>
              <a:gd name="adj" fmla="val 1429"/>
            </a:avLst>
          </a:prstGeom>
          <a:solidFill>
            <a:srgbClr val="E4F1F2"/>
          </a:solidFill>
          <a:ln/>
        </p:spPr>
        <p:txBody>
          <a:bodyPr/>
          <a:lstStyle/>
          <a:p>
            <a:endParaRPr lang="en-CA"/>
          </a:p>
        </p:txBody>
      </p:sp>
      <p:sp>
        <p:nvSpPr>
          <p:cNvPr id="11" name="Text 9"/>
          <p:cNvSpPr txBox="1"/>
          <p:nvPr/>
        </p:nvSpPr>
        <p:spPr>
          <a:xfrm>
            <a:off x="4517136" y="1993392"/>
            <a:ext cx="3163824"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Core</a:t>
            </a:r>
            <a:endParaRPr lang="en-US" sz="1700" dirty="0"/>
          </a:p>
        </p:txBody>
      </p:sp>
      <p:sp>
        <p:nvSpPr>
          <p:cNvPr id="12" name="Text 10"/>
          <p:cNvSpPr txBox="1"/>
          <p:nvPr/>
        </p:nvSpPr>
        <p:spPr>
          <a:xfrm>
            <a:off x="4535424" y="2450592"/>
            <a:ext cx="3127248" cy="23774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median(List&lt;int&gt;) — handle the even-count case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initials(String fullName, {bool dots = true})</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A Book class: title, author, int? year; sort a List&lt;Book&gt; by year with unknowns last</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safeDivide(int a, int b) returning double? — no exception, no crash</a:t>
            </a:r>
            <a:endParaRPr lang="en-US" sz="1250" dirty="0"/>
          </a:p>
        </p:txBody>
      </p:sp>
      <p:sp>
        <p:nvSpPr>
          <p:cNvPr id="13" name="Shape 11"/>
          <p:cNvSpPr/>
          <p:nvPr/>
        </p:nvSpPr>
        <p:spPr>
          <a:xfrm>
            <a:off x="8065008" y="1828800"/>
            <a:ext cx="3566160" cy="3200400"/>
          </a:xfrm>
          <a:prstGeom prst="roundRect">
            <a:avLst>
              <a:gd name="adj" fmla="val 1429"/>
            </a:avLst>
          </a:prstGeom>
          <a:solidFill>
            <a:srgbClr val="F2F6F8"/>
          </a:solidFill>
          <a:ln/>
        </p:spPr>
        <p:txBody>
          <a:bodyPr/>
          <a:lstStyle/>
          <a:p>
            <a:endParaRPr lang="en-CA"/>
          </a:p>
        </p:txBody>
      </p:sp>
      <p:sp>
        <p:nvSpPr>
          <p:cNvPr id="14" name="Text 12"/>
          <p:cNvSpPr txBox="1"/>
          <p:nvPr/>
        </p:nvSpPr>
        <p:spPr>
          <a:xfrm>
            <a:off x="8266176" y="1993392"/>
            <a:ext cx="3163824" cy="365760"/>
          </a:xfrm>
          <a:prstGeom prst="rect">
            <a:avLst/>
          </a:prstGeom>
          <a:noFill/>
          <a:ln/>
        </p:spPr>
        <p:txBody>
          <a:bodyPr wrap="square" lIns="0" tIns="0" rIns="0" bIns="0" rtlCol="0" anchor="ctr"/>
          <a:lstStyle/>
          <a:p>
            <a:pPr marL="0" indent="0">
              <a:buNone/>
            </a:pPr>
            <a:r>
              <a:rPr lang="en-US" sz="1700" b="1" dirty="0">
                <a:solidFill>
                  <a:srgbClr val="0A2540"/>
                </a:solidFill>
                <a:latin typeface="Calibri" pitchFamily="34" charset="0"/>
                <a:ea typeface="Calibri" pitchFamily="34" charset="-122"/>
                <a:cs typeface="Calibri" pitchFamily="34" charset="-120"/>
              </a:rPr>
              <a:t>Stretch</a:t>
            </a:r>
            <a:endParaRPr lang="en-US" sz="1700" dirty="0"/>
          </a:p>
        </p:txBody>
      </p:sp>
      <p:sp>
        <p:nvSpPr>
          <p:cNvPr id="15" name="Text 13"/>
          <p:cNvSpPr txBox="1"/>
          <p:nvPr/>
        </p:nvSpPr>
        <p:spPr>
          <a:xfrm>
            <a:off x="8284464" y="2450592"/>
            <a:ext cx="3127248" cy="237744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The capstone grade tracker, with stdin input</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A Playlist class holding a List&lt;Song&gt;, with totalDuration and longest getters</a:t>
            </a:r>
            <a:endParaRPr lang="en-US" sz="1250" dirty="0"/>
          </a:p>
          <a:p>
            <a:pPr marL="342900" indent="-342900">
              <a:lnSpc>
                <a:spcPct val="105000"/>
              </a:lnSpc>
              <a:spcAft>
                <a:spcPts val="500"/>
              </a:spcAft>
              <a:buSzPct val="100000"/>
              <a:buChar char="▪"/>
            </a:pPr>
            <a:r>
              <a:rPr lang="en-US" sz="1250" dirty="0">
                <a:solidFill>
                  <a:srgbClr val="16232E"/>
                </a:solidFill>
                <a:latin typeface="Calibri" pitchFamily="34" charset="0"/>
                <a:ea typeface="Calibri" pitchFamily="34" charset="-122"/>
                <a:cs typeface="Calibri" pitchFamily="34" charset="-120"/>
              </a:rPr>
              <a:t>Take any exercise above and remove every ! and every late from your solution</a:t>
            </a:r>
            <a:endParaRPr lang="en-US" sz="1250" dirty="0"/>
          </a:p>
        </p:txBody>
      </p:sp>
      <p:sp>
        <p:nvSpPr>
          <p:cNvPr id="16" name="Shape 14"/>
          <p:cNvSpPr/>
          <p:nvPr/>
        </p:nvSpPr>
        <p:spPr>
          <a:xfrm>
            <a:off x="566928" y="5166360"/>
            <a:ext cx="11064240" cy="731520"/>
          </a:xfrm>
          <a:prstGeom prst="roundRect">
            <a:avLst>
              <a:gd name="adj" fmla="val 6250"/>
            </a:avLst>
          </a:prstGeom>
          <a:solidFill>
            <a:srgbClr val="E4F1F2"/>
          </a:solidFill>
          <a:ln w="12700">
            <a:solidFill>
              <a:srgbClr val="0E9AA3"/>
            </a:solidFill>
            <a:prstDash val="solid"/>
          </a:ln>
        </p:spPr>
        <p:txBody>
          <a:bodyPr/>
          <a:lstStyle/>
          <a:p>
            <a:endParaRPr lang="en-CA"/>
          </a:p>
        </p:txBody>
      </p:sp>
      <p:sp>
        <p:nvSpPr>
          <p:cNvPr id="17" name="Text 15"/>
          <p:cNvSpPr txBox="1"/>
          <p:nvPr/>
        </p:nvSpPr>
        <p:spPr>
          <a:xfrm>
            <a:off x="786384" y="528523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HOW TO ASK FOR HELP</a:t>
            </a:r>
            <a:endParaRPr lang="en-US" sz="1050" dirty="0"/>
          </a:p>
        </p:txBody>
      </p:sp>
      <p:sp>
        <p:nvSpPr>
          <p:cNvPr id="18" name="Text 16"/>
          <p:cNvSpPr txBox="1"/>
          <p:nvPr/>
        </p:nvSpPr>
        <p:spPr>
          <a:xfrm>
            <a:off x="786384" y="5532120"/>
            <a:ext cx="10625328" cy="256032"/>
          </a:xfrm>
          <a:prstGeom prst="rect">
            <a:avLst/>
          </a:prstGeom>
          <a:noFill/>
          <a:ln/>
        </p:spPr>
        <p:txBody>
          <a:bodyPr wrap="square" lIns="0" tIns="0" rIns="0" bIns="0" rtlCol="0" anchor="t"/>
          <a:lstStyle/>
          <a:p>
            <a:pPr marL="0" indent="0">
              <a:lnSpc>
                <a:spcPct val="112000"/>
              </a:lnSpc>
              <a:buNone/>
            </a:pPr>
            <a:r>
              <a:rPr lang="en-US" sz="1350" dirty="0">
                <a:solidFill>
                  <a:srgbClr val="0A2540"/>
                </a:solidFill>
                <a:latin typeface="Calibri" pitchFamily="34" charset="0"/>
                <a:ea typeface="Calibri" pitchFamily="34" charset="-122"/>
                <a:cs typeface="Calibri" pitchFamily="34" charset="-120"/>
              </a:rPr>
              <a:t>Tell me the error message and what you expected. Not "it doesn't work" — the message is half the answer, and reading it is the skill we're building.</a:t>
            </a:r>
            <a:endParaRPr lang="en-US" sz="13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REFERENCE</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000" b="1" dirty="0">
                <a:solidFill>
                  <a:srgbClr val="0A2540"/>
                </a:solidFill>
                <a:latin typeface="Calibri" pitchFamily="34" charset="0"/>
                <a:ea typeface="Calibri" pitchFamily="34" charset="-122"/>
                <a:cs typeface="Calibri" pitchFamily="34" charset="-120"/>
              </a:rPr>
              <a:t>One-page cheat sheet</a:t>
            </a:r>
            <a:endParaRPr lang="en-US" sz="30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48</a:t>
            </a:r>
            <a:endParaRPr lang="en-US" sz="950" dirty="0"/>
          </a:p>
        </p:txBody>
      </p:sp>
      <p:sp>
        <p:nvSpPr>
          <p:cNvPr id="6" name="Shape 4"/>
          <p:cNvSpPr/>
          <p:nvPr/>
        </p:nvSpPr>
        <p:spPr>
          <a:xfrm>
            <a:off x="566928" y="1261872"/>
            <a:ext cx="3657600" cy="4572000"/>
          </a:xfrm>
          <a:prstGeom prst="roundRect">
            <a:avLst>
              <a:gd name="adj" fmla="val 15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7" name="Text 5"/>
          <p:cNvSpPr txBox="1"/>
          <p:nvPr/>
        </p:nvSpPr>
        <p:spPr>
          <a:xfrm>
            <a:off x="768096" y="1362456"/>
            <a:ext cx="325526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FUNCTIONS</a:t>
            </a:r>
            <a:endParaRPr lang="en-US" sz="1050" dirty="0"/>
          </a:p>
        </p:txBody>
      </p:sp>
      <p:sp>
        <p:nvSpPr>
          <p:cNvPr id="8" name="Text 6"/>
          <p:cNvSpPr txBox="1"/>
          <p:nvPr/>
        </p:nvSpPr>
        <p:spPr>
          <a:xfrm>
            <a:off x="768096" y="1664208"/>
            <a:ext cx="3291840" cy="4059936"/>
          </a:xfrm>
          <a:prstGeom prst="rect">
            <a:avLst/>
          </a:prstGeom>
          <a:noFill/>
          <a:ln/>
        </p:spPr>
        <p:txBody>
          <a:bodyPr wrap="square" lIns="0" tIns="0" rIns="0" bIns="0" rtlCol="0" anchor="t"/>
          <a:lstStyle/>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int add(int a, int b) =&gt; a + b;</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i="1" dirty="0">
                <a:solidFill>
                  <a:srgbClr val="7FA6BD"/>
                </a:solidFill>
                <a:latin typeface="Courier New" pitchFamily="34" charset="0"/>
                <a:ea typeface="Courier New" pitchFamily="34" charset="-122"/>
                <a:cs typeface="Courier New" pitchFamily="34" charset="-120"/>
              </a:rPr>
              <a:t>// optional positional</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String t(String n, [String? s])</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i="1" dirty="0">
                <a:solidFill>
                  <a:srgbClr val="7FA6BD"/>
                </a:solidFill>
                <a:latin typeface="Courier New" pitchFamily="34" charset="0"/>
                <a:ea typeface="Courier New" pitchFamily="34" charset="-122"/>
                <a:cs typeface="Courier New" pitchFamily="34" charset="-120"/>
              </a:rPr>
              <a:t>// named, optional</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void f({int? a, int b = 0})</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i="1" dirty="0">
                <a:solidFill>
                  <a:srgbClr val="7FA6BD"/>
                </a:solidFill>
                <a:latin typeface="Courier New" pitchFamily="34" charset="0"/>
                <a:ea typeface="Courier New" pitchFamily="34" charset="-122"/>
                <a:cs typeface="Courier New" pitchFamily="34" charset="-120"/>
              </a:rPr>
              <a:t>// named, required</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void g({required String name})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i="1" dirty="0">
                <a:solidFill>
                  <a:srgbClr val="7FA6BD"/>
                </a:solidFill>
                <a:latin typeface="Courier New" pitchFamily="34" charset="0"/>
                <a:ea typeface="Courier New" pitchFamily="34" charset="-122"/>
                <a:cs typeface="Courier New" pitchFamily="34" charset="-120"/>
              </a:rPr>
              <a:t>// function as a value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int Function(int) op = add2;</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list.map((x) =&gt; x * 2);</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i="1" dirty="0">
                <a:solidFill>
                  <a:srgbClr val="7FA6BD"/>
                </a:solidFill>
                <a:latin typeface="Courier New" pitchFamily="34" charset="0"/>
                <a:ea typeface="Courier New" pitchFamily="34" charset="-122"/>
                <a:cs typeface="Courier New" pitchFamily="34" charset="-120"/>
              </a:rPr>
              <a:t>// void = returns nothing</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void log(String m) { }</a:t>
            </a:r>
            <a:endParaRPr lang="en-US" sz="1100" dirty="0"/>
          </a:p>
        </p:txBody>
      </p:sp>
      <p:sp>
        <p:nvSpPr>
          <p:cNvPr id="9" name="Shape 7"/>
          <p:cNvSpPr/>
          <p:nvPr/>
        </p:nvSpPr>
        <p:spPr>
          <a:xfrm>
            <a:off x="4361688" y="1261872"/>
            <a:ext cx="3657600" cy="4572000"/>
          </a:xfrm>
          <a:prstGeom prst="roundRect">
            <a:avLst>
              <a:gd name="adj" fmla="val 1500"/>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0" name="Text 8"/>
          <p:cNvSpPr txBox="1"/>
          <p:nvPr/>
        </p:nvSpPr>
        <p:spPr>
          <a:xfrm>
            <a:off x="4562856" y="1362456"/>
            <a:ext cx="325526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LISTS</a:t>
            </a:r>
            <a:endParaRPr lang="en-US" sz="1050" dirty="0"/>
          </a:p>
        </p:txBody>
      </p:sp>
      <p:sp>
        <p:nvSpPr>
          <p:cNvPr id="11" name="Text 9"/>
          <p:cNvSpPr txBox="1"/>
          <p:nvPr/>
        </p:nvSpPr>
        <p:spPr>
          <a:xfrm>
            <a:off x="4562856" y="1664208"/>
            <a:ext cx="3291840" cy="4059936"/>
          </a:xfrm>
          <a:prstGeom prst="rect">
            <a:avLst/>
          </a:prstGeom>
          <a:noFill/>
          <a:ln/>
        </p:spPr>
        <p:txBody>
          <a:bodyPr wrap="square" lIns="0" tIns="0" rIns="0" bIns="0" rtlCol="0" anchor="t"/>
          <a:lstStyle/>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var a = &lt;int&gt;[1, 2, 3];</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a[0]  a.length  a.first</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a.add(4)  a.insert(0, 9)</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a.remove(4)   // by value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a.removeAt(0) // by index</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a.contains(2) a.indexOf(2)</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a.sort()      // in place!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[...a]..sort()  // copy first</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for (final x in a) {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a.where((x) =&gt; x &gt; 1).toList()</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a.map((x) =&gt; x * 2).toList()</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a.fold(0, (s, x) =&gt; s + x)</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a.whereType&lt;int&gt;()</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 if (f) 9, for (var i in b) i]</a:t>
            </a:r>
            <a:endParaRPr lang="en-US" sz="1100" dirty="0"/>
          </a:p>
        </p:txBody>
      </p:sp>
      <p:sp>
        <p:nvSpPr>
          <p:cNvPr id="12" name="Shape 10"/>
          <p:cNvSpPr/>
          <p:nvPr/>
        </p:nvSpPr>
        <p:spPr>
          <a:xfrm>
            <a:off x="8156448" y="1261872"/>
            <a:ext cx="3474720" cy="4572000"/>
          </a:xfrm>
          <a:prstGeom prst="roundRect">
            <a:avLst>
              <a:gd name="adj" fmla="val 1579"/>
            </a:avLst>
          </a:prstGeom>
          <a:solidFill>
            <a:srgbClr val="0D2436"/>
          </a:solidFill>
          <a:ln/>
          <a:effectLst>
            <a:outerShdw blurRad="101600" dist="508" dir="5400000" algn="bl" rotWithShape="0">
              <a:srgbClr val="000000">
                <a:alpha val="18000"/>
              </a:srgbClr>
            </a:outerShdw>
          </a:effectLst>
        </p:spPr>
        <p:txBody>
          <a:bodyPr/>
          <a:lstStyle/>
          <a:p>
            <a:endParaRPr lang="en-CA"/>
          </a:p>
        </p:txBody>
      </p:sp>
      <p:sp>
        <p:nvSpPr>
          <p:cNvPr id="13" name="Text 11"/>
          <p:cNvSpPr txBox="1"/>
          <p:nvPr/>
        </p:nvSpPr>
        <p:spPr>
          <a:xfrm>
            <a:off x="8357616" y="1362456"/>
            <a:ext cx="3072384" cy="237744"/>
          </a:xfrm>
          <a:prstGeom prst="rect">
            <a:avLst/>
          </a:prstGeom>
          <a:noFill/>
          <a:ln/>
        </p:spPr>
        <p:txBody>
          <a:bodyPr wrap="square" lIns="0" tIns="0" rIns="0" bIns="0" rtlCol="0" anchor="ctr"/>
          <a:lstStyle/>
          <a:p>
            <a:pPr marL="0" indent="0">
              <a:buNone/>
            </a:pPr>
            <a:r>
              <a:rPr lang="en-US" sz="1050" b="1" kern="0" spc="120" dirty="0">
                <a:solidFill>
                  <a:srgbClr val="A8D65C"/>
                </a:solidFill>
                <a:latin typeface="Calibri" pitchFamily="34" charset="0"/>
                <a:ea typeface="Calibri" pitchFamily="34" charset="-122"/>
                <a:cs typeface="Calibri" pitchFamily="34" charset="-120"/>
              </a:rPr>
              <a:t>NULL SAFETY + CLASSES</a:t>
            </a:r>
            <a:endParaRPr lang="en-US" sz="1050" dirty="0"/>
          </a:p>
        </p:txBody>
      </p:sp>
      <p:sp>
        <p:nvSpPr>
          <p:cNvPr id="14" name="Text 12"/>
          <p:cNvSpPr txBox="1"/>
          <p:nvPr/>
        </p:nvSpPr>
        <p:spPr>
          <a:xfrm>
            <a:off x="8357616" y="1664208"/>
            <a:ext cx="3108960" cy="4059936"/>
          </a:xfrm>
          <a:prstGeom prst="rect">
            <a:avLst/>
          </a:prstGeom>
          <a:noFill/>
          <a:ln/>
        </p:spPr>
        <p:txBody>
          <a:bodyPr wrap="square" lIns="0" tIns="0" rIns="0" bIns="0" rtlCol="0" anchor="t"/>
          <a:lstStyle/>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int  x = 0;   // never null</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int? y;       // may be null</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y ?? 0        // fallback</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y ??= 5       // set if null</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obj?.field    // safe access</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y!            // trust me (avoid)</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late String s;// promise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if (y != null) { y + 1;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class Student {</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final String name;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int mark;</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Student({required this.name,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this.mark = 0});</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bool get pass =&gt; mark &gt;= 50;</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@override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  String toString() =&gt; name;</a:t>
            </a:r>
            <a:endParaRPr lang="en-US" sz="1100" dirty="0"/>
          </a:p>
          <a:p>
            <a:pPr marL="0" indent="0">
              <a:lnSpc>
                <a:spcPct val="106000"/>
              </a:lnSpc>
              <a:buNone/>
            </a:pPr>
            <a:r>
              <a:rPr lang="en-US" sz="1100" dirty="0">
                <a:solidFill>
                  <a:srgbClr val="EAF2F7"/>
                </a:solidFill>
                <a:latin typeface="Courier New" pitchFamily="34" charset="0"/>
                <a:ea typeface="Courier New" pitchFamily="34" charset="-122"/>
                <a:cs typeface="Courier New" pitchFamily="34" charset="-120"/>
              </a:rPr>
              <a:t>}</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66928" y="310896"/>
            <a:ext cx="9601200" cy="256032"/>
          </a:xfrm>
          <a:prstGeom prst="rect">
            <a:avLst/>
          </a:prstGeom>
          <a:noFill/>
          <a:ln/>
        </p:spPr>
        <p:txBody>
          <a:bodyPr wrap="square" lIns="0" tIns="0" rIns="0" bIns="0" rtlCol="0" anchor="ctr"/>
          <a:lstStyle/>
          <a:p>
            <a:pPr marL="0" indent="0">
              <a:buNone/>
            </a:pPr>
            <a:r>
              <a:rPr lang="en-US" sz="1100" b="1" kern="0" spc="180" dirty="0">
                <a:solidFill>
                  <a:srgbClr val="00767F"/>
                </a:solidFill>
                <a:latin typeface="Calibri" pitchFamily="34" charset="0"/>
                <a:ea typeface="Calibri" pitchFamily="34" charset="-122"/>
                <a:cs typeface="Calibri" pitchFamily="34" charset="-120"/>
              </a:rPr>
              <a:t>RECAP</a:t>
            </a:r>
            <a:endParaRPr lang="en-US" sz="1100" dirty="0"/>
          </a:p>
        </p:txBody>
      </p:sp>
      <p:sp>
        <p:nvSpPr>
          <p:cNvPr id="3" name="Text 1"/>
          <p:cNvSpPr txBox="1"/>
          <p:nvPr/>
        </p:nvSpPr>
        <p:spPr>
          <a:xfrm>
            <a:off x="566928" y="585216"/>
            <a:ext cx="10241280" cy="658368"/>
          </a:xfrm>
          <a:prstGeom prst="rect">
            <a:avLst/>
          </a:prstGeom>
          <a:noFill/>
          <a:ln/>
        </p:spPr>
        <p:txBody>
          <a:bodyPr wrap="square" lIns="0" tIns="0" rIns="0" bIns="0" rtlCol="0" anchor="ctr"/>
          <a:lstStyle/>
          <a:p>
            <a:pPr marL="0" indent="0">
              <a:buNone/>
            </a:pPr>
            <a:r>
              <a:rPr lang="en-US" sz="3200" b="1" dirty="0">
                <a:solidFill>
                  <a:srgbClr val="0A2540"/>
                </a:solidFill>
                <a:latin typeface="Calibri" pitchFamily="34" charset="0"/>
                <a:ea typeface="Calibri" pitchFamily="34" charset="-122"/>
                <a:cs typeface="Calibri" pitchFamily="34" charset="-120"/>
              </a:rPr>
              <a:t>Back to the three outcomes</a:t>
            </a:r>
            <a:endParaRPr lang="en-US" sz="3200" dirty="0"/>
          </a:p>
        </p:txBody>
      </p:sp>
      <p:sp>
        <p:nvSpPr>
          <p:cNvPr id="4" name="Text 2"/>
          <p:cNvSpPr txBox="1"/>
          <p:nvPr/>
        </p:nvSpPr>
        <p:spPr>
          <a:xfrm>
            <a:off x="566928" y="6382512"/>
            <a:ext cx="5943600" cy="274320"/>
          </a:xfrm>
          <a:prstGeom prst="rect">
            <a:avLst/>
          </a:prstGeom>
          <a:noFill/>
          <a:ln/>
        </p:spPr>
        <p:txBody>
          <a:bodyPr wrap="square" lIns="0" tIns="0" rIns="0" bIns="0" rtlCol="0" anchor="ctr"/>
          <a:lstStyle/>
          <a:p>
            <a:pPr marL="0" indent="0" algn="l">
              <a:buNone/>
            </a:pPr>
            <a:r>
              <a:rPr lang="en-US" sz="950" dirty="0">
                <a:solidFill>
                  <a:srgbClr val="5B7183"/>
                </a:solidFill>
                <a:latin typeface="Calibri" pitchFamily="34" charset="0"/>
                <a:ea typeface="Calibri" pitchFamily="34" charset="-122"/>
                <a:cs typeface="Calibri" pitchFamily="34" charset="-120"/>
              </a:rPr>
              <a:t>DMIT 2504  ·  Week 1  ·  Dart, Part 2</a:t>
            </a:r>
            <a:endParaRPr lang="en-US" sz="950" dirty="0"/>
          </a:p>
        </p:txBody>
      </p:sp>
      <p:sp>
        <p:nvSpPr>
          <p:cNvPr id="5" name="Text 3"/>
          <p:cNvSpPr txBox="1"/>
          <p:nvPr/>
        </p:nvSpPr>
        <p:spPr>
          <a:xfrm>
            <a:off x="10710367" y="6382512"/>
            <a:ext cx="914400" cy="274320"/>
          </a:xfrm>
          <a:prstGeom prst="rect">
            <a:avLst/>
          </a:prstGeom>
          <a:noFill/>
          <a:ln/>
        </p:spPr>
        <p:txBody>
          <a:bodyPr wrap="square" lIns="0" tIns="0" rIns="0" bIns="0" rtlCol="0" anchor="ctr"/>
          <a:lstStyle/>
          <a:p>
            <a:pPr marL="0" indent="0" algn="r">
              <a:buNone/>
            </a:pPr>
            <a:r>
              <a:rPr lang="en-US" sz="950" dirty="0">
                <a:solidFill>
                  <a:srgbClr val="5B7183"/>
                </a:solidFill>
                <a:latin typeface="Calibri" pitchFamily="34" charset="0"/>
                <a:ea typeface="Calibri" pitchFamily="34" charset="-122"/>
                <a:cs typeface="Calibri" pitchFamily="34" charset="-120"/>
              </a:rPr>
              <a:t>49</a:t>
            </a:r>
            <a:endParaRPr lang="en-US" sz="950" dirty="0"/>
          </a:p>
        </p:txBody>
      </p:sp>
      <p:sp>
        <p:nvSpPr>
          <p:cNvPr id="6" name="Shape 4"/>
          <p:cNvSpPr/>
          <p:nvPr/>
        </p:nvSpPr>
        <p:spPr>
          <a:xfrm>
            <a:off x="566928" y="1463040"/>
            <a:ext cx="3566160" cy="2103120"/>
          </a:xfrm>
          <a:prstGeom prst="roundRect">
            <a:avLst>
              <a:gd name="adj" fmla="val 2174"/>
            </a:avLst>
          </a:prstGeom>
          <a:solidFill>
            <a:srgbClr val="E4F1F2"/>
          </a:solidFill>
          <a:ln/>
        </p:spPr>
        <p:txBody>
          <a:bodyPr/>
          <a:lstStyle/>
          <a:p>
            <a:endParaRPr lang="en-CA"/>
          </a:p>
        </p:txBody>
      </p:sp>
      <p:sp>
        <p:nvSpPr>
          <p:cNvPr id="7" name="Shape 5"/>
          <p:cNvSpPr/>
          <p:nvPr/>
        </p:nvSpPr>
        <p:spPr>
          <a:xfrm>
            <a:off x="749808" y="1645920"/>
            <a:ext cx="384048" cy="384048"/>
          </a:xfrm>
          <a:prstGeom prst="ellipse">
            <a:avLst/>
          </a:prstGeom>
          <a:solidFill>
            <a:srgbClr val="00767F"/>
          </a:solidFill>
          <a:ln/>
        </p:spPr>
        <p:txBody>
          <a:bodyPr/>
          <a:lstStyle/>
          <a:p>
            <a:endParaRPr lang="en-CA"/>
          </a:p>
        </p:txBody>
      </p:sp>
      <p:sp>
        <p:nvSpPr>
          <p:cNvPr id="8" name="Text 6"/>
          <p:cNvSpPr txBox="1"/>
          <p:nvPr/>
        </p:nvSpPr>
        <p:spPr>
          <a:xfrm>
            <a:off x="749808"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1252728" y="162763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Solve problems in Dart</a:t>
            </a:r>
            <a:endParaRPr lang="en-US" sz="1600" dirty="0"/>
          </a:p>
        </p:txBody>
      </p:sp>
      <p:sp>
        <p:nvSpPr>
          <p:cNvPr id="10" name="Text 8"/>
          <p:cNvSpPr txBox="1"/>
          <p:nvPr/>
        </p:nvSpPr>
        <p:spPr>
          <a:xfrm>
            <a:off x="768096" y="2048256"/>
            <a:ext cx="3163824" cy="129844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You wrote and ran fourteen programs. You read compile errors and runtime errors and told them apart.</a:t>
            </a:r>
            <a:endParaRPr lang="en-US" sz="1250" dirty="0"/>
          </a:p>
        </p:txBody>
      </p:sp>
      <p:sp>
        <p:nvSpPr>
          <p:cNvPr id="11" name="Shape 9"/>
          <p:cNvSpPr/>
          <p:nvPr/>
        </p:nvSpPr>
        <p:spPr>
          <a:xfrm>
            <a:off x="4315968" y="1463040"/>
            <a:ext cx="3566160" cy="2103120"/>
          </a:xfrm>
          <a:prstGeom prst="roundRect">
            <a:avLst>
              <a:gd name="adj" fmla="val 2174"/>
            </a:avLst>
          </a:prstGeom>
          <a:solidFill>
            <a:srgbClr val="F2F6F8"/>
          </a:solidFill>
          <a:ln/>
        </p:spPr>
        <p:txBody>
          <a:bodyPr/>
          <a:lstStyle/>
          <a:p>
            <a:endParaRPr lang="en-CA"/>
          </a:p>
        </p:txBody>
      </p:sp>
      <p:sp>
        <p:nvSpPr>
          <p:cNvPr id="12" name="Shape 10"/>
          <p:cNvSpPr/>
          <p:nvPr/>
        </p:nvSpPr>
        <p:spPr>
          <a:xfrm>
            <a:off x="4498848" y="1645920"/>
            <a:ext cx="384048" cy="384048"/>
          </a:xfrm>
          <a:prstGeom prst="ellipse">
            <a:avLst/>
          </a:prstGeom>
          <a:solidFill>
            <a:srgbClr val="00767F"/>
          </a:solidFill>
          <a:ln/>
        </p:spPr>
        <p:txBody>
          <a:bodyPr/>
          <a:lstStyle/>
          <a:p>
            <a:endParaRPr lang="en-CA"/>
          </a:p>
        </p:txBody>
      </p:sp>
      <p:sp>
        <p:nvSpPr>
          <p:cNvPr id="13" name="Text 11"/>
          <p:cNvSpPr txBox="1"/>
          <p:nvPr/>
        </p:nvSpPr>
        <p:spPr>
          <a:xfrm>
            <a:off x="4498848"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001768" y="162763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Functions, Lists, objects</a:t>
            </a:r>
            <a:endParaRPr lang="en-US" sz="1600" dirty="0"/>
          </a:p>
        </p:txBody>
      </p:sp>
      <p:sp>
        <p:nvSpPr>
          <p:cNvPr id="15" name="Text 13"/>
          <p:cNvSpPr txBox="1"/>
          <p:nvPr/>
        </p:nvSpPr>
        <p:spPr>
          <a:xfrm>
            <a:off x="4517136" y="2048256"/>
            <a:ext cx="3163824" cy="129844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Four parameter styles. where / map / fold instead of hand-rolled loops. A class of your own, held in a List of your own type.</a:t>
            </a:r>
            <a:endParaRPr lang="en-US" sz="1250" dirty="0"/>
          </a:p>
        </p:txBody>
      </p:sp>
      <p:sp>
        <p:nvSpPr>
          <p:cNvPr id="16" name="Shape 14"/>
          <p:cNvSpPr/>
          <p:nvPr/>
        </p:nvSpPr>
        <p:spPr>
          <a:xfrm>
            <a:off x="8065008" y="1463040"/>
            <a:ext cx="3566160" cy="2103120"/>
          </a:xfrm>
          <a:prstGeom prst="roundRect">
            <a:avLst>
              <a:gd name="adj" fmla="val 2174"/>
            </a:avLst>
          </a:prstGeom>
          <a:solidFill>
            <a:srgbClr val="E4F1F2"/>
          </a:solidFill>
          <a:ln/>
        </p:spPr>
        <p:txBody>
          <a:bodyPr/>
          <a:lstStyle/>
          <a:p>
            <a:endParaRPr lang="en-CA"/>
          </a:p>
        </p:txBody>
      </p:sp>
      <p:sp>
        <p:nvSpPr>
          <p:cNvPr id="17" name="Shape 15"/>
          <p:cNvSpPr/>
          <p:nvPr/>
        </p:nvSpPr>
        <p:spPr>
          <a:xfrm>
            <a:off x="8247888" y="1645920"/>
            <a:ext cx="384048" cy="384048"/>
          </a:xfrm>
          <a:prstGeom prst="ellipse">
            <a:avLst/>
          </a:prstGeom>
          <a:solidFill>
            <a:srgbClr val="00767F"/>
          </a:solidFill>
          <a:ln/>
        </p:spPr>
        <p:txBody>
          <a:bodyPr/>
          <a:lstStyle/>
          <a:p>
            <a:endParaRPr lang="en-CA"/>
          </a:p>
        </p:txBody>
      </p:sp>
      <p:sp>
        <p:nvSpPr>
          <p:cNvPr id="18" name="Text 16"/>
          <p:cNvSpPr txBox="1"/>
          <p:nvPr/>
        </p:nvSpPr>
        <p:spPr>
          <a:xfrm>
            <a:off x="8247888" y="1645920"/>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750808" y="1627632"/>
            <a:ext cx="2697480" cy="347472"/>
          </a:xfrm>
          <a:prstGeom prst="rect">
            <a:avLst/>
          </a:prstGeom>
          <a:noFill/>
          <a:ln/>
        </p:spPr>
        <p:txBody>
          <a:bodyPr wrap="square" lIns="0" tIns="0" rIns="0" bIns="0" rtlCol="0" anchor="ctr"/>
          <a:lstStyle/>
          <a:p>
            <a:pPr marL="0" indent="0">
              <a:buNone/>
            </a:pPr>
            <a:r>
              <a:rPr lang="en-US" sz="1600" b="1" dirty="0">
                <a:solidFill>
                  <a:srgbClr val="0A2540"/>
                </a:solidFill>
                <a:latin typeface="Calibri" pitchFamily="34" charset="0"/>
                <a:ea typeface="Calibri" pitchFamily="34" charset="-122"/>
                <a:cs typeface="Calibri" pitchFamily="34" charset="-120"/>
              </a:rPr>
              <a:t>Explain null safety</a:t>
            </a:r>
            <a:endParaRPr lang="en-US" sz="1600" dirty="0"/>
          </a:p>
        </p:txBody>
      </p:sp>
      <p:sp>
        <p:nvSpPr>
          <p:cNvPr id="20" name="Text 18"/>
          <p:cNvSpPr txBox="1"/>
          <p:nvPr/>
        </p:nvSpPr>
        <p:spPr>
          <a:xfrm>
            <a:off x="8266176" y="2048256"/>
            <a:ext cx="3163824" cy="1298448"/>
          </a:xfrm>
          <a:prstGeom prst="rect">
            <a:avLst/>
          </a:prstGeom>
          <a:noFill/>
          <a:ln/>
        </p:spPr>
        <p:txBody>
          <a:bodyPr wrap="square" lIns="0" tIns="0" rIns="0" bIns="0" rtlCol="0" anchor="ctr"/>
          <a:lstStyle/>
          <a:p>
            <a:pPr marL="0" indent="0">
              <a:lnSpc>
                <a:spcPct val="110000"/>
              </a:lnSpc>
              <a:buNone/>
            </a:pPr>
            <a:r>
              <a:rPr lang="en-US" sz="1250" dirty="0">
                <a:solidFill>
                  <a:srgbClr val="16232E"/>
                </a:solidFill>
                <a:latin typeface="Calibri" pitchFamily="34" charset="0"/>
                <a:ea typeface="Calibri" pitchFamily="34" charset="-122"/>
                <a:cs typeface="Calibri" pitchFamily="34" charset="-120"/>
              </a:rPr>
              <a:t>Non-nullable by default; you opt into maybe with ?. Five tools, in preference order, with ! at the bottom.</a:t>
            </a:r>
            <a:endParaRPr lang="en-US" sz="1250" dirty="0"/>
          </a:p>
        </p:txBody>
      </p:sp>
      <p:sp>
        <p:nvSpPr>
          <p:cNvPr id="21" name="Text 19"/>
          <p:cNvSpPr txBox="1"/>
          <p:nvPr/>
        </p:nvSpPr>
        <p:spPr>
          <a:xfrm>
            <a:off x="566928" y="3794760"/>
            <a:ext cx="11064240" cy="1508760"/>
          </a:xfrm>
          <a:prstGeom prst="rect">
            <a:avLst/>
          </a:prstGeom>
          <a:noFill/>
          <a:ln/>
        </p:spPr>
        <p:txBody>
          <a:bodyPr wrap="square" lIns="0" tIns="0" rIns="0" bIns="0" rtlCol="0" anchor="t"/>
          <a:lstStyle/>
          <a:p>
            <a:pPr marL="342900" indent="-342900">
              <a:lnSpc>
                <a:spcPct val="105000"/>
              </a:lnSpc>
              <a:spcAft>
                <a:spcPts val="500"/>
              </a:spcAft>
              <a:buSzPct val="100000"/>
              <a:buChar char="▪"/>
            </a:pPr>
            <a:r>
              <a:rPr lang="en-US" sz="1350" b="1" dirty="0">
                <a:solidFill>
                  <a:srgbClr val="16232E"/>
                </a:solidFill>
                <a:latin typeface="Calibri" pitchFamily="34" charset="0"/>
                <a:ea typeface="Calibri" pitchFamily="34" charset="-122"/>
                <a:cs typeface="Calibri" pitchFamily="34" charset="-120"/>
              </a:rPr>
              <a:t>Next session: Flutter widgets — and every one of tonight's ideas shows up in the first hour</a:t>
            </a:r>
            <a:endParaRPr lang="en-US" sz="1350" dirty="0"/>
          </a:p>
          <a:p>
            <a:pPr marL="457200" lvl="1" indent="-228600">
              <a:lnSpc>
                <a:spcPct val="105000"/>
              </a:lnSpc>
              <a:spcAft>
                <a:spcPts val="500"/>
              </a:spcAft>
              <a:buSzPct val="100000"/>
              <a:buChar char="•"/>
            </a:pPr>
            <a:r>
              <a:rPr lang="en-US" sz="1200" dirty="0">
                <a:solidFill>
                  <a:srgbClr val="5B7183"/>
                </a:solidFill>
                <a:latin typeface="Calibri" pitchFamily="34" charset="0"/>
                <a:ea typeface="Calibri" pitchFamily="34" charset="-122"/>
                <a:cs typeface="Calibri" pitchFamily="34" charset="-120"/>
              </a:rPr>
              <a:t>A widget is a class. Its constructor uses named required parameters.</a:t>
            </a:r>
            <a:endParaRPr lang="en-US" sz="1350" dirty="0"/>
          </a:p>
          <a:p>
            <a:pPr marL="457200" lvl="1" indent="-228600">
              <a:lnSpc>
                <a:spcPct val="105000"/>
              </a:lnSpc>
              <a:spcAft>
                <a:spcPts val="500"/>
              </a:spcAft>
              <a:buSzPct val="100000"/>
              <a:buChar char="•"/>
            </a:pPr>
            <a:r>
              <a:rPr lang="en-US" sz="1200" dirty="0">
                <a:solidFill>
                  <a:srgbClr val="5B7183"/>
                </a:solidFill>
                <a:latin typeface="Calibri" pitchFamily="34" charset="0"/>
                <a:ea typeface="Calibri" pitchFamily="34" charset="-122"/>
                <a:cs typeface="Calibri" pitchFamily="34" charset="-120"/>
              </a:rPr>
              <a:t>A ListView is fed by a List, built with map or a collection-for.</a:t>
            </a:r>
            <a:endParaRPr lang="en-US" sz="1350" dirty="0"/>
          </a:p>
          <a:p>
            <a:pPr marL="457200" lvl="1" indent="-228600">
              <a:lnSpc>
                <a:spcPct val="105000"/>
              </a:lnSpc>
              <a:spcAft>
                <a:spcPts val="500"/>
              </a:spcAft>
              <a:buSzPct val="100000"/>
              <a:buChar char="•"/>
            </a:pPr>
            <a:r>
              <a:rPr lang="en-US" sz="1200" dirty="0">
                <a:solidFill>
                  <a:srgbClr val="5B7183"/>
                </a:solidFill>
                <a:latin typeface="Calibri" pitchFamily="34" charset="0"/>
                <a:ea typeface="Calibri" pitchFamily="34" charset="-122"/>
                <a:cs typeface="Calibri" pitchFamily="34" charset="-120"/>
              </a:rPr>
              <a:t>onPressed takes a function as a value.</a:t>
            </a:r>
            <a:endParaRPr lang="en-US" sz="1350" dirty="0"/>
          </a:p>
          <a:p>
            <a:pPr marL="457200" lvl="1" indent="-228600">
              <a:lnSpc>
                <a:spcPct val="105000"/>
              </a:lnSpc>
              <a:spcAft>
                <a:spcPts val="500"/>
              </a:spcAft>
              <a:buSzPct val="100000"/>
              <a:buChar char="•"/>
            </a:pPr>
            <a:r>
              <a:rPr lang="en-US" sz="1200" dirty="0">
                <a:solidFill>
                  <a:srgbClr val="5B7183"/>
                </a:solidFill>
                <a:latin typeface="Calibri" pitchFamily="34" charset="0"/>
                <a:ea typeface="Calibri" pitchFamily="34" charset="-122"/>
                <a:cs typeface="Calibri" pitchFamily="34" charset="-120"/>
              </a:rPr>
              <a:t>And the field you forgot to initialise is still non-nullable.</a:t>
            </a:r>
            <a:endParaRPr lang="en-US" sz="1350" dirty="0"/>
          </a:p>
        </p:txBody>
      </p:sp>
      <p:sp>
        <p:nvSpPr>
          <p:cNvPr id="22" name="Shape 20"/>
          <p:cNvSpPr/>
          <p:nvPr/>
        </p:nvSpPr>
        <p:spPr>
          <a:xfrm>
            <a:off x="566928" y="5349240"/>
            <a:ext cx="11064240" cy="777240"/>
          </a:xfrm>
          <a:prstGeom prst="roundRect">
            <a:avLst>
              <a:gd name="adj" fmla="val 5882"/>
            </a:avLst>
          </a:prstGeom>
          <a:solidFill>
            <a:srgbClr val="E4F1F2"/>
          </a:solidFill>
          <a:ln w="12700">
            <a:solidFill>
              <a:srgbClr val="0E9AA3"/>
            </a:solidFill>
            <a:prstDash val="solid"/>
          </a:ln>
        </p:spPr>
        <p:txBody>
          <a:bodyPr/>
          <a:lstStyle/>
          <a:p>
            <a:endParaRPr lang="en-CA"/>
          </a:p>
        </p:txBody>
      </p:sp>
      <p:sp>
        <p:nvSpPr>
          <p:cNvPr id="23" name="Text 21"/>
          <p:cNvSpPr txBox="1"/>
          <p:nvPr/>
        </p:nvSpPr>
        <p:spPr>
          <a:xfrm>
            <a:off x="786384" y="5468112"/>
            <a:ext cx="3108960" cy="237744"/>
          </a:xfrm>
          <a:prstGeom prst="rect">
            <a:avLst/>
          </a:prstGeom>
          <a:noFill/>
          <a:ln/>
        </p:spPr>
        <p:txBody>
          <a:bodyPr wrap="square" lIns="0" tIns="0" rIns="0" bIns="0" rtlCol="0" anchor="ctr"/>
          <a:lstStyle/>
          <a:p>
            <a:pPr marL="0" indent="0">
              <a:buNone/>
            </a:pPr>
            <a:r>
              <a:rPr lang="en-US" sz="1050" b="1" kern="0" spc="140" dirty="0">
                <a:solidFill>
                  <a:srgbClr val="00767F"/>
                </a:solidFill>
                <a:latin typeface="Calibri" pitchFamily="34" charset="0"/>
                <a:ea typeface="Calibri" pitchFamily="34" charset="-122"/>
                <a:cs typeface="Calibri" pitchFamily="34" charset="-120"/>
              </a:rPr>
              <a:t>BEFORE NEXT SESSION</a:t>
            </a:r>
            <a:endParaRPr lang="en-US" sz="1050" dirty="0"/>
          </a:p>
        </p:txBody>
      </p:sp>
      <p:sp>
        <p:nvSpPr>
          <p:cNvPr id="24" name="Text 22"/>
          <p:cNvSpPr txBox="1"/>
          <p:nvPr/>
        </p:nvSpPr>
        <p:spPr>
          <a:xfrm>
            <a:off x="786384" y="5715000"/>
            <a:ext cx="10625328" cy="301752"/>
          </a:xfrm>
          <a:prstGeom prst="rect">
            <a:avLst/>
          </a:prstGeom>
          <a:noFill/>
          <a:ln/>
        </p:spPr>
        <p:txBody>
          <a:bodyPr wrap="square" lIns="0" tIns="0" rIns="0" bIns="0" rtlCol="0" anchor="t"/>
          <a:lstStyle/>
          <a:p>
            <a:pPr marL="0" indent="0">
              <a:lnSpc>
                <a:spcPct val="112000"/>
              </a:lnSpc>
              <a:buNone/>
            </a:pPr>
            <a:r>
              <a:rPr lang="en-US" sz="1250" dirty="0">
                <a:solidFill>
                  <a:srgbClr val="0A2540"/>
                </a:solidFill>
                <a:latin typeface="Calibri" pitchFamily="34" charset="0"/>
                <a:ea typeface="Calibri" pitchFamily="34" charset="-122"/>
                <a:cs typeface="Calibri" pitchFamily="34" charset="-120"/>
              </a:rPr>
              <a:t>Finish warm-up + core exercises · have flutter doctor showing no red X · skim Flutter for Beginners ch. 3</a:t>
            </a:r>
            <a:endParaRPr lang="en-US" sz="12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0">
    <p:bg>
      <p:bgPr>
        <a:solidFill>
          <a:srgbClr val="0A2540"/>
        </a:solidFill>
        <a:effectLst/>
      </p:bgPr>
    </p:bg>
    <p:spTree>
      <p:nvGrpSpPr>
        <p:cNvPr id="1" name=""/>
        <p:cNvGrpSpPr/>
        <p:nvPr/>
      </p:nvGrpSpPr>
      <p:grpSpPr>
        <a:xfrm>
          <a:off x="0" y="0"/>
          <a:ext cx="0" cy="0"/>
          <a:chOff x="0" y="0"/>
          <a:chExt cx="0" cy="0"/>
        </a:xfrm>
      </p:grpSpPr>
      <p:sp>
        <p:nvSpPr>
          <p:cNvPr id="2" name="Shape 0"/>
          <p:cNvSpPr/>
          <p:nvPr/>
        </p:nvSpPr>
        <p:spPr>
          <a:xfrm>
            <a:off x="9052560" y="3291840"/>
            <a:ext cx="4206240" cy="4206240"/>
          </a:xfrm>
          <a:prstGeom prst="ellipse">
            <a:avLst/>
          </a:prstGeom>
          <a:solidFill>
            <a:srgbClr val="00767F">
              <a:alpha val="38000"/>
            </a:srgbClr>
          </a:solidFill>
          <a:ln/>
        </p:spPr>
        <p:txBody>
          <a:bodyPr/>
          <a:lstStyle/>
          <a:p>
            <a:endParaRPr lang="en-CA"/>
          </a:p>
        </p:txBody>
      </p:sp>
      <p:sp>
        <p:nvSpPr>
          <p:cNvPr id="3" name="Text 1"/>
          <p:cNvSpPr txBox="1"/>
          <p:nvPr/>
        </p:nvSpPr>
        <p:spPr>
          <a:xfrm>
            <a:off x="566928" y="685800"/>
            <a:ext cx="7315200" cy="292608"/>
          </a:xfrm>
          <a:prstGeom prst="rect">
            <a:avLst/>
          </a:prstGeom>
          <a:noFill/>
          <a:ln/>
        </p:spPr>
        <p:txBody>
          <a:bodyPr wrap="square" lIns="0" tIns="0" rIns="0" bIns="0" rtlCol="0" anchor="ctr"/>
          <a:lstStyle/>
          <a:p>
            <a:pPr marL="0" indent="0">
              <a:buNone/>
            </a:pPr>
            <a:r>
              <a:rPr lang="en-US" sz="1200" b="1" kern="0" spc="220" dirty="0">
                <a:solidFill>
                  <a:srgbClr val="A8D65C"/>
                </a:solidFill>
                <a:latin typeface="Calibri" pitchFamily="34" charset="0"/>
                <a:ea typeface="Calibri" pitchFamily="34" charset="-122"/>
                <a:cs typeface="Calibri" pitchFamily="34" charset="-120"/>
              </a:rPr>
              <a:t>RESOURCES</a:t>
            </a:r>
            <a:endParaRPr lang="en-US" sz="1200" dirty="0"/>
          </a:p>
        </p:txBody>
      </p:sp>
      <p:sp>
        <p:nvSpPr>
          <p:cNvPr id="4" name="Text 2"/>
          <p:cNvSpPr txBox="1"/>
          <p:nvPr/>
        </p:nvSpPr>
        <p:spPr>
          <a:xfrm>
            <a:off x="566928" y="1051560"/>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Where to go when you're stuck</a:t>
            </a:r>
            <a:endParaRPr lang="en-US" sz="3400" dirty="0"/>
          </a:p>
        </p:txBody>
      </p:sp>
      <p:sp>
        <p:nvSpPr>
          <p:cNvPr id="5" name="Shape 3"/>
          <p:cNvSpPr/>
          <p:nvPr/>
        </p:nvSpPr>
        <p:spPr>
          <a:xfrm>
            <a:off x="566928" y="2011680"/>
            <a:ext cx="310896" cy="310896"/>
          </a:xfrm>
          <a:prstGeom prst="ellipse">
            <a:avLst/>
          </a:prstGeom>
          <a:solidFill>
            <a:srgbClr val="A8D65C"/>
          </a:solidFill>
          <a:ln/>
        </p:spPr>
        <p:txBody>
          <a:bodyPr/>
          <a:lstStyle/>
          <a:p>
            <a:endParaRPr lang="en-CA"/>
          </a:p>
        </p:txBody>
      </p:sp>
      <p:sp>
        <p:nvSpPr>
          <p:cNvPr id="6" name="Text 4"/>
          <p:cNvSpPr txBox="1"/>
          <p:nvPr/>
        </p:nvSpPr>
        <p:spPr>
          <a:xfrm>
            <a:off x="566928" y="2011680"/>
            <a:ext cx="310896" cy="310896"/>
          </a:xfrm>
          <a:prstGeom prst="rect">
            <a:avLst/>
          </a:prstGeom>
          <a:noFill/>
          <a:ln/>
        </p:spPr>
        <p:txBody>
          <a:bodyPr wrap="square" lIns="0" tIns="0" rIns="0" bIns="0"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024128" y="1965960"/>
            <a:ext cx="7863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dart.dev</a:t>
            </a:r>
            <a:endParaRPr lang="en-US" sz="1500" dirty="0"/>
          </a:p>
        </p:txBody>
      </p:sp>
      <p:sp>
        <p:nvSpPr>
          <p:cNvPr id="8" name="Text 6"/>
          <p:cNvSpPr txBox="1"/>
          <p:nvPr/>
        </p:nvSpPr>
        <p:spPr>
          <a:xfrm>
            <a:off x="1024128" y="2240280"/>
            <a:ext cx="7863840" cy="310896"/>
          </a:xfrm>
          <a:prstGeom prst="rect">
            <a:avLst/>
          </a:prstGeom>
          <a:noFill/>
          <a:ln/>
        </p:spPr>
        <p:txBody>
          <a:bodyPr wrap="square" lIns="0" tIns="0" rIns="0" bIns="0" rtlCol="0" anchor="ctr"/>
          <a:lstStyle/>
          <a:p>
            <a:pPr marL="0" indent="0">
              <a:buNone/>
            </a:pPr>
            <a:r>
              <a:rPr lang="en-US" sz="1250" dirty="0">
                <a:solidFill>
                  <a:srgbClr val="E4F1F2"/>
                </a:solidFill>
                <a:latin typeface="Calibri" pitchFamily="34" charset="0"/>
                <a:ea typeface="Calibri" pitchFamily="34" charset="-122"/>
                <a:cs typeface="Calibri" pitchFamily="34" charset="-120"/>
              </a:rPr>
              <a:t>The language tour is the best single reference. dart.dev/language and dart.dev/null-safety.</a:t>
            </a:r>
            <a:endParaRPr lang="en-US" sz="1250" dirty="0"/>
          </a:p>
        </p:txBody>
      </p:sp>
      <p:sp>
        <p:nvSpPr>
          <p:cNvPr id="9" name="Shape 7"/>
          <p:cNvSpPr/>
          <p:nvPr/>
        </p:nvSpPr>
        <p:spPr>
          <a:xfrm>
            <a:off x="566928" y="2788920"/>
            <a:ext cx="310896" cy="310896"/>
          </a:xfrm>
          <a:prstGeom prst="ellipse">
            <a:avLst/>
          </a:prstGeom>
          <a:solidFill>
            <a:srgbClr val="A8D65C"/>
          </a:solidFill>
          <a:ln/>
        </p:spPr>
        <p:txBody>
          <a:bodyPr/>
          <a:lstStyle/>
          <a:p>
            <a:endParaRPr lang="en-CA"/>
          </a:p>
        </p:txBody>
      </p:sp>
      <p:sp>
        <p:nvSpPr>
          <p:cNvPr id="10" name="Text 8"/>
          <p:cNvSpPr txBox="1"/>
          <p:nvPr/>
        </p:nvSpPr>
        <p:spPr>
          <a:xfrm>
            <a:off x="566928" y="2788920"/>
            <a:ext cx="310896" cy="310896"/>
          </a:xfrm>
          <a:prstGeom prst="rect">
            <a:avLst/>
          </a:prstGeom>
          <a:noFill/>
          <a:ln/>
        </p:spPr>
        <p:txBody>
          <a:bodyPr wrap="square" lIns="0" tIns="0" rIns="0" bIns="0"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2</a:t>
            </a:r>
            <a:endParaRPr lang="en-US" sz="1200" dirty="0"/>
          </a:p>
        </p:txBody>
      </p:sp>
      <p:sp>
        <p:nvSpPr>
          <p:cNvPr id="11" name="Text 9"/>
          <p:cNvSpPr txBox="1"/>
          <p:nvPr/>
        </p:nvSpPr>
        <p:spPr>
          <a:xfrm>
            <a:off x="1024128" y="2743200"/>
            <a:ext cx="7863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DartPad — dartpad.dev</a:t>
            </a:r>
            <a:endParaRPr lang="en-US" sz="1500" dirty="0"/>
          </a:p>
        </p:txBody>
      </p:sp>
      <p:sp>
        <p:nvSpPr>
          <p:cNvPr id="12" name="Text 10"/>
          <p:cNvSpPr txBox="1"/>
          <p:nvPr/>
        </p:nvSpPr>
        <p:spPr>
          <a:xfrm>
            <a:off x="1024128" y="3017520"/>
            <a:ext cx="7863840" cy="310896"/>
          </a:xfrm>
          <a:prstGeom prst="rect">
            <a:avLst/>
          </a:prstGeom>
          <a:noFill/>
          <a:ln/>
        </p:spPr>
        <p:txBody>
          <a:bodyPr wrap="square" lIns="0" tIns="0" rIns="0" bIns="0" rtlCol="0" anchor="ctr"/>
          <a:lstStyle/>
          <a:p>
            <a:pPr marL="0" indent="0">
              <a:buNone/>
            </a:pPr>
            <a:r>
              <a:rPr lang="en-US" sz="1250" dirty="0">
                <a:solidFill>
                  <a:srgbClr val="E4F1F2"/>
                </a:solidFill>
                <a:latin typeface="Calibri" pitchFamily="34" charset="0"/>
                <a:ea typeface="Calibri" pitchFamily="34" charset="-122"/>
                <a:cs typeface="Calibri" pitchFamily="34" charset="-120"/>
              </a:rPr>
              <a:t>Run Dart in the browser with nothing installed. Perfect for testing one idea.</a:t>
            </a:r>
            <a:endParaRPr lang="en-US" sz="1250" dirty="0"/>
          </a:p>
        </p:txBody>
      </p:sp>
      <p:sp>
        <p:nvSpPr>
          <p:cNvPr id="13" name="Shape 11"/>
          <p:cNvSpPr/>
          <p:nvPr/>
        </p:nvSpPr>
        <p:spPr>
          <a:xfrm>
            <a:off x="566928" y="3566160"/>
            <a:ext cx="310896" cy="310896"/>
          </a:xfrm>
          <a:prstGeom prst="ellipse">
            <a:avLst/>
          </a:prstGeom>
          <a:solidFill>
            <a:srgbClr val="A8D65C"/>
          </a:solidFill>
          <a:ln/>
        </p:spPr>
        <p:txBody>
          <a:bodyPr/>
          <a:lstStyle/>
          <a:p>
            <a:endParaRPr lang="en-CA"/>
          </a:p>
        </p:txBody>
      </p:sp>
      <p:sp>
        <p:nvSpPr>
          <p:cNvPr id="14" name="Text 12"/>
          <p:cNvSpPr txBox="1"/>
          <p:nvPr/>
        </p:nvSpPr>
        <p:spPr>
          <a:xfrm>
            <a:off x="566928" y="3566160"/>
            <a:ext cx="310896" cy="310896"/>
          </a:xfrm>
          <a:prstGeom prst="rect">
            <a:avLst/>
          </a:prstGeom>
          <a:noFill/>
          <a:ln/>
        </p:spPr>
        <p:txBody>
          <a:bodyPr wrap="square" lIns="0" tIns="0" rIns="0" bIns="0"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3</a:t>
            </a:r>
            <a:endParaRPr lang="en-US" sz="1200" dirty="0"/>
          </a:p>
        </p:txBody>
      </p:sp>
      <p:sp>
        <p:nvSpPr>
          <p:cNvPr id="15" name="Text 13"/>
          <p:cNvSpPr txBox="1"/>
          <p:nvPr/>
        </p:nvSpPr>
        <p:spPr>
          <a:xfrm>
            <a:off x="1024128" y="3520440"/>
            <a:ext cx="7863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Flutter for Beginners — ch. 2</a:t>
            </a:r>
            <a:endParaRPr lang="en-US" sz="1500" dirty="0"/>
          </a:p>
        </p:txBody>
      </p:sp>
      <p:sp>
        <p:nvSpPr>
          <p:cNvPr id="16" name="Text 14"/>
          <p:cNvSpPr txBox="1"/>
          <p:nvPr/>
        </p:nvSpPr>
        <p:spPr>
          <a:xfrm>
            <a:off x="1024128" y="3794760"/>
            <a:ext cx="7863840" cy="310896"/>
          </a:xfrm>
          <a:prstGeom prst="rect">
            <a:avLst/>
          </a:prstGeom>
          <a:noFill/>
          <a:ln/>
        </p:spPr>
        <p:txBody>
          <a:bodyPr wrap="square" lIns="0" tIns="0" rIns="0" bIns="0" rtlCol="0" anchor="ctr"/>
          <a:lstStyle/>
          <a:p>
            <a:pPr marL="0" indent="0">
              <a:buNone/>
            </a:pPr>
            <a:r>
              <a:rPr lang="en-US" sz="1250" dirty="0">
                <a:solidFill>
                  <a:srgbClr val="E4F1F2"/>
                </a:solidFill>
                <a:latin typeface="Calibri" pitchFamily="34" charset="0"/>
                <a:ea typeface="Calibri" pitchFamily="34" charset="-122"/>
                <a:cs typeface="Calibri" pitchFamily="34" charset="-120"/>
              </a:rPr>
              <a:t>Tonight's material in book form. Chapter 3 is next session's reading.</a:t>
            </a:r>
            <a:endParaRPr lang="en-US" sz="1250" dirty="0"/>
          </a:p>
        </p:txBody>
      </p:sp>
      <p:sp>
        <p:nvSpPr>
          <p:cNvPr id="17" name="Shape 15"/>
          <p:cNvSpPr/>
          <p:nvPr/>
        </p:nvSpPr>
        <p:spPr>
          <a:xfrm>
            <a:off x="566928" y="4343400"/>
            <a:ext cx="310896" cy="310896"/>
          </a:xfrm>
          <a:prstGeom prst="ellipse">
            <a:avLst/>
          </a:prstGeom>
          <a:solidFill>
            <a:srgbClr val="A8D65C"/>
          </a:solidFill>
          <a:ln/>
        </p:spPr>
        <p:txBody>
          <a:bodyPr/>
          <a:lstStyle/>
          <a:p>
            <a:endParaRPr lang="en-CA"/>
          </a:p>
        </p:txBody>
      </p:sp>
      <p:sp>
        <p:nvSpPr>
          <p:cNvPr id="18" name="Text 16"/>
          <p:cNvSpPr txBox="1"/>
          <p:nvPr/>
        </p:nvSpPr>
        <p:spPr>
          <a:xfrm>
            <a:off x="566928" y="4343400"/>
            <a:ext cx="310896" cy="310896"/>
          </a:xfrm>
          <a:prstGeom prst="rect">
            <a:avLst/>
          </a:prstGeom>
          <a:noFill/>
          <a:ln/>
        </p:spPr>
        <p:txBody>
          <a:bodyPr wrap="square" lIns="0" tIns="0" rIns="0" bIns="0"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4</a:t>
            </a:r>
            <a:endParaRPr lang="en-US" sz="1200" dirty="0"/>
          </a:p>
        </p:txBody>
      </p:sp>
      <p:sp>
        <p:nvSpPr>
          <p:cNvPr id="19" name="Text 17"/>
          <p:cNvSpPr txBox="1"/>
          <p:nvPr/>
        </p:nvSpPr>
        <p:spPr>
          <a:xfrm>
            <a:off x="1024128" y="4297680"/>
            <a:ext cx="7863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dart fix / dart analyze</a:t>
            </a:r>
            <a:endParaRPr lang="en-US" sz="1500" dirty="0"/>
          </a:p>
        </p:txBody>
      </p:sp>
      <p:sp>
        <p:nvSpPr>
          <p:cNvPr id="20" name="Text 18"/>
          <p:cNvSpPr txBox="1"/>
          <p:nvPr/>
        </p:nvSpPr>
        <p:spPr>
          <a:xfrm>
            <a:off x="1024128" y="4572000"/>
            <a:ext cx="7863840" cy="310896"/>
          </a:xfrm>
          <a:prstGeom prst="rect">
            <a:avLst/>
          </a:prstGeom>
          <a:noFill/>
          <a:ln/>
        </p:spPr>
        <p:txBody>
          <a:bodyPr wrap="square" lIns="0" tIns="0" rIns="0" bIns="0" rtlCol="0" anchor="ctr"/>
          <a:lstStyle/>
          <a:p>
            <a:pPr marL="0" indent="0">
              <a:buNone/>
            </a:pPr>
            <a:r>
              <a:rPr lang="en-US" sz="1250" dirty="0">
                <a:solidFill>
                  <a:srgbClr val="E4F1F2"/>
                </a:solidFill>
                <a:latin typeface="Calibri" pitchFamily="34" charset="0"/>
                <a:ea typeface="Calibri" pitchFamily="34" charset="-122"/>
                <a:cs typeface="Calibri" pitchFamily="34" charset="-120"/>
              </a:rPr>
              <a:t>Run these on your own code before you submit. They catch most of tonight's pitfalls.</a:t>
            </a:r>
            <a:endParaRPr lang="en-US" sz="1250" dirty="0"/>
          </a:p>
        </p:txBody>
      </p:sp>
      <p:sp>
        <p:nvSpPr>
          <p:cNvPr id="21" name="Shape 19"/>
          <p:cNvSpPr/>
          <p:nvPr/>
        </p:nvSpPr>
        <p:spPr>
          <a:xfrm>
            <a:off x="566928" y="5120640"/>
            <a:ext cx="310896" cy="310896"/>
          </a:xfrm>
          <a:prstGeom prst="ellipse">
            <a:avLst/>
          </a:prstGeom>
          <a:solidFill>
            <a:srgbClr val="A8D65C"/>
          </a:solidFill>
          <a:ln/>
        </p:spPr>
        <p:txBody>
          <a:bodyPr/>
          <a:lstStyle/>
          <a:p>
            <a:endParaRPr lang="en-CA"/>
          </a:p>
        </p:txBody>
      </p:sp>
      <p:sp>
        <p:nvSpPr>
          <p:cNvPr id="22" name="Text 20"/>
          <p:cNvSpPr txBox="1"/>
          <p:nvPr/>
        </p:nvSpPr>
        <p:spPr>
          <a:xfrm>
            <a:off x="566928" y="5120640"/>
            <a:ext cx="310896" cy="310896"/>
          </a:xfrm>
          <a:prstGeom prst="rect">
            <a:avLst/>
          </a:prstGeom>
          <a:noFill/>
          <a:ln/>
        </p:spPr>
        <p:txBody>
          <a:bodyPr wrap="square" lIns="0" tIns="0" rIns="0" bIns="0" rtlCol="0" anchor="ctr"/>
          <a:lstStyle/>
          <a:p>
            <a:pPr marL="0" indent="0" algn="ctr">
              <a:buNone/>
            </a:pPr>
            <a:r>
              <a:rPr lang="en-US" sz="1200" b="1" dirty="0">
                <a:solidFill>
                  <a:srgbClr val="0A2540"/>
                </a:solidFill>
                <a:latin typeface="Calibri" pitchFamily="34" charset="0"/>
                <a:ea typeface="Calibri" pitchFamily="34" charset="-122"/>
                <a:cs typeface="Calibri" pitchFamily="34" charset="-120"/>
              </a:rPr>
              <a:t>5</a:t>
            </a:r>
            <a:endParaRPr lang="en-US" sz="1200" dirty="0"/>
          </a:p>
        </p:txBody>
      </p:sp>
      <p:sp>
        <p:nvSpPr>
          <p:cNvPr id="23" name="Text 21"/>
          <p:cNvSpPr txBox="1"/>
          <p:nvPr/>
        </p:nvSpPr>
        <p:spPr>
          <a:xfrm>
            <a:off x="1024128" y="5074920"/>
            <a:ext cx="786384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Office hours + course Slack</a:t>
            </a:r>
            <a:endParaRPr lang="en-US" sz="1500" dirty="0"/>
          </a:p>
        </p:txBody>
      </p:sp>
      <p:sp>
        <p:nvSpPr>
          <p:cNvPr id="24" name="Text 22"/>
          <p:cNvSpPr txBox="1"/>
          <p:nvPr/>
        </p:nvSpPr>
        <p:spPr>
          <a:xfrm>
            <a:off x="1024128" y="5349240"/>
            <a:ext cx="7863840" cy="310896"/>
          </a:xfrm>
          <a:prstGeom prst="rect">
            <a:avLst/>
          </a:prstGeom>
          <a:noFill/>
          <a:ln/>
        </p:spPr>
        <p:txBody>
          <a:bodyPr wrap="square" lIns="0" tIns="0" rIns="0" bIns="0" rtlCol="0" anchor="ctr"/>
          <a:lstStyle/>
          <a:p>
            <a:pPr marL="0" indent="0">
              <a:buNone/>
            </a:pPr>
            <a:r>
              <a:rPr lang="en-US" sz="1250" dirty="0">
                <a:solidFill>
                  <a:srgbClr val="E4F1F2"/>
                </a:solidFill>
                <a:latin typeface="Calibri" pitchFamily="34" charset="0"/>
                <a:ea typeface="Calibri" pitchFamily="34" charset="-122"/>
                <a:cs typeface="Calibri" pitchFamily="34" charset="-120"/>
              </a:rPr>
              <a:t>Bring the error message and what you expected. That's all I need to help.</a:t>
            </a:r>
            <a:endParaRPr lang="en-US" sz="1250" dirty="0"/>
          </a:p>
        </p:txBody>
      </p:sp>
      <p:sp>
        <p:nvSpPr>
          <p:cNvPr id="25" name="Text 23"/>
          <p:cNvSpPr txBox="1"/>
          <p:nvPr/>
        </p:nvSpPr>
        <p:spPr>
          <a:xfrm>
            <a:off x="566928" y="5989320"/>
            <a:ext cx="8229600" cy="320040"/>
          </a:xfrm>
          <a:prstGeom prst="rect">
            <a:avLst/>
          </a:prstGeom>
          <a:noFill/>
          <a:ln/>
        </p:spPr>
        <p:txBody>
          <a:bodyPr wrap="square" lIns="0" tIns="0" rIns="0" bIns="0" rtlCol="0" anchor="ctr"/>
          <a:lstStyle/>
          <a:p>
            <a:pPr marL="0" indent="0">
              <a:buNone/>
            </a:pPr>
            <a:r>
              <a:rPr lang="en-US" sz="1300" i="1" dirty="0">
                <a:solidFill>
                  <a:srgbClr val="A8D65C"/>
                </a:solidFill>
                <a:latin typeface="Calibri" pitchFamily="34" charset="0"/>
                <a:ea typeface="Calibri" pitchFamily="34" charset="-122"/>
                <a:cs typeface="Calibri" pitchFamily="34" charset="-120"/>
              </a:rPr>
              <a:t>Questions? Stay behind, or bring them to the start of next session.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15961</Words>
  <Application>Microsoft Office PowerPoint</Application>
  <PresentationFormat>Widescreen</PresentationFormat>
  <Paragraphs>1426</Paragraphs>
  <Slides>49</Slides>
  <Notes>49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49</vt:i4>
      </vt:variant>
    </vt:vector>
  </HeadingPairs>
  <TitlesOfParts>
    <vt:vector size="53"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Northern Alberta Institute of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DMIT 2504 — Dart Part 2: Functions, Lists, Objects &amp; Null Safety</dc:title>
  <dc:subject>Week 1 · 2-hour instructor-led session</dc:subject>
  <dc:creator>NAIT — DMIT 2504</dc:creator>
  <cp:lastModifiedBy>Ace Nasir</cp:lastModifiedBy>
  <cp:revision>2</cp:revision>
  <dcterms:created xsi:type="dcterms:W3CDTF">2026-09-09T20:49:51Z</dcterms:created>
  <dcterms:modified xsi:type="dcterms:W3CDTF">2026-09-10T02:18:48Z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877899-02b0-462c-b2a9-b7d15c4f96fe_Enabled">
    <vt:lpwstr>true</vt:lpwstr>
  </property>
  <property fmtid="{D5CDD505-2E9C-101B-9397-08002B2CF9AE}" pid="3" name="MSIP_Label_10877899-02b0-462c-b2a9-b7d15c4f96fe_SetDate">
    <vt:lpwstr>2026-09-10T02:18:48Z</vt:lpwstr>
  </property>
  <property fmtid="{D5CDD505-2E9C-101B-9397-08002B2CF9AE}" pid="4" name="MSIP_Label_10877899-02b0-462c-b2a9-b7d15c4f96fe_Method">
    <vt:lpwstr>Standard</vt:lpwstr>
  </property>
  <property fmtid="{D5CDD505-2E9C-101B-9397-08002B2CF9AE}" pid="5" name="MSIP_Label_10877899-02b0-462c-b2a9-b7d15c4f96fe_Name">
    <vt:lpwstr>Protected [Protected A]</vt:lpwstr>
  </property>
  <property fmtid="{D5CDD505-2E9C-101B-9397-08002B2CF9AE}" pid="6" name="MSIP_Label_10877899-02b0-462c-b2a9-b7d15c4f96fe_SiteId">
    <vt:lpwstr>5c98fb47-d3b9-4649-9d94-f88cbdd9729c</vt:lpwstr>
  </property>
  <property fmtid="{D5CDD505-2E9C-101B-9397-08002B2CF9AE}" pid="7" name="MSIP_Label_10877899-02b0-462c-b2a9-b7d15c4f96fe_ActionId">
    <vt:lpwstr>07faf4db-5658-464b-8685-a7a5e18193e8</vt:lpwstr>
  </property>
  <property fmtid="{D5CDD505-2E9C-101B-9397-08002B2CF9AE}" pid="8" name="MSIP_Label_10877899-02b0-462c-b2a9-b7d15c4f96fe_ContentBits">
    <vt:lpwstr>0</vt:lpwstr>
  </property>
  <property fmtid="{D5CDD505-2E9C-101B-9397-08002B2CF9AE}" pid="9" name="MSIP_Label_10877899-02b0-462c-b2a9-b7d15c4f96fe_Tag">
    <vt:lpwstr>10, 3, 0, 1</vt:lpwstr>
  </property>
</Properties>
</file>